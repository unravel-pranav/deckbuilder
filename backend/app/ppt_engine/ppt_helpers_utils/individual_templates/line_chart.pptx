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4630"/>
  </p:normalViewPr>
  <p:slideViewPr>
    <p:cSldViewPr snapToGrid="0">
      <p:cViewPr varScale="1">
        <p:scale>
          <a:sx n="113" d="100"/>
          <a:sy n="113" d="100"/>
        </p:scale>
        <p:origin x="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0181184347325315E-2"/>
          <c:y val="9.6136249918190086E-2"/>
          <c:w val="0.90422997934576099"/>
          <c:h val="0.7150523900105348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Q1 2020</c:v>
                </c:pt>
                <c:pt idx="1">
                  <c:v>Q2 2020</c:v>
                </c:pt>
                <c:pt idx="2">
                  <c:v>Q3 2020</c:v>
                </c:pt>
                <c:pt idx="3">
                  <c:v>Q4 2020</c:v>
                </c:pt>
                <c:pt idx="4">
                  <c:v>Q1 2021</c:v>
                </c:pt>
                <c:pt idx="5">
                  <c:v>Q2 2021</c:v>
                </c:pt>
                <c:pt idx="6">
                  <c:v>Q3 2021</c:v>
                </c:pt>
                <c:pt idx="7">
                  <c:v>Q4 2021</c:v>
                </c:pt>
                <c:pt idx="8">
                  <c:v>Q1 2022</c:v>
                </c:pt>
                <c:pt idx="9">
                  <c:v>Q2 2022</c:v>
                </c:pt>
                <c:pt idx="10">
                  <c:v>Q3 2022</c:v>
                </c:pt>
                <c:pt idx="11">
                  <c:v>Q4 2022</c:v>
                </c:pt>
                <c:pt idx="12">
                  <c:v>Q1 2023</c:v>
                </c:pt>
                <c:pt idx="13">
                  <c:v>Q2 2023</c:v>
                </c:pt>
                <c:pt idx="14">
                  <c:v>Q3 2023</c:v>
                </c:pt>
                <c:pt idx="15">
                  <c:v>Q4 2023</c:v>
                </c:pt>
                <c:pt idx="16">
                  <c:v>Q1 2024</c:v>
                </c:pt>
                <c:pt idx="17">
                  <c:v>Q2 2024</c:v>
                </c:pt>
                <c:pt idx="18">
                  <c:v>Q3 2024</c:v>
                </c:pt>
              </c:strCache>
            </c:strRef>
          </c:cat>
          <c:val>
            <c:numRef>
              <c:f>Sheet1!$B$2:$B$20</c:f>
              <c:numCache>
                <c:formatCode>#,##0.00</c:formatCode>
                <c:ptCount val="19"/>
                <c:pt idx="0">
                  <c:v>4</c:v>
                </c:pt>
                <c:pt idx="1">
                  <c:v>4.05</c:v>
                </c:pt>
                <c:pt idx="2">
                  <c:v>4.07</c:v>
                </c:pt>
                <c:pt idx="3">
                  <c:v>4.08</c:v>
                </c:pt>
                <c:pt idx="4">
                  <c:v>4.28</c:v>
                </c:pt>
                <c:pt idx="5">
                  <c:v>4.37</c:v>
                </c:pt>
                <c:pt idx="6">
                  <c:v>4.5599999999999996</c:v>
                </c:pt>
                <c:pt idx="7">
                  <c:v>4.6500000000000004</c:v>
                </c:pt>
                <c:pt idx="8">
                  <c:v>5.5</c:v>
                </c:pt>
                <c:pt idx="9">
                  <c:v>5.89</c:v>
                </c:pt>
                <c:pt idx="10">
                  <c:v>6.41</c:v>
                </c:pt>
                <c:pt idx="11">
                  <c:v>5.97</c:v>
                </c:pt>
                <c:pt idx="12">
                  <c:v>5.8</c:v>
                </c:pt>
                <c:pt idx="13">
                  <c:v>5.97</c:v>
                </c:pt>
                <c:pt idx="14">
                  <c:v>6.04</c:v>
                </c:pt>
                <c:pt idx="15">
                  <c:v>6.06</c:v>
                </c:pt>
                <c:pt idx="16">
                  <c:v>6.12</c:v>
                </c:pt>
                <c:pt idx="17">
                  <c:v>6.21</c:v>
                </c:pt>
                <c:pt idx="18">
                  <c:v>6.1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4A-744D-B7F8-F0E6D0092D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0829608"/>
        <c:axId val="1000826008"/>
      </c:lineChart>
      <c:catAx>
        <c:axId val="1000829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rgbClr val="012A2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0826008"/>
        <c:crosses val="autoZero"/>
        <c:auto val="1"/>
        <c:lblAlgn val="ctr"/>
        <c:lblOffset val="100"/>
        <c:noMultiLvlLbl val="0"/>
      </c:catAx>
      <c:valAx>
        <c:axId val="1000826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012A2D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$ / SF</a:t>
                </a:r>
              </a:p>
            </c:rich>
          </c:tx>
          <c:layout>
            <c:manualLayout>
              <c:xMode val="edge"/>
              <c:yMode val="edge"/>
              <c:x val="6.9787735382491741E-3"/>
              <c:y val="0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900" b="0" i="0" u="none" strike="noStrike" kern="1200" baseline="0">
                  <a:solidFill>
                    <a:srgbClr val="012A2D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12A2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0829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rgbClr val="012A2D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E0A93-52A2-9F1E-D5D2-1E100DE2A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472117-0CBD-8EB4-94FD-F649F3C6C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E56D2-D500-72CD-8EEA-E7DD4AA58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F3BAF-7217-95BE-8A2B-04EA32546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6D4C1-4E11-939D-E8D2-C87E83AC6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104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A0C60-48F9-FAF8-F22C-D7235C94C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D66EB-EE86-A7C0-2BE6-0ABD65C42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821C3-1F2D-90DF-D9A7-FF0554985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17F8B-F9DD-A552-6CC4-2F055933D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AF5E4-BA13-8169-D6F2-2A6D1B589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908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346F0-C4DB-F8A9-7E3E-5F3BA54A0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DEAF5-FF88-734C-5D8E-4AA88E40E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60D31-3A5C-1286-2A0B-0996FD01A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37D16-0BF0-B228-F507-E6751634F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244BD-C0C6-DBC0-9CCF-332C65FB0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232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EFC7C-9889-2575-BC2A-877691D34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7EFAE-57DF-7BDD-C346-BB0D748E94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F64296-3577-715E-33C7-594B0E4E8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42456-A3E6-3354-CF82-70C4A4AFA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9F829-865D-E300-9108-FE5129589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FFCA3-7BE6-7E81-F6A1-389B02B13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449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402FB-22E1-F984-7CD9-0199D6A59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389BA-6760-24F2-5E7E-74917E095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D8188-D23C-C816-5DA1-0A4BB31284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68DE5A-1EAC-48EA-C63E-B9EBB3A18F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83FBD1-319E-7ACF-9092-2BF7149AF2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63EEF1-4D1B-5402-E1E3-799A0AF88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F3DADF-5F2B-602D-8E04-B341119FF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69C940-52A7-D70B-48EB-FDBE5929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073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51476-CFBE-63E2-CA57-75EC3A0F8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0AA2E7-FBE3-6FFE-2162-863E81842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D09F8D-E279-8F76-9DC8-531352EC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E61DF0-F86A-CC83-237D-0AFA68C07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30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50C08A-AAE3-237B-3AC0-A067ABB53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CF2FBE-8699-6B29-9869-56E6C5BB1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30D45-B6B3-E715-43EB-05F670895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848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21295-BE61-B56D-79DC-7C994974B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AFFB9-2D3A-D228-BF04-F4B88A600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40C46A-9BBB-7AA6-31BD-555BCDD16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C5BA9-1D5B-A789-065A-42C07FF4B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190EE-9CBE-4C75-4234-53C23EAA5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7F60B-B02E-419B-9BCA-8946A187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778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0DA28-1482-122F-04C7-A0D6F70C9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45444-AC0E-BA2A-FB1C-5CBD9D6D19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02D8E4-F3E6-6EA9-9D75-B7F26A137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FFBC9-4B48-95FC-CBBC-B46985EAD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24091-E1D5-5712-CC4D-6AE211D86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A2D20-D9DD-DEFA-541D-1A9A01E18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56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04655-5216-9F7D-D3A2-3252B75D6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22EFCE-4961-ACAD-F4B8-A6A29308B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CBAB2-0BEE-31A1-DFC0-7B5AB964E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D6F6C-AEFA-3367-5EE4-08D7CEBAA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8D471-032E-47D5-377F-BC073B96C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543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F73E13-ABCD-8E1D-3B19-7B65DFB28D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1B2FA-09F2-58A1-2E5C-6CD1B0AE3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3973D-B88B-AB4A-EDC6-509749211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4D740-2F77-AADB-116F-3B86BD48F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F9C2B-5C17-E369-3630-B7476DF3D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806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0CFB3F-1806-B468-D127-A9F210EE0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385B2-EF22-810F-11F0-E80E586F7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85905-CDCB-3CB4-D26D-D04329DDF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738E3-51C6-4AFA-B6C7-E9C426B663AC}" type="datetimeFigureOut">
              <a:rPr lang="en-IN" smtClean="0"/>
              <a:t>23/12/25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A3183-0230-18D3-6ED4-A96B79EE99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BA8BA-3775-1C51-8B88-96515BD0B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D3FCE-9883-4B3F-B1D2-800209E7E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540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slide_2_chart_2">
            <a:extLst>
              <a:ext uri="{FF2B5EF4-FFF2-40B4-BE49-F238E27FC236}">
                <a16:creationId xmlns:a16="http://schemas.microsoft.com/office/drawing/2014/main" id="{24652618-415D-9D9A-FE20-A6B158E59C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7310053"/>
              </p:ext>
            </p:extLst>
          </p:nvPr>
        </p:nvGraphicFramePr>
        <p:xfrm>
          <a:off x="3110094" y="1060705"/>
          <a:ext cx="5459412" cy="27775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63213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e767a3e-36d8-4341-a9b3-8a01d66037db}" enabled="1" method="Privileged" siteId="{0159e9d0-09a0-4edf-96ba-a3deea363c2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 Mayilvaganan</dc:creator>
  <cp:lastModifiedBy>Kalwakurthy, Akhil @ Global D&amp;T Contractor</cp:lastModifiedBy>
  <cp:revision>7</cp:revision>
  <dcterms:created xsi:type="dcterms:W3CDTF">2025-09-30T07:26:00Z</dcterms:created>
  <dcterms:modified xsi:type="dcterms:W3CDTF">2025-12-23T08:10:25Z</dcterms:modified>
</cp:coreProperties>
</file>