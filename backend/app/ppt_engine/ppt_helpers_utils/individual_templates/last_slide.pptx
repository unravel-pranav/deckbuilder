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2"/>
  </p:notesMasterIdLst>
  <p:handoutMasterIdLst>
    <p:handoutMasterId r:id="rId23"/>
  </p:handoutMasterIdLst>
  <p:sldIdLst>
    <p:sldId id="2076137662" r:id="rId21"/>
  </p:sld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0" autoAdjust="0"/>
    <p:restoredTop sz="96327" autoAdjust="0"/>
  </p:normalViewPr>
  <p:slideViewPr>
    <p:cSldViewPr showGuides="1">
      <p:cViewPr varScale="1">
        <p:scale>
          <a:sx n="118" d="100"/>
          <a:sy n="118" d="100"/>
        </p:scale>
        <p:origin x="232" y="264"/>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101" d="100"/>
          <a:sy n="101" d="100"/>
        </p:scale>
        <p:origin x="328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handoutMaster" Target="handoutMasters/handoutMaster1.xml"/><Relationship Id="rId10" Type="http://schemas.openxmlformats.org/officeDocument/2006/relationships/customXml" Target="../customXml/item10.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13/01/2026</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13/01/2026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768095" y="3428999"/>
            <a:ext cx="5029200"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6347884" y="3428998"/>
            <a:ext cx="5459941"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768096" y="384048"/>
            <a:ext cx="9303004" cy="1835150"/>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2628329"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2847785"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448856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470801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6348795"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6568251"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1355726" y="3648539"/>
            <a:ext cx="166688" cy="166688"/>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1087438" y="3645363"/>
            <a:ext cx="166688" cy="168276"/>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827088" y="3645363"/>
            <a:ext cx="166688" cy="168276"/>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768096" y="3432810"/>
            <a:ext cx="5029200" cy="2853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768096" y="382589"/>
            <a:ext cx="9303004" cy="1839118"/>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2628471"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2847927"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448884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470830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634922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656867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6348413" y="3453766"/>
            <a:ext cx="5458968" cy="182880"/>
          </a:xfrm>
        </p:spPr>
        <p:txBody>
          <a:bodyPr anchor="t" anchorCtr="0"/>
          <a:lstStyle>
            <a:lvl1pPr>
              <a:defRPr sz="90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6348413" y="3713799"/>
            <a:ext cx="5458968" cy="2494743"/>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6348413" y="6286499"/>
            <a:ext cx="5458968" cy="118872"/>
          </a:xfrm>
        </p:spPr>
        <p:txBody>
          <a:bodyPr anchor="b" anchorCtr="0"/>
          <a:lstStyle>
            <a:lvl1pPr>
              <a:defRPr sz="800">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6348414" y="850392"/>
            <a:ext cx="5458968" cy="210312"/>
          </a:xfrm>
        </p:spPr>
        <p:txBody>
          <a:bodyPr anchor="t" anchorCtr="0"/>
          <a:lstStyle>
            <a:lvl1pPr>
              <a:defRPr sz="90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6348413" y="6176170"/>
            <a:ext cx="5458968"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6348413" y="1060704"/>
            <a:ext cx="5458968"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4865684"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864101" y="850392"/>
            <a:ext cx="6945693"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359727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864101" y="6176170"/>
            <a:ext cx="6945693"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864100" y="1060704"/>
            <a:ext cx="6945693"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3064" userDrawn="1">
          <p15:clr>
            <a:srgbClr val="FBAE40"/>
          </p15:clr>
        </p15:guide>
        <p15:guide id="2" pos="34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7154863"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7707313" y="850392"/>
            <a:ext cx="4102481"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639165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7707313" y="6176170"/>
            <a:ext cx="4102481"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7707313" y="1060704"/>
            <a:ext cx="4102481"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4507" userDrawn="1">
          <p15:clr>
            <a:srgbClr val="FBAE40"/>
          </p15:clr>
        </p15:guide>
        <p15:guide id="2" pos="485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766763"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6348857" y="850392"/>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6348857" y="1060703"/>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6348857" y="3314700"/>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6348857" y="3723355"/>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6348857" y="3933667"/>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6348857" y="6167438"/>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7614"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6351270" y="850392"/>
            <a:ext cx="5458968"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768096" y="859536"/>
            <a:ext cx="4526280" cy="128058"/>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768096" y="1123948"/>
            <a:ext cx="5458306" cy="4313240"/>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6349517" y="1123947"/>
            <a:ext cx="5458307" cy="2231319"/>
          </a:xfrm>
          <a:solidFill>
            <a:srgbClr val="F6F6F6"/>
          </a:solidFill>
        </p:spPr>
        <p:txBody>
          <a:bodyPr lIns="91440" tIns="54864" rIns="73152" bIns="54864"/>
          <a:lstStyle>
            <a:lvl1pPr>
              <a:spcBef>
                <a:spcPts val="1200"/>
              </a:spcBef>
              <a:defRPr sz="1100">
                <a:solidFill>
                  <a:schemeClr val="accent6"/>
                </a:solidFill>
                <a:latin typeface="Calibre Medium" panose="020B0603030202060203" pitchFamily="34" charset="0"/>
              </a:defRPr>
            </a:lvl1pPr>
            <a:lvl2pPr>
              <a:spcBef>
                <a:spcPts val="600"/>
              </a:spcBef>
              <a:spcAft>
                <a:spcPts val="0"/>
              </a:spcAft>
              <a:defRPr sz="950"/>
            </a:lvl2pPr>
            <a:lvl3pPr marL="115888" indent="-115888">
              <a:spcBef>
                <a:spcPts val="300"/>
              </a:spcBef>
              <a:buFont typeface="Calibre Light" panose="020B0303030202060203" pitchFamily="34" charset="0"/>
              <a:buChar char="–"/>
              <a:defRPr sz="950">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766763" y="7239000"/>
            <a:ext cx="1104106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6281738"/>
            <a:ext cx="12192000" cy="5762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6350077" y="3429000"/>
            <a:ext cx="2666923" cy="146683"/>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10893425" y="6370474"/>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766762" y="5734051"/>
            <a:ext cx="9742488" cy="859175"/>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6349518"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8209992"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10070466"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6349518"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8209992"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10070465"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768096" y="6473825"/>
            <a:ext cx="11039729" cy="283877"/>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914400" rtl="0" eaLnBrk="1" latinLnBrk="0" hangingPunct="1"/>
              <a:r>
                <a:rPr lang="en-US" sz="800"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2026 CBRE, INC</a:t>
              </a:r>
              <a:r>
                <a:rPr lang="en-US" sz="900" spc="20"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768096" y="0"/>
            <a:ext cx="11039729" cy="3810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768095" y="1936750"/>
            <a:ext cx="11039729" cy="4343587"/>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768096" y="1086196"/>
            <a:ext cx="11039727" cy="443346"/>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241" userDrawn="1">
          <p15:clr>
            <a:srgbClr val="F26B43"/>
          </p15:clr>
        </p15:guide>
        <p15:guide id="3" userDrawn="1">
          <p15:clr>
            <a:srgbClr val="F26B43"/>
          </p15:clr>
        </p15:guide>
        <p15:guide id="4" pos="483" userDrawn="1">
          <p15:clr>
            <a:srgbClr val="F26B43"/>
          </p15:clr>
        </p15:guide>
        <p15:guide id="5" orient="horz" pos="490" userDrawn="1">
          <p15:clr>
            <a:srgbClr val="F26B43"/>
          </p15:clr>
        </p15:guide>
        <p15:guide id="6" orient="horz" pos="568" userDrawn="1">
          <p15:clr>
            <a:srgbClr val="F26B43"/>
          </p15:clr>
        </p15:guide>
        <p15:guide id="7" orient="horz" pos="4078" userDrawn="1">
          <p15:clr>
            <a:srgbClr val="F26B43"/>
          </p15:clr>
        </p15:guide>
        <p15:guide id="8" orient="horz" pos="4320" userDrawn="1">
          <p15:clr>
            <a:srgbClr val="F26B43"/>
          </p15:clr>
        </p15:guide>
        <p15:guide id="9" pos="7438" userDrawn="1">
          <p15:clr>
            <a:srgbClr val="F26B43"/>
          </p15:clr>
        </p15:guide>
        <p15:guide id="10" pos="7680" userDrawn="1">
          <p15:clr>
            <a:srgbClr val="F26B43"/>
          </p15:clr>
        </p15:guide>
        <p15:guide id="11" orient="horz" pos="3751" userDrawn="1">
          <p15:clr>
            <a:srgbClr val="F26B43"/>
          </p15:clr>
        </p15:guide>
        <p15:guide id="12" orient="horz" pos="3829" userDrawn="1">
          <p15:clr>
            <a:srgbClr val="F26B43"/>
          </p15:clr>
        </p15:guide>
        <p15:guide id="13" orient="horz" pos="3425" userDrawn="1">
          <p15:clr>
            <a:srgbClr val="F26B43"/>
          </p15:clr>
        </p15:guide>
        <p15:guide id="14" orient="horz" pos="3503" userDrawn="1">
          <p15:clr>
            <a:srgbClr val="F26B43"/>
          </p15:clr>
        </p15:guide>
        <p15:guide id="15" orient="horz" pos="3099" userDrawn="1">
          <p15:clr>
            <a:srgbClr val="F26B43"/>
          </p15:clr>
        </p15:guide>
        <p15:guide id="16" orient="horz" pos="3177" userDrawn="1">
          <p15:clr>
            <a:srgbClr val="F26B43"/>
          </p15:clr>
        </p15:guide>
        <p15:guide id="17" orient="horz" pos="2773" userDrawn="1">
          <p15:clr>
            <a:srgbClr val="F26B43"/>
          </p15:clr>
        </p15:guide>
        <p15:guide id="18" orient="horz" pos="2851" userDrawn="1">
          <p15:clr>
            <a:srgbClr val="F26B43"/>
          </p15:clr>
        </p15:guide>
        <p15:guide id="19" orient="horz" pos="2447" userDrawn="1">
          <p15:clr>
            <a:srgbClr val="F26B43"/>
          </p15:clr>
        </p15:guide>
        <p15:guide id="20" orient="horz" pos="2525" userDrawn="1">
          <p15:clr>
            <a:srgbClr val="F26B43"/>
          </p15:clr>
        </p15:guide>
        <p15:guide id="21" orient="horz" pos="2121" userDrawn="1">
          <p15:clr>
            <a:srgbClr val="F26B43"/>
          </p15:clr>
        </p15:guide>
        <p15:guide id="22" orient="horz" pos="2199" userDrawn="1">
          <p15:clr>
            <a:srgbClr val="F26B43"/>
          </p15:clr>
        </p15:guide>
        <p15:guide id="23" orient="horz" pos="1794" userDrawn="1">
          <p15:clr>
            <a:srgbClr val="F26B43"/>
          </p15:clr>
        </p15:guide>
        <p15:guide id="24" orient="horz" pos="1872" userDrawn="1">
          <p15:clr>
            <a:srgbClr val="F26B43"/>
          </p15:clr>
        </p15:guide>
        <p15:guide id="25" orient="horz" pos="1468" userDrawn="1">
          <p15:clr>
            <a:srgbClr val="F26B43"/>
          </p15:clr>
        </p15:guide>
        <p15:guide id="26" orient="horz" pos="1546" userDrawn="1">
          <p15:clr>
            <a:srgbClr val="F26B43"/>
          </p15:clr>
        </p15:guide>
        <p15:guide id="27" orient="horz" pos="1142" userDrawn="1">
          <p15:clr>
            <a:srgbClr val="F26B43"/>
          </p15:clr>
        </p15:guide>
        <p15:guide id="28" orient="horz" pos="1220" userDrawn="1">
          <p15:clr>
            <a:srgbClr val="F26B43"/>
          </p15:clr>
        </p15:guide>
        <p15:guide id="29" orient="horz" pos="816" userDrawn="1">
          <p15:clr>
            <a:srgbClr val="F26B43"/>
          </p15:clr>
        </p15:guide>
        <p15:guide id="30" orient="horz" pos="894" userDrawn="1">
          <p15:clr>
            <a:srgbClr val="F26B43"/>
          </p15:clr>
        </p15:guide>
        <p15:guide id="31" pos="2749" userDrawn="1">
          <p15:clr>
            <a:srgbClr val="F26B43"/>
          </p15:clr>
        </p15:guide>
        <p15:guide id="32" pos="2827" userDrawn="1">
          <p15:clr>
            <a:srgbClr val="F26B43"/>
          </p15:clr>
        </p15:guide>
        <p15:guide id="33" pos="991" userDrawn="1">
          <p15:clr>
            <a:srgbClr val="F26B43"/>
          </p15:clr>
        </p15:guide>
        <p15:guide id="34" pos="1069" userDrawn="1">
          <p15:clr>
            <a:srgbClr val="F26B43"/>
          </p15:clr>
        </p15:guide>
        <p15:guide id="35" pos="3335" userDrawn="1">
          <p15:clr>
            <a:srgbClr val="F26B43"/>
          </p15:clr>
        </p15:guide>
        <p15:guide id="36" pos="3413" userDrawn="1">
          <p15:clr>
            <a:srgbClr val="F26B43"/>
          </p15:clr>
        </p15:guide>
        <p15:guide id="37" pos="1584" userDrawn="1">
          <p15:clr>
            <a:srgbClr val="F26B43"/>
          </p15:clr>
        </p15:guide>
        <p15:guide id="38" pos="1655" userDrawn="1">
          <p15:clr>
            <a:srgbClr val="F26B43"/>
          </p15:clr>
        </p15:guide>
        <p15:guide id="39" pos="2163" userDrawn="1">
          <p15:clr>
            <a:srgbClr val="F26B43"/>
          </p15:clr>
        </p15:guide>
        <p15:guide id="40" pos="2241" userDrawn="1">
          <p15:clr>
            <a:srgbClr val="F26B43"/>
          </p15:clr>
        </p15:guide>
        <p15:guide id="41" pos="3921" userDrawn="1">
          <p15:clr>
            <a:srgbClr val="F26B43"/>
          </p15:clr>
        </p15:guide>
        <p15:guide id="42" pos="3999" userDrawn="1">
          <p15:clr>
            <a:srgbClr val="F26B43"/>
          </p15:clr>
        </p15:guide>
        <p15:guide id="43" pos="6266" userDrawn="1">
          <p15:clr>
            <a:srgbClr val="F26B43"/>
          </p15:clr>
        </p15:guide>
        <p15:guide id="44" pos="6344" userDrawn="1">
          <p15:clr>
            <a:srgbClr val="F26B43"/>
          </p15:clr>
        </p15:guide>
        <p15:guide id="45" pos="4507" userDrawn="1">
          <p15:clr>
            <a:srgbClr val="F26B43"/>
          </p15:clr>
        </p15:guide>
        <p15:guide id="46" pos="4585" userDrawn="1">
          <p15:clr>
            <a:srgbClr val="F26B43"/>
          </p15:clr>
        </p15:guide>
        <p15:guide id="47" pos="6852" userDrawn="1">
          <p15:clr>
            <a:srgbClr val="F26B43"/>
          </p15:clr>
        </p15:guide>
        <p15:guide id="48" pos="6930" userDrawn="1">
          <p15:clr>
            <a:srgbClr val="F26B43"/>
          </p15:clr>
        </p15:guide>
        <p15:guide id="49" pos="5088" userDrawn="1">
          <p15:clr>
            <a:srgbClr val="F26B43"/>
          </p15:clr>
        </p15:guide>
        <p15:guide id="50" pos="5172" userDrawn="1">
          <p15:clr>
            <a:srgbClr val="F26B43"/>
          </p15:clr>
        </p15:guide>
        <p15:guide id="51" pos="5680" userDrawn="1">
          <p15:clr>
            <a:srgbClr val="F26B43"/>
          </p15:clr>
        </p15:guide>
        <p15:guide id="52" pos="5758" userDrawn="1">
          <p15:clr>
            <a:srgbClr val="F26B43"/>
          </p15:clr>
        </p15:guide>
        <p15:guide id="53" orient="horz" pos="163" userDrawn="1">
          <p15:clr>
            <a:srgbClr val="F26B43"/>
          </p15:clr>
        </p15:guide>
        <p15:guide id="54" orient="horz" pos="4156" userDrawn="1">
          <p15:clr>
            <a:srgbClr val="F26B43"/>
          </p15:clr>
        </p15:guide>
        <p15:guide id="55" orient="horz" pos="3957" userDrawn="1">
          <p15:clr>
            <a:srgbClr val="FBAE40"/>
          </p15:clr>
        </p15:guide>
        <p15:guide id="56" pos="365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customXml" Target="../../customXml/item17.xml"/><Relationship Id="rId1" Type="http://schemas.openxmlformats.org/officeDocument/2006/relationships/customXml" Target="../../customXml/item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3D4B461E-2BC3-BA4A-B8BF-62D03E1FEDBF}"/>
              </a:ext>
            </a:extLst>
          </p:cNvPr>
          <p:cNvSpPr>
            <a:spLocks noGrp="1"/>
          </p:cNvSpPr>
          <p:nvPr>
            <p:ph sz="quarter" idx="17"/>
          </p:nvPr>
        </p:nvSpPr>
        <p:spPr>
          <a:xfrm>
            <a:off x="6349517" y="1123947"/>
            <a:ext cx="5458307" cy="2305053"/>
          </a:xfrm>
        </p:spPr>
        <p:txBody>
          <a:bodyPr/>
          <a:lstStyle/>
          <a:p>
            <a:r>
              <a:rPr lang="en-US" dirty="0"/>
              <a:t>Definitions</a:t>
            </a:r>
          </a:p>
          <a:p>
            <a:pPr lvl="1">
              <a:spcBef>
                <a:spcPts val="0"/>
              </a:spcBef>
            </a:pPr>
            <a:r>
              <a:rPr lang="en-US" sz="850" dirty="0"/>
              <a:t>Available Sq. Ft.: Space in a building, ready for occupancy within six months; can be occupied or vacant. Availability Rate: Total Available Sq. Ft. divided by the total building Area. Average Asking Lease Rate: A calculated average that includes net and gross lease rate, weighted by their corresponding available square footage. Building Area: The total floor area sq. ft. of the building, typically taken at the “drip line” of the building. Gross Activity: All sale and lease transactions completed within a specified time period. Excludes investment sale transactions. Gross Lease Rate: Rent typically includes real property taxes, building insurance, and major maintenance. Net Absorption: The change in Occupied Sq. Ft. from one period to the next. Net Lease Rate: Rent excludes one or more of the ”net” costs (real property taxes, building insurance, and major maintenance) typically included in a Gross Lease Rate. Occupied Sq. Ft.: Building Area not considered vacant. Vacancy Rate: Total Vacant Sq. Ft. divided by the total Building Area. Vacant Sq. Ft.: Space that can be occupied within 30 days. Class A industrial are buildings built after 2000, with 32’ or greater clear height and ESFR sprinklers.</a:t>
            </a:r>
          </a:p>
          <a:p>
            <a:r>
              <a:rPr lang="en-US" dirty="0"/>
              <a:t>Survey Criteria</a:t>
            </a:r>
          </a:p>
          <a:p>
            <a:pPr lvl="1">
              <a:spcBef>
                <a:spcPts val="0"/>
              </a:spcBef>
            </a:pPr>
            <a:r>
              <a:rPr lang="en-US" sz="850" dirty="0"/>
              <a:t>[Insert survey Criteria here. Contact your manager for specific criteria]</a:t>
            </a:r>
          </a:p>
        </p:txBody>
      </p:sp>
      <p:sp>
        <p:nvSpPr>
          <p:cNvPr id="18" name="Text Placeholder 17">
            <a:extLst>
              <a:ext uri="{FF2B5EF4-FFF2-40B4-BE49-F238E27FC236}">
                <a16:creationId xmlns:a16="http://schemas.microsoft.com/office/drawing/2014/main" id="{B5B3A502-BA51-AD44-85A2-78478ABE72D3}"/>
              </a:ext>
            </a:extLst>
          </p:cNvPr>
          <p:cNvSpPr>
            <a:spLocks noGrp="1"/>
          </p:cNvSpPr>
          <p:nvPr>
            <p:ph type="body" sz="quarter" idx="10"/>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19" name="Text Placeholder 18">
            <a:extLst>
              <a:ext uri="{FF2B5EF4-FFF2-40B4-BE49-F238E27FC236}">
                <a16:creationId xmlns:a16="http://schemas.microsoft.com/office/drawing/2014/main" id="{20438804-1BBB-C344-9966-B84164E72E1F}"/>
              </a:ext>
            </a:extLst>
          </p:cNvPr>
          <p:cNvSpPr>
            <a:spLocks noGrp="1"/>
          </p:cNvSpPr>
          <p:nvPr>
            <p:ph type="body" sz="quarter" idx="11"/>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0" name="Text Placeholder 19">
            <a:extLst>
              <a:ext uri="{FF2B5EF4-FFF2-40B4-BE49-F238E27FC236}">
                <a16:creationId xmlns:a16="http://schemas.microsoft.com/office/drawing/2014/main" id="{DEF27AAC-4520-F04B-BF27-FEDE670812D6}"/>
              </a:ext>
            </a:extLst>
          </p:cNvPr>
          <p:cNvSpPr>
            <a:spLocks noGrp="1"/>
          </p:cNvSpPr>
          <p:nvPr>
            <p:ph type="body" sz="quarter" idx="12"/>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1" name="Text Placeholder 20">
            <a:extLst>
              <a:ext uri="{FF2B5EF4-FFF2-40B4-BE49-F238E27FC236}">
                <a16:creationId xmlns:a16="http://schemas.microsoft.com/office/drawing/2014/main" id="{8DBBF810-D365-0147-9776-A456F1C1C728}"/>
              </a:ext>
            </a:extLst>
          </p:cNvPr>
          <p:cNvSpPr>
            <a:spLocks noGrp="1"/>
          </p:cNvSpPr>
          <p:nvPr>
            <p:ph type="body" sz="quarter" idx="13"/>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2" name="Text Placeholder 21">
            <a:extLst>
              <a:ext uri="{FF2B5EF4-FFF2-40B4-BE49-F238E27FC236}">
                <a16:creationId xmlns:a16="http://schemas.microsoft.com/office/drawing/2014/main" id="{44ACA339-B1B9-D647-9965-84FDA01FDE1F}"/>
              </a:ext>
            </a:extLst>
          </p:cNvPr>
          <p:cNvSpPr>
            <a:spLocks noGrp="1"/>
          </p:cNvSpPr>
          <p:nvPr>
            <p:ph type="body" sz="quarter" idx="14"/>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sp>
        <p:nvSpPr>
          <p:cNvPr id="23" name="Text Placeholder 22">
            <a:extLst>
              <a:ext uri="{FF2B5EF4-FFF2-40B4-BE49-F238E27FC236}">
                <a16:creationId xmlns:a16="http://schemas.microsoft.com/office/drawing/2014/main" id="{DD5B1E63-02DD-A84B-A143-A10C0263C6EC}"/>
              </a:ext>
            </a:extLst>
          </p:cNvPr>
          <p:cNvSpPr>
            <a:spLocks noGrp="1"/>
          </p:cNvSpPr>
          <p:nvPr>
            <p:ph type="body" sz="quarter" idx="15"/>
          </p:nvPr>
        </p:nvSpPr>
        <p:spPr/>
        <p:txBody>
          <a:bodyPr/>
          <a:lstStyle/>
          <a:p>
            <a:r>
              <a:rPr lang="en-US" dirty="0"/>
              <a:t>First </a:t>
            </a:r>
            <a:r>
              <a:rPr lang="en-US" dirty="0" err="1"/>
              <a:t>Lastname</a:t>
            </a:r>
            <a:endParaRPr lang="en-US" dirty="0"/>
          </a:p>
          <a:p>
            <a:pPr lvl="1"/>
            <a:r>
              <a:rPr lang="en-US" dirty="0"/>
              <a:t>Title</a:t>
            </a:r>
            <a:br>
              <a:rPr lang="en-US" dirty="0"/>
            </a:br>
            <a:r>
              <a:rPr lang="en-US" dirty="0"/>
              <a:t>+0 000 000 0000</a:t>
            </a:r>
            <a:br>
              <a:rPr lang="en-US" dirty="0"/>
            </a:br>
            <a:r>
              <a:rPr lang="en-US" dirty="0" err="1"/>
              <a:t>first.lastname@cbre.com</a:t>
            </a:r>
            <a:endParaRPr lang="en-US" dirty="0"/>
          </a:p>
          <a:p>
            <a:endParaRPr lang="en-US" dirty="0"/>
          </a:p>
        </p:txBody>
      </p:sp>
      <p:grpSp>
        <p:nvGrpSpPr>
          <p:cNvPr id="26" name="Read and Delete">
            <a:extLst>
              <a:ext uri="{FF2B5EF4-FFF2-40B4-BE49-F238E27FC236}">
                <a16:creationId xmlns:a16="http://schemas.microsoft.com/office/drawing/2014/main" id="{13C72703-35E9-D641-869E-4732DA5FBDA3}"/>
              </a:ext>
            </a:extLst>
          </p:cNvPr>
          <p:cNvGrpSpPr/>
          <p:nvPr/>
        </p:nvGrpSpPr>
        <p:grpSpPr>
          <a:xfrm>
            <a:off x="-1752600" y="5609180"/>
            <a:ext cx="1598930" cy="342900"/>
            <a:chOff x="-1318654" y="228600"/>
            <a:chExt cx="1598930" cy="342900"/>
          </a:xfrm>
          <a:solidFill>
            <a:srgbClr val="AD2A2A"/>
          </a:solidFill>
        </p:grpSpPr>
        <p:sp>
          <p:nvSpPr>
            <p:cNvPr id="27" name="Isosceles Triangle 18">
              <a:extLst>
                <a:ext uri="{FF2B5EF4-FFF2-40B4-BE49-F238E27FC236}">
                  <a16:creationId xmlns:a16="http://schemas.microsoft.com/office/drawing/2014/main" id="{63B43521-9D90-7F40-BF1E-8AAA78CF175A}"/>
                </a:ext>
              </a:extLst>
            </p:cNvPr>
            <p:cNvSpPr/>
            <p:nvPr userDrawn="1"/>
          </p:nvSpPr>
          <p:spPr>
            <a:xfrm rot="5400000">
              <a:off x="114738" y="323412"/>
              <a:ext cx="177800" cy="153276"/>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latin typeface="Calibre Medium" panose="020B0603030202060203" pitchFamily="34" charset="0"/>
              </a:endParaRPr>
            </a:p>
          </p:txBody>
        </p:sp>
        <p:sp>
          <p:nvSpPr>
            <p:cNvPr id="28" name="Rectangle 27">
              <a:extLst>
                <a:ext uri="{FF2B5EF4-FFF2-40B4-BE49-F238E27FC236}">
                  <a16:creationId xmlns:a16="http://schemas.microsoft.com/office/drawing/2014/main" id="{A1A7156F-DBE3-4E48-B863-B6A267CC4AD1}"/>
                </a:ext>
              </a:extLst>
            </p:cNvPr>
            <p:cNvSpPr/>
            <p:nvPr userDrawn="1"/>
          </p:nvSpPr>
          <p:spPr>
            <a:xfrm>
              <a:off x="-1318654" y="228600"/>
              <a:ext cx="1499629" cy="3429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r>
                <a:rPr lang="en-US" sz="800" dirty="0">
                  <a:solidFill>
                    <a:schemeClr val="bg1"/>
                  </a:solidFill>
                  <a:latin typeface="Calibre Medium" panose="020B0603030202060203" pitchFamily="34" charset="0"/>
                  <a:ea typeface="+mn-ea"/>
                  <a:cs typeface="+mn-cs"/>
                </a:rPr>
                <a:t>Make sure © year is correct on</a:t>
              </a:r>
              <a:br>
                <a:rPr lang="en-US" sz="800" dirty="0">
                  <a:solidFill>
                    <a:schemeClr val="bg1"/>
                  </a:solidFill>
                  <a:latin typeface="Calibre Medium" panose="020B0603030202060203" pitchFamily="34" charset="0"/>
                  <a:ea typeface="+mn-ea"/>
                  <a:cs typeface="+mn-cs"/>
                </a:rPr>
              </a:br>
              <a:r>
                <a:rPr lang="en-US" sz="800" dirty="0">
                  <a:solidFill>
                    <a:schemeClr val="bg1"/>
                  </a:solidFill>
                  <a:latin typeface="Calibre Medium" panose="020B0603030202060203" pitchFamily="34" charset="0"/>
                  <a:ea typeface="+mn-ea"/>
                  <a:cs typeface="+mn-cs"/>
                </a:rPr>
                <a:t>all back cover layout options </a:t>
              </a:r>
            </a:p>
          </p:txBody>
        </p:sp>
      </p:grpSp>
      <p:sp>
        <p:nvSpPr>
          <p:cNvPr id="29" name="Rectangle 28">
            <a:extLst>
              <a:ext uri="{FF2B5EF4-FFF2-40B4-BE49-F238E27FC236}">
                <a16:creationId xmlns:a16="http://schemas.microsoft.com/office/drawing/2014/main" id="{3078E5D5-C2A7-9048-B98B-1403E6010E6C}"/>
              </a:ext>
            </a:extLst>
          </p:cNvPr>
          <p:cNvSpPr/>
          <p:nvPr/>
        </p:nvSpPr>
        <p:spPr>
          <a:xfrm>
            <a:off x="-1602346" y="1123949"/>
            <a:ext cx="1295400" cy="1162052"/>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45720" bIns="0" rtlCol="0" anchor="t" anchorCtr="0"/>
          <a:lstStyle/>
          <a:p>
            <a:pPr algn="l">
              <a:spcAft>
                <a:spcPts val="300"/>
              </a:spcAft>
            </a:pPr>
            <a:r>
              <a:rPr lang="en-US" sz="1050" dirty="0">
                <a:solidFill>
                  <a:schemeClr val="bg1"/>
                </a:solidFill>
              </a:rPr>
              <a:t>Portrait Map option. </a:t>
            </a:r>
            <a:br>
              <a:rPr lang="en-US" sz="1050" dirty="0">
                <a:solidFill>
                  <a:schemeClr val="bg1"/>
                </a:solidFill>
              </a:rPr>
            </a:br>
            <a:r>
              <a:rPr lang="en-US" sz="1050" dirty="0">
                <a:solidFill>
                  <a:schemeClr val="bg1"/>
                </a:solidFill>
              </a:rPr>
              <a:t>If need to resize, turn on View&gt;Guides to align frame to underlying grid.</a:t>
            </a:r>
          </a:p>
        </p:txBody>
      </p:sp>
      <p:sp>
        <p:nvSpPr>
          <p:cNvPr id="57" name="slide_7_map">
            <a:extLst>
              <a:ext uri="{FF2B5EF4-FFF2-40B4-BE49-F238E27FC236}">
                <a16:creationId xmlns:a16="http://schemas.microsoft.com/office/drawing/2014/main" id="{EF04B07B-F6A2-2195-D097-326D743A4EA9}"/>
              </a:ext>
            </a:extLst>
          </p:cNvPr>
          <p:cNvSpPr>
            <a:spLocks noGrp="1"/>
          </p:cNvSpPr>
          <p:nvPr>
            <p:ph type="pic" sz="quarter" idx="16"/>
          </p:nvPr>
        </p:nvSpPr>
        <p:spPr/>
        <p:txBody>
          <a:bodyPr/>
          <a:lstStyle/>
          <a:p>
            <a:endParaRPr lang="en-US"/>
          </a:p>
        </p:txBody>
      </p:sp>
      <p:sp>
        <p:nvSpPr>
          <p:cNvPr id="2" name="slide_master_final_copyright">
            <a:extLst>
              <a:ext uri="{FF2B5EF4-FFF2-40B4-BE49-F238E27FC236}">
                <a16:creationId xmlns:a16="http://schemas.microsoft.com/office/drawing/2014/main" id="{84995BF5-1748-874A-22B0-0EAD4E0B4F15}"/>
              </a:ext>
            </a:extLst>
          </p:cNvPr>
          <p:cNvSpPr txBox="1">
            <a:spLocks/>
          </p:cNvSpPr>
          <p:nvPr/>
        </p:nvSpPr>
        <p:spPr>
          <a:xfrm>
            <a:off x="768096" y="6324600"/>
            <a:ext cx="9742488" cy="344826"/>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rgbClr val="435154"/>
                </a:solidFill>
                <a:latin typeface="Barlow Condensed Light" panose="00000406000000000000" pitchFamily="2" charset="0"/>
              </a:rPr>
              <a:t>© </a:t>
            </a:r>
            <a:r>
              <a:rPr lang="en-US" sz="800">
                <a:solidFill>
                  <a:srgbClr val="435154"/>
                </a:solidFill>
                <a:latin typeface="Barlow Condensed Light" panose="00000406000000000000" pitchFamily="2" charset="0"/>
              </a:rPr>
              <a:t>Copyright 2026 </a:t>
            </a:r>
            <a:r>
              <a:rPr lang="en-US" sz="800" dirty="0">
                <a:solidFill>
                  <a:srgbClr val="435154"/>
                </a:solidFill>
                <a:latin typeface="Barlow Condensed Light" panose="00000406000000000000" pitchFamily="2" charset="0"/>
              </a:rPr>
              <a:t>All rights reserved. Information contained herein, including projections, has been obtained from sources believed to be reliable, but has not been verified for accuracy or completeness. CBRE, Inc. makes no guarantee, warranty or representation about it. Any reliance on such information is solely at your own risk. This information is exclusively for use by CBRE clients and professionals and may not be reproduced without the prior written permission of CBRE’s Global Chief Economist.</a:t>
            </a:r>
          </a:p>
        </p:txBody>
      </p:sp>
    </p:spTree>
    <p:custDataLst>
      <p:custData r:id="rId1"/>
      <p:custData r:id="rId2"/>
    </p:custDataLst>
    <p:extLst>
      <p:ext uri="{BB962C8B-B14F-4D97-AF65-F5344CB8AC3E}">
        <p14:creationId xmlns:p14="http://schemas.microsoft.com/office/powerpoint/2010/main" val="3681101468"/>
      </p:ext>
    </p:extLst>
  </p:cSld>
  <p:clrMapOvr>
    <a:masterClrMapping/>
  </p:clrMapOvr>
</p:sld>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TemplafySlideTemplateConfiguration><![CDATA[{"slideVersion":1,"isValidatorEnabled":false,"isLocked":false,"elementsMetadata":[],"slideId":"637710428586907651","enableDocumentContentUpdater":false,"version":"2.0"}]]></TemplafySlideTemplateConfiguration>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7.xml><?xml version="1.0" encoding="utf-8"?>
<TemplafySlideFormConfiguration><![CDATA[{"formFields":[],"formDataEntries":[]}]]></TemplafySlideFormConfiguration>
</file>

<file path=customXml/item8.xml><?xml version="1.0" encoding="utf-8"?>
<TemplafySlideTemplateConfiguration><![CDATA[{"slideVersion":1,"isValidatorEnabled":false,"isLocked":false,"elementsMetadata":[],"slideId":"637710428586907651","enableDocumentContentUpdater":false,"version":"2.0"}]]></TemplafySlideTemplateConfiguration>
</file>

<file path=customXml/item9.xml><?xml version="1.0" encoding="utf-8"?>
<TemplafySlideTemplateConfiguration><![CDATA[{"slideVersion":1,"isValidatorEnabled":false,"isLocked":false,"elementsMetadata":[],"slideId":"637710428586918441","enableDocumentContentUpdater":false,"version":"2.0"}]]></TemplafySlideTemplateConfiguration>
</file>

<file path=customXml/item10.xml><?xml version="1.0" encoding="utf-8"?>
<TemplafySlideTemplateConfiguration><![CDATA[{"slideVersion":1,"isValidatorEnabled":false,"isLocked":false,"elementsMetadata":[],"slideId":"637710428586950120","enableDocumentContentUpdater":false,"version":"2.0"}]]></TemplafySlideTemplateConfiguration>
</file>

<file path=customXml/item11.xml><?xml version="1.0" encoding="utf-8"?>
<TemplafySlideTemplateConfiguration><![CDATA[{"slideVersion":1,"isValidatorEnabled":false,"isLocked":false,"elementsMetadata":[],"slideId":"637710428586918441","enableDocumentContentUpdater":false,"version":"2.0"}]]></TemplafySlideTemplateConfiguration>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TemplafySlideFormConfiguration><![CDATA[{"formFields":[],"formDataEntries":[]}]]></TemplafySlideFormConfiguration>
</file>

<file path=customXml/item14.xml><?xml version="1.0" encoding="utf-8"?>
<TemplafyFormConfiguration><![CDATA[{"formFields":[],"formDataEntries":[]}]]></TemplafyFormConfiguration>
</file>

<file path=customXml/item15.xml><?xml version="1.0" encoding="utf-8"?>
<TemplafySlideTemplateConfiguration><![CDATA[{"slideVersion":1,"isValidatorEnabled":false,"isLocked":false,"elementsMetadata":[],"slideId":"637710428586587329","enableDocumentContentUpdater":false,"version":"2.0"}]]></TemplafySlideTemplateConfiguration>
</file>

<file path=customXml/item16.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17.xml><?xml version="1.0" encoding="utf-8"?>
<TemplafySlideFormConfiguration><![CDATA[{"formFields":[],"formDataEntries":[]}]]></TemplafySlideFormConfiguration>
</file>

<file path=customXml/item18.xml><?xml version="1.0" encoding="utf-8"?>
<TemplafySlideTemplateConfiguration><![CDATA[{"slideVersion":1,"isValidatorEnabled":false,"isLocked":false,"elementsMetadata":[],"slideId":"637710428586826192","enableDocumentContentUpdater":false,"version":"2.0"}]]></TemplafySlideTemplateConfiguration>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031086C7-8170-414F-98F8-9D08D0482FA3}">
  <ds:schemaRefs/>
</ds:datastoreItem>
</file>

<file path=customXml/itemProps2.xml><?xml version="1.0" encoding="utf-8"?>
<ds:datastoreItem xmlns:ds="http://schemas.openxmlformats.org/officeDocument/2006/customXml" ds:itemID="{3CE4ABB1-A8D0-4BDA-960E-19A8E78C85CB}">
  <ds:schemaRefs/>
</ds:datastoreItem>
</file>

<file path=customXml/itemProps3.xml><?xml version="1.0" encoding="utf-8"?>
<ds:datastoreItem xmlns:ds="http://schemas.openxmlformats.org/officeDocument/2006/customXml" ds:itemID="{210D0ECE-EB03-46B5-BB66-21A04B804858}">
  <ds:schemaRefs/>
</ds:datastoreItem>
</file>

<file path=customXml/itemProps4.xml><?xml version="1.0" encoding="utf-8"?>
<ds:datastoreItem xmlns:ds="http://schemas.openxmlformats.org/officeDocument/2006/customXml" ds:itemID="{CE1B153A-2F68-47AA-9A5C-40ADC25F8EE9}">
  <ds:schemaRefs/>
</ds:datastoreItem>
</file>

<file path=customXml/itemProps5.xml><?xml version="1.0" encoding="utf-8"?>
<ds:datastoreItem xmlns:ds="http://schemas.openxmlformats.org/officeDocument/2006/customXml" ds:itemID="{3866CC1B-8778-4E2F-80FB-72B1119E3573}">
  <ds:schemaRefs>
    <ds:schemaRef ds:uri="http://schemas.microsoft.com/office/2006/metadata/properties"/>
    <ds:schemaRef ds:uri="37f34b39-ae9a-42c3-aa23-9e04d25d7d68"/>
    <ds:schemaRef ds:uri="http://schemas.microsoft.com/office/infopath/2007/PartnerControls"/>
    <ds:schemaRef ds:uri="http://purl.org/dc/elements/1.1/"/>
    <ds:schemaRef ds:uri="http://schemas.openxmlformats.org/package/2006/metadata/core-properties"/>
    <ds:schemaRef ds:uri="65f63ffe-09f2-48f2-a153-3382f1b870a7"/>
    <ds:schemaRef ds:uri="http://schemas.microsoft.com/office/2006/documentManagement/types"/>
    <ds:schemaRef ds:uri="http://www.w3.org/XML/1998/namespace"/>
    <ds:schemaRef ds:uri="http://purl.org/dc/dcmitype/"/>
    <ds:schemaRef ds:uri="http://purl.org/dc/terms/"/>
  </ds:schemaRefs>
</ds:datastoreItem>
</file>

<file path=customXml/itemProps6.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7.xml><?xml version="1.0" encoding="utf-8"?>
<ds:datastoreItem xmlns:ds="http://schemas.openxmlformats.org/officeDocument/2006/customXml" ds:itemID="{A14E0F04-3979-4601-89E8-96C855458B98}">
  <ds:schemaRefs/>
</ds:datastoreItem>
</file>

<file path=customXml/itemProps8.xml><?xml version="1.0" encoding="utf-8"?>
<ds:datastoreItem xmlns:ds="http://schemas.openxmlformats.org/officeDocument/2006/customXml" ds:itemID="{36EB031C-7AEB-40D6-87CF-E78365C48F96}">
  <ds:schemaRefs/>
</ds:datastoreItem>
</file>

<file path=customXml/itemProps9.xml><?xml version="1.0" encoding="utf-8"?>
<ds:datastoreItem xmlns:ds="http://schemas.openxmlformats.org/officeDocument/2006/customXml" ds:itemID="{C9B8530F-F0E7-4108-B84F-14FDE78B6313}">
  <ds:schemaRefs/>
</ds:datastoreItem>
</file>

<file path=customXml/itemProps10.xml><?xml version="1.0" encoding="utf-8"?>
<ds:datastoreItem xmlns:ds="http://schemas.openxmlformats.org/officeDocument/2006/customXml" ds:itemID="{4D2ABF8B-60BA-4166-A248-76BAD54EF60E}">
  <ds:schemaRefs/>
</ds:datastoreItem>
</file>

<file path=customXml/itemProps11.xml><?xml version="1.0" encoding="utf-8"?>
<ds:datastoreItem xmlns:ds="http://schemas.openxmlformats.org/officeDocument/2006/customXml" ds:itemID="{2A35B555-51E5-4508-999D-0DB2223E8596}">
  <ds:schemaRefs/>
</ds:datastoreItem>
</file>

<file path=customXml/itemProps12.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13.xml><?xml version="1.0" encoding="utf-8"?>
<ds:datastoreItem xmlns:ds="http://schemas.openxmlformats.org/officeDocument/2006/customXml" ds:itemID="{6CEF34A5-863D-43E5-85F1-3E366FB506A5}">
  <ds:schemaRefs/>
</ds:datastoreItem>
</file>

<file path=customXml/itemProps14.xml><?xml version="1.0" encoding="utf-8"?>
<ds:datastoreItem xmlns:ds="http://schemas.openxmlformats.org/officeDocument/2006/customXml" ds:itemID="{55F8E4E1-3083-46FE-84D1-003F25E9D5F2}">
  <ds:schemaRefs/>
</ds:datastoreItem>
</file>

<file path=customXml/itemProps15.xml><?xml version="1.0" encoding="utf-8"?>
<ds:datastoreItem xmlns:ds="http://schemas.openxmlformats.org/officeDocument/2006/customXml" ds:itemID="{FCB9BDF9-8D0B-4A21-91C7-B45E2054D64F}">
  <ds:schemaRefs/>
</ds:datastoreItem>
</file>

<file path=customXml/itemProps16.xml><?xml version="1.0" encoding="utf-8"?>
<ds:datastoreItem xmlns:ds="http://schemas.openxmlformats.org/officeDocument/2006/customXml" ds:itemID="{0627EAEC-6E82-412B-8BBE-A75F4261EB6E}">
  <ds:schemaRefs/>
</ds:datastoreItem>
</file>

<file path=customXml/itemProps17.xml><?xml version="1.0" encoding="utf-8"?>
<ds:datastoreItem xmlns:ds="http://schemas.openxmlformats.org/officeDocument/2006/customXml" ds:itemID="{AA3288F3-1D9F-49BB-BDD6-370C0756141F}">
  <ds:schemaRefs/>
</ds:datastoreItem>
</file>

<file path=customXml/itemProps18.xml><?xml version="1.0" encoding="utf-8"?>
<ds:datastoreItem xmlns:ds="http://schemas.openxmlformats.org/officeDocument/2006/customXml" ds:itemID="{5FFA546B-4BB0-4D9B-BD46-A26F0FF5BA05}">
  <ds:schemaRefs/>
</ds:datastoreItem>
</file>

<file path=customXml/itemProps19.xml><?xml version="1.0" encoding="utf-8"?>
<ds:datastoreItem xmlns:ds="http://schemas.openxmlformats.org/officeDocument/2006/customXml" ds:itemID="{80BDFBE0-DE12-4FFA-8804-5CB7F604B192}">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449</TotalTime>
  <Words>482</Words>
  <Application>Microsoft Macintosh PowerPoint</Application>
  <PresentationFormat>Widescreen</PresentationFormat>
  <Paragraphs>19</Paragraphs>
  <Slides>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Arial Narrow</vt:lpstr>
      <vt:lpstr>Barlow Condensed</vt:lpstr>
      <vt:lpstr>Barlow Condensed Light</vt:lpstr>
      <vt:lpstr>Barlow Condensed Thin</vt:lpstr>
      <vt:lpstr>Calibre</vt:lpstr>
      <vt:lpstr>Calibre Light</vt:lpstr>
      <vt:lpstr>Calibre Medium</vt:lpstr>
      <vt:lpstr>Calibre Semibold</vt:lpstr>
      <vt:lpstr>Calibri</vt:lpstr>
      <vt:lpstr>Financier Display</vt:lpstr>
      <vt:lpstr>SwissReSansOTLight</vt:lpstr>
      <vt:lpstr>Figures Master - 20210903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Jain Prateek</cp:lastModifiedBy>
  <cp:revision>10</cp:revision>
  <dcterms:created xsi:type="dcterms:W3CDTF">2024-10-08T16:13:53Z</dcterms:created>
  <dcterms:modified xsi:type="dcterms:W3CDTF">2026-01-13T12:46:12Z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