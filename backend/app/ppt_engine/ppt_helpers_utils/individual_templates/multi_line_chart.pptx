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97" autoAdjust="0"/>
    <p:restoredTop sz="94628"/>
  </p:normalViewPr>
  <p:slideViewPr>
    <p:cSldViewPr snapToGrid="0">
      <p:cViewPr varScale="1">
        <p:scale>
          <a:sx n="110" d="100"/>
          <a:sy n="110" d="100"/>
        </p:scale>
        <p:origin x="6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4374353868145507E-2"/>
          <c:y val="9.9347378874937914E-2"/>
          <c:w val="0.94562564613185451"/>
          <c:h val="0.6445245864537203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Overall</c:v>
                </c:pt>
              </c:strCache>
            </c:strRef>
          </c:tx>
          <c:spPr>
            <a:ln w="28575" cap="rnd">
              <a:solidFill>
                <a:srgbClr val="435254"/>
              </a:solidFill>
              <a:round/>
            </a:ln>
            <a:effectLst/>
          </c:spPr>
          <c:marker>
            <c:symbol val="none"/>
          </c:marker>
          <c:cat>
            <c:strRef>
              <c:f>Sheet1!$A$2:$A$20</c:f>
              <c:strCache>
                <c:ptCount val="19"/>
                <c:pt idx="0">
                  <c:v>Q1 2020</c:v>
                </c:pt>
                <c:pt idx="1">
                  <c:v>Q2 2020</c:v>
                </c:pt>
                <c:pt idx="2">
                  <c:v>Q3 2020</c:v>
                </c:pt>
                <c:pt idx="3">
                  <c:v>Q4 2020</c:v>
                </c:pt>
                <c:pt idx="4">
                  <c:v>Q1 2021</c:v>
                </c:pt>
                <c:pt idx="5">
                  <c:v>Q2 2021</c:v>
                </c:pt>
                <c:pt idx="6">
                  <c:v>Q3 2021</c:v>
                </c:pt>
                <c:pt idx="7">
                  <c:v>Q4 2021</c:v>
                </c:pt>
                <c:pt idx="8">
                  <c:v>Q1 2022</c:v>
                </c:pt>
                <c:pt idx="9">
                  <c:v>Q2 2022</c:v>
                </c:pt>
                <c:pt idx="10">
                  <c:v>Q3 2022</c:v>
                </c:pt>
                <c:pt idx="11">
                  <c:v>Q4 2022</c:v>
                </c:pt>
                <c:pt idx="12">
                  <c:v>Q1 2023</c:v>
                </c:pt>
                <c:pt idx="13">
                  <c:v>Q2 2023</c:v>
                </c:pt>
                <c:pt idx="14">
                  <c:v>Q3 2023</c:v>
                </c:pt>
                <c:pt idx="15">
                  <c:v>Q4 2023</c:v>
                </c:pt>
                <c:pt idx="16">
                  <c:v>Q1 2024</c:v>
                </c:pt>
                <c:pt idx="17">
                  <c:v>Q2 2024</c:v>
                </c:pt>
                <c:pt idx="18">
                  <c:v>Q3 2024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5.77</c:v>
                </c:pt>
                <c:pt idx="1">
                  <c:v>6.1</c:v>
                </c:pt>
                <c:pt idx="2">
                  <c:v>7.81</c:v>
                </c:pt>
                <c:pt idx="3">
                  <c:v>6.09</c:v>
                </c:pt>
                <c:pt idx="4">
                  <c:v>5.13</c:v>
                </c:pt>
                <c:pt idx="5">
                  <c:v>5.93</c:v>
                </c:pt>
                <c:pt idx="6">
                  <c:v>5.03</c:v>
                </c:pt>
                <c:pt idx="7">
                  <c:v>3.67</c:v>
                </c:pt>
                <c:pt idx="8">
                  <c:v>2.09</c:v>
                </c:pt>
                <c:pt idx="9">
                  <c:v>2.21</c:v>
                </c:pt>
                <c:pt idx="10">
                  <c:v>1.75</c:v>
                </c:pt>
                <c:pt idx="11">
                  <c:v>3.18</c:v>
                </c:pt>
                <c:pt idx="12">
                  <c:v>5.1100000000000003</c:v>
                </c:pt>
                <c:pt idx="13">
                  <c:v>5.21</c:v>
                </c:pt>
                <c:pt idx="14">
                  <c:v>6.17</c:v>
                </c:pt>
                <c:pt idx="15">
                  <c:v>7.2</c:v>
                </c:pt>
                <c:pt idx="16">
                  <c:v>7.88</c:v>
                </c:pt>
                <c:pt idx="17">
                  <c:v>7.54</c:v>
                </c:pt>
                <c:pt idx="18">
                  <c:v>7.79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C15-224D-BAA5-80FFEBEDAF8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Direct</c:v>
                </c:pt>
              </c:strCache>
            </c:strRef>
          </c:tx>
          <c:spPr>
            <a:ln w="28575" cap="rnd">
              <a:solidFill>
                <a:schemeClr val="bg2"/>
              </a:solidFill>
              <a:round/>
            </a:ln>
            <a:effectLst/>
          </c:spPr>
          <c:marker>
            <c:symbol val="none"/>
          </c:marker>
          <c:cat>
            <c:strRef>
              <c:f>Sheet1!$A$2:$A$20</c:f>
              <c:strCache>
                <c:ptCount val="19"/>
                <c:pt idx="0">
                  <c:v>Q1 2020</c:v>
                </c:pt>
                <c:pt idx="1">
                  <c:v>Q2 2020</c:v>
                </c:pt>
                <c:pt idx="2">
                  <c:v>Q3 2020</c:v>
                </c:pt>
                <c:pt idx="3">
                  <c:v>Q4 2020</c:v>
                </c:pt>
                <c:pt idx="4">
                  <c:v>Q1 2021</c:v>
                </c:pt>
                <c:pt idx="5">
                  <c:v>Q2 2021</c:v>
                </c:pt>
                <c:pt idx="6">
                  <c:v>Q3 2021</c:v>
                </c:pt>
                <c:pt idx="7">
                  <c:v>Q4 2021</c:v>
                </c:pt>
                <c:pt idx="8">
                  <c:v>Q1 2022</c:v>
                </c:pt>
                <c:pt idx="9">
                  <c:v>Q2 2022</c:v>
                </c:pt>
                <c:pt idx="10">
                  <c:v>Q3 2022</c:v>
                </c:pt>
                <c:pt idx="11">
                  <c:v>Q4 2022</c:v>
                </c:pt>
                <c:pt idx="12">
                  <c:v>Q1 2023</c:v>
                </c:pt>
                <c:pt idx="13">
                  <c:v>Q2 2023</c:v>
                </c:pt>
                <c:pt idx="14">
                  <c:v>Q3 2023</c:v>
                </c:pt>
                <c:pt idx="15">
                  <c:v>Q4 2023</c:v>
                </c:pt>
                <c:pt idx="16">
                  <c:v>Q1 2024</c:v>
                </c:pt>
                <c:pt idx="17">
                  <c:v>Q2 2024</c:v>
                </c:pt>
                <c:pt idx="18">
                  <c:v>Q3 2024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5.52</c:v>
                </c:pt>
                <c:pt idx="1">
                  <c:v>5.86</c:v>
                </c:pt>
                <c:pt idx="2">
                  <c:v>7.22</c:v>
                </c:pt>
                <c:pt idx="3">
                  <c:v>5.49</c:v>
                </c:pt>
                <c:pt idx="4">
                  <c:v>4.79</c:v>
                </c:pt>
                <c:pt idx="5">
                  <c:v>5.54</c:v>
                </c:pt>
                <c:pt idx="6">
                  <c:v>4.5999999999999996</c:v>
                </c:pt>
                <c:pt idx="7">
                  <c:v>3.38</c:v>
                </c:pt>
                <c:pt idx="8">
                  <c:v>1.91</c:v>
                </c:pt>
                <c:pt idx="9">
                  <c:v>1.99</c:v>
                </c:pt>
                <c:pt idx="10">
                  <c:v>1.58</c:v>
                </c:pt>
                <c:pt idx="11">
                  <c:v>2.94</c:v>
                </c:pt>
                <c:pt idx="12">
                  <c:v>4.16</c:v>
                </c:pt>
                <c:pt idx="13">
                  <c:v>4.12</c:v>
                </c:pt>
                <c:pt idx="14">
                  <c:v>5.16</c:v>
                </c:pt>
                <c:pt idx="15">
                  <c:v>6.47</c:v>
                </c:pt>
                <c:pt idx="16">
                  <c:v>6.55</c:v>
                </c:pt>
                <c:pt idx="17">
                  <c:v>6.82</c:v>
                </c:pt>
                <c:pt idx="18">
                  <c:v>7.27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C15-224D-BAA5-80FFEBEDAF8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Sublease</c:v>
                </c:pt>
              </c:strCache>
            </c:strRef>
          </c:tx>
          <c:spPr>
            <a:ln w="28575" cap="rnd">
              <a:solidFill>
                <a:schemeClr val="tx2"/>
              </a:solidFill>
              <a:round/>
            </a:ln>
            <a:effectLst/>
          </c:spPr>
          <c:marker>
            <c:symbol val="none"/>
          </c:marker>
          <c:cat>
            <c:strRef>
              <c:f>Sheet1!$A$2:$A$20</c:f>
              <c:strCache>
                <c:ptCount val="19"/>
                <c:pt idx="0">
                  <c:v>Q1 2020</c:v>
                </c:pt>
                <c:pt idx="1">
                  <c:v>Q2 2020</c:v>
                </c:pt>
                <c:pt idx="2">
                  <c:v>Q3 2020</c:v>
                </c:pt>
                <c:pt idx="3">
                  <c:v>Q4 2020</c:v>
                </c:pt>
                <c:pt idx="4">
                  <c:v>Q1 2021</c:v>
                </c:pt>
                <c:pt idx="5">
                  <c:v>Q2 2021</c:v>
                </c:pt>
                <c:pt idx="6">
                  <c:v>Q3 2021</c:v>
                </c:pt>
                <c:pt idx="7">
                  <c:v>Q4 2021</c:v>
                </c:pt>
                <c:pt idx="8">
                  <c:v>Q1 2022</c:v>
                </c:pt>
                <c:pt idx="9">
                  <c:v>Q2 2022</c:v>
                </c:pt>
                <c:pt idx="10">
                  <c:v>Q3 2022</c:v>
                </c:pt>
                <c:pt idx="11">
                  <c:v>Q4 2022</c:v>
                </c:pt>
                <c:pt idx="12">
                  <c:v>Q1 2023</c:v>
                </c:pt>
                <c:pt idx="13">
                  <c:v>Q2 2023</c:v>
                </c:pt>
                <c:pt idx="14">
                  <c:v>Q3 2023</c:v>
                </c:pt>
                <c:pt idx="15">
                  <c:v>Q4 2023</c:v>
                </c:pt>
                <c:pt idx="16">
                  <c:v>Q1 2024</c:v>
                </c:pt>
                <c:pt idx="17">
                  <c:v>Q2 2024</c:v>
                </c:pt>
                <c:pt idx="18">
                  <c:v>Q3 2024</c:v>
                </c:pt>
              </c:strCache>
            </c:strRef>
          </c:cat>
          <c:val>
            <c:numRef>
              <c:f>Sheet1!$D$2:$D$20</c:f>
              <c:numCache>
                <c:formatCode>#,##0.00</c:formatCode>
                <c:ptCount val="19"/>
                <c:pt idx="0">
                  <c:v>0.24</c:v>
                </c:pt>
                <c:pt idx="1">
                  <c:v>0.24</c:v>
                </c:pt>
                <c:pt idx="2">
                  <c:v>0.59</c:v>
                </c:pt>
                <c:pt idx="3">
                  <c:v>0.59</c:v>
                </c:pt>
                <c:pt idx="4">
                  <c:v>0.34</c:v>
                </c:pt>
                <c:pt idx="5">
                  <c:v>0.39</c:v>
                </c:pt>
                <c:pt idx="6">
                  <c:v>0.43</c:v>
                </c:pt>
                <c:pt idx="7">
                  <c:v>0.28999999999999998</c:v>
                </c:pt>
                <c:pt idx="8">
                  <c:v>0.18</c:v>
                </c:pt>
                <c:pt idx="9">
                  <c:v>0.22</c:v>
                </c:pt>
                <c:pt idx="10">
                  <c:v>0.17</c:v>
                </c:pt>
                <c:pt idx="11">
                  <c:v>0.23</c:v>
                </c:pt>
                <c:pt idx="12">
                  <c:v>0.95</c:v>
                </c:pt>
                <c:pt idx="13">
                  <c:v>1.0900000000000001</c:v>
                </c:pt>
                <c:pt idx="14">
                  <c:v>1.02</c:v>
                </c:pt>
                <c:pt idx="15">
                  <c:v>0.73</c:v>
                </c:pt>
                <c:pt idx="16">
                  <c:v>1.33</c:v>
                </c:pt>
                <c:pt idx="17">
                  <c:v>0.72</c:v>
                </c:pt>
                <c:pt idx="18">
                  <c:v>0.52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C15-224D-BAA5-80FFEBEDAF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259348136"/>
        <c:axId val="1259346336"/>
      </c:lineChart>
      <c:catAx>
        <c:axId val="1259348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27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rgbClr val="012A2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9346336"/>
        <c:crosses val="autoZero"/>
        <c:auto val="1"/>
        <c:lblAlgn val="ctr"/>
        <c:lblOffset val="100"/>
        <c:noMultiLvlLbl val="0"/>
      </c:catAx>
      <c:valAx>
        <c:axId val="12593463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wrap="square" anchor="ctr" anchorCtr="1"/>
              <a:lstStyle/>
              <a:p>
                <a:pPr>
                  <a:defRPr sz="900" b="0" i="0" u="none" strike="noStrike" kern="1200" baseline="0">
                    <a:solidFill>
                      <a:srgbClr val="012A2D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Availability Rate (%)</a:t>
                </a:r>
              </a:p>
            </c:rich>
          </c:tx>
          <c:layout>
            <c:manualLayout>
              <c:xMode val="edge"/>
              <c:yMode val="edge"/>
              <c:x val="0"/>
              <c:y val="1.1953271132715813E-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wrap="square" anchor="ctr" anchorCtr="1"/>
            <a:lstStyle/>
            <a:p>
              <a:pPr>
                <a:defRPr sz="900" b="0" i="0" u="none" strike="noStrike" kern="1200" baseline="0">
                  <a:solidFill>
                    <a:srgbClr val="012A2D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012A2D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93481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333708465307251"/>
          <c:y val="0.91034733033904192"/>
          <c:w val="0.41632670331530208"/>
          <c:h val="8.206487860892389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012A2D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>
          <a:solidFill>
            <a:srgbClr val="012A2D"/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B7004-1A26-E7F0-644D-5890722BE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984132-8413-8236-B8F7-555F72D454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38F63-3BE0-4E46-63D7-B3A86AB3D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587C3-805C-49DB-9908-F0FB6FCF78ED}" type="datetimeFigureOut">
              <a:rPr lang="en-IN" smtClean="0"/>
              <a:t>01/12/25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9DE9B-9499-3721-7BF7-9F49234DB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917B3-B335-FE9F-B55B-AE2B4D8D4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F342-D61F-4C87-8AF7-B4E27E443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336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EACC3-F65A-A565-A725-114C47698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D51FC-4F3E-3EBB-A6BA-6D4CF0187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A813D-3C37-C453-99E0-56EDA27F8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587C3-805C-49DB-9908-F0FB6FCF78ED}" type="datetimeFigureOut">
              <a:rPr lang="en-IN" smtClean="0"/>
              <a:t>01/12/25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975B0-E606-A2CB-3C17-6A8A2720F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17E97-1086-2EF0-B1D0-F6EB4C75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F342-D61F-4C87-8AF7-B4E27E443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871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DD848-0F9C-DF08-11A6-7C3AD407A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89349-0337-3D04-5368-23107376D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256AD-E5D0-8DB2-9483-9E3293165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587C3-805C-49DB-9908-F0FB6FCF78ED}" type="datetimeFigureOut">
              <a:rPr lang="en-IN" smtClean="0"/>
              <a:t>01/12/25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B4A25-1399-0DEA-2149-7B84349C4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35143-108F-84EC-2656-AAE749108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F342-D61F-4C87-8AF7-B4E27E443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440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BE524-4FC0-92C8-5BB8-50D3D9BF3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D5F93-80C6-83ED-821D-0FB7D4E4FE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860C27-038C-0E91-EEA8-893947FD1B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1688A5-9AEA-7ABF-7A5D-3AF0F543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587C3-805C-49DB-9908-F0FB6FCF78ED}" type="datetimeFigureOut">
              <a:rPr lang="en-IN" smtClean="0"/>
              <a:t>01/12/25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3E1C6A-03D3-67CC-D16F-9045E343C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3D2EA9-87A9-CFFB-F827-29103BA7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F342-D61F-4C87-8AF7-B4E27E443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273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291CB-9002-A8E7-3475-C40A17E1A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959C8A-712C-01B8-C09F-97E6CF1EF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2250E4-9B06-EC5E-7BB8-379E4BFFF6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922F1D-1143-8D4B-A7D6-E10FA2BA9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B3E09C-5AB5-5788-9A5C-612873FC22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E73E00-88B6-9C14-44E7-ADC381F0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587C3-805C-49DB-9908-F0FB6FCF78ED}" type="datetimeFigureOut">
              <a:rPr lang="en-IN" smtClean="0"/>
              <a:t>01/12/25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3B2AFC-E9B0-344B-3DC9-861AAF203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EC0669-6ED7-AAE6-D70F-054ED3BA9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F342-D61F-4C87-8AF7-B4E27E443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8796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66C2D-CDF9-D6CD-2F22-9618CC740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360B4A-B77F-CC1E-FF95-7A135F237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587C3-805C-49DB-9908-F0FB6FCF78ED}" type="datetimeFigureOut">
              <a:rPr lang="en-IN" smtClean="0"/>
              <a:t>01/12/25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C5AE8E-AC61-4C3E-8660-F3D3FD4F4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69182-8EC7-D500-F39F-5A4F7C956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F342-D61F-4C87-8AF7-B4E27E443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752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EC0C4D-DFB2-69C8-D83D-6D2C71DF0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587C3-805C-49DB-9908-F0FB6FCF78ED}" type="datetimeFigureOut">
              <a:rPr lang="en-IN" smtClean="0"/>
              <a:t>01/12/25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C32289-C9AF-42EC-CABC-8E91BF403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D964D-726E-B826-1003-03AF4D28D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F342-D61F-4C87-8AF7-B4E27E443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83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1A766-9A9A-688D-06BF-6CD87B509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A6DC7-C8F8-1AEF-FC38-3CD5B5108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0E94D-5C8A-A824-D878-6849C206A1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0E6477-9DEE-F60E-B96E-6318340A9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587C3-805C-49DB-9908-F0FB6FCF78ED}" type="datetimeFigureOut">
              <a:rPr lang="en-IN" smtClean="0"/>
              <a:t>01/12/25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F4B8B-1FEC-1348-E38E-AE777AF53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2435F8-885C-BA3E-D943-33326EE82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F342-D61F-4C87-8AF7-B4E27E443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032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3D86C-28ED-C78A-585A-211E59687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D7BC23-FA96-5605-745A-BC7023C68C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4135A7-7416-450A-E321-482AAC27E9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B64B2D-47D7-63FB-8274-7DA7F319D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587C3-805C-49DB-9908-F0FB6FCF78ED}" type="datetimeFigureOut">
              <a:rPr lang="en-IN" smtClean="0"/>
              <a:t>01/12/25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3C727-F0C7-1D75-385A-14F436A9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63207-09DC-A380-F50E-766911CBB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F342-D61F-4C87-8AF7-B4E27E443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497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2B29D-34E2-F764-C2A8-E7CFD5FAE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3EB09-AB57-AB5D-C615-73E29BE23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28190-0F11-E1B9-58D9-6A292736D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587C3-805C-49DB-9908-F0FB6FCF78ED}" type="datetimeFigureOut">
              <a:rPr lang="en-IN" smtClean="0"/>
              <a:t>01/12/25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97D05-5484-B344-F760-873998008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52F7F-5D73-6A5F-8194-50F1C040F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F342-D61F-4C87-8AF7-B4E27E443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50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DB3C0E-698F-6529-4422-4FF12A3F46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A22CF-1EBA-2C86-9A30-4D7E0F8D30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7AFF4-7BE0-1C47-B267-37D55B150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587C3-805C-49DB-9908-F0FB6FCF78ED}" type="datetimeFigureOut">
              <a:rPr lang="en-IN" smtClean="0"/>
              <a:t>01/12/25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DD735-7400-4048-5A87-4D3717719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B94AD-47E5-035E-B111-1888C464E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9F342-D61F-4C87-8AF7-B4E27E443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963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BD8BBA-03A1-AC17-11EB-05CD8B15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63750-6B57-310F-E17B-E66157C4F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D7AE4-0713-64CA-D91B-DE892452F1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587C3-805C-49DB-9908-F0FB6FCF78ED}" type="datetimeFigureOut">
              <a:rPr lang="en-IN" smtClean="0"/>
              <a:t>01/12/25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14FAD-F67D-C37C-3197-E743A9A1B2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B5ED3-802E-A37F-C059-D44BA0636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9F342-D61F-4C87-8AF7-B4E27E443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625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slide_2_chart_1">
            <a:extLst>
              <a:ext uri="{FF2B5EF4-FFF2-40B4-BE49-F238E27FC236}">
                <a16:creationId xmlns:a16="http://schemas.microsoft.com/office/drawing/2014/main" id="{51F5A9CD-4634-C78E-B1BE-EA1B3FAF1F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0343969"/>
              </p:ext>
            </p:extLst>
          </p:nvPr>
        </p:nvGraphicFramePr>
        <p:xfrm>
          <a:off x="3366294" y="1732982"/>
          <a:ext cx="5459412" cy="243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60636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bb24e89f-6132-424b-9c64-0340397f5d20}" enabled="1" method="Privileged" siteId="{0159e9d0-09a0-4edf-96ba-a3deea363c2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Varun Mayilvaganan</dc:creator>
  <cp:lastModifiedBy>Geda, Utkarsh @ Global D&amp;T Contractor</cp:lastModifiedBy>
  <cp:revision>4</cp:revision>
  <dcterms:created xsi:type="dcterms:W3CDTF">2025-09-30T07:24:30Z</dcterms:created>
  <dcterms:modified xsi:type="dcterms:W3CDTF">2025-12-01T12:12:47Z</dcterms:modified>
</cp:coreProperties>
</file>