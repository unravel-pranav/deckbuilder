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/>
    <p:restoredTop sz="94556"/>
  </p:normalViewPr>
  <p:slideViewPr>
    <p:cSldViewPr snapToGrid="0">
      <p:cViewPr varScale="1">
        <p:scale>
          <a:sx n="110" d="100"/>
          <a:sy n="110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57956490593664"/>
          <c:y val="0.12441183242120318"/>
          <c:w val="0.93421544298177162"/>
          <c:h val="0.592475415506197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100k+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Q4 2021</c:v>
                </c:pt>
                <c:pt idx="1">
                  <c:v>Q1 2022</c:v>
                </c:pt>
                <c:pt idx="2">
                  <c:v>Q2 2022</c:v>
                </c:pt>
                <c:pt idx="3">
                  <c:v>Q3 2022</c:v>
                </c:pt>
                <c:pt idx="4">
                  <c:v>Q4 2022</c:v>
                </c:pt>
                <c:pt idx="5">
                  <c:v>Q1 2023</c:v>
                </c:pt>
                <c:pt idx="6">
                  <c:v>Q2 2023</c:v>
                </c:pt>
                <c:pt idx="7">
                  <c:v>Q3 2023</c:v>
                </c:pt>
                <c:pt idx="8">
                  <c:v>Q4 2023</c:v>
                </c:pt>
                <c:pt idx="9">
                  <c:v>Q1 2024</c:v>
                </c:pt>
                <c:pt idx="10">
                  <c:v>Q2 2024</c:v>
                </c:pt>
                <c:pt idx="11">
                  <c:v>Q3 2024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221037</c:v>
                </c:pt>
                <c:pt idx="1">
                  <c:v>263742</c:v>
                </c:pt>
                <c:pt idx="2">
                  <c:v>175009</c:v>
                </c:pt>
                <c:pt idx="3">
                  <c:v>402538</c:v>
                </c:pt>
                <c:pt idx="4">
                  <c:v>291077</c:v>
                </c:pt>
                <c:pt idx="5">
                  <c:v>372684</c:v>
                </c:pt>
                <c:pt idx="6">
                  <c:v>346409</c:v>
                </c:pt>
                <c:pt idx="7">
                  <c:v>254226</c:v>
                </c:pt>
                <c:pt idx="8">
                  <c:v>323710</c:v>
                </c:pt>
                <c:pt idx="9">
                  <c:v>221275</c:v>
                </c:pt>
                <c:pt idx="10">
                  <c:v>324043</c:v>
                </c:pt>
                <c:pt idx="11">
                  <c:v>330098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C1-A744-B0C0-3215579DAF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Under 100k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Q4 2021</c:v>
                </c:pt>
                <c:pt idx="1">
                  <c:v>Q1 2022</c:v>
                </c:pt>
                <c:pt idx="2">
                  <c:v>Q2 2022</c:v>
                </c:pt>
                <c:pt idx="3">
                  <c:v>Q3 2022</c:v>
                </c:pt>
                <c:pt idx="4">
                  <c:v>Q4 2022</c:v>
                </c:pt>
                <c:pt idx="5">
                  <c:v>Q1 2023</c:v>
                </c:pt>
                <c:pt idx="6">
                  <c:v>Q2 2023</c:v>
                </c:pt>
                <c:pt idx="7">
                  <c:v>Q3 2023</c:v>
                </c:pt>
                <c:pt idx="8">
                  <c:v>Q4 2023</c:v>
                </c:pt>
                <c:pt idx="9">
                  <c:v>Q1 2024</c:v>
                </c:pt>
                <c:pt idx="10">
                  <c:v>Q2 2024</c:v>
                </c:pt>
                <c:pt idx="11">
                  <c:v>Q3 2024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275087</c:v>
                </c:pt>
                <c:pt idx="1">
                  <c:v>247659</c:v>
                </c:pt>
                <c:pt idx="2">
                  <c:v>89442</c:v>
                </c:pt>
                <c:pt idx="3">
                  <c:v>331340</c:v>
                </c:pt>
                <c:pt idx="4">
                  <c:v>104130</c:v>
                </c:pt>
                <c:pt idx="5">
                  <c:v>354982</c:v>
                </c:pt>
                <c:pt idx="6">
                  <c:v>271288</c:v>
                </c:pt>
                <c:pt idx="7">
                  <c:v>117974</c:v>
                </c:pt>
                <c:pt idx="8">
                  <c:v>125720</c:v>
                </c:pt>
                <c:pt idx="9">
                  <c:v>85647</c:v>
                </c:pt>
                <c:pt idx="10">
                  <c:v>206525</c:v>
                </c:pt>
                <c:pt idx="11">
                  <c:v>188230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C1-A744-B0C0-3215579DAF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38293936"/>
        <c:axId val="1738299696"/>
      </c:barChart>
      <c:catAx>
        <c:axId val="1738293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8299696"/>
        <c:crosses val="autoZero"/>
        <c:auto val="1"/>
        <c:lblAlgn val="ctr"/>
        <c:lblOffset val="100"/>
        <c:noMultiLvlLbl val="0"/>
      </c:catAx>
      <c:valAx>
        <c:axId val="1738299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8293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6589440974713044E-3"/>
          <c:y val="0.91551497751789068"/>
          <c:w val="0.99334105590252864"/>
          <c:h val="8.44851426536795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12A2D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rgbClr val="012A2D"/>
          </a:solidFill>
          <a:latin typeface="+mn-lt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42F6C-8D57-A190-C15B-9C09C3276A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F2BEAB-3299-1D37-7E85-6645C514C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0351E-2261-0A96-D722-D53A79829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A35F5-BB78-4640-A1EC-0B96EBF577A3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57EFC-BB29-D988-E1B5-573045BB9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55358-DFF1-C9AA-821F-EF634A45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12F34-6C93-C440-BDEB-C39809876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12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F29F2-D615-C5E2-4C88-D291E1E1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632E8-9464-951D-6764-E6405DB36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01AFE-3092-44D2-2A89-709122813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A35F5-BB78-4640-A1EC-0B96EBF577A3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06BAD-3E60-1F58-31FA-A0D20C72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767B8-A32E-6B1F-6545-CE17429F4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12F34-6C93-C440-BDEB-C39809876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465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081F-E550-A95C-B09E-10C9D44B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4F1CF-D221-13D9-C632-5D3CE956F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15CD1-0E19-60C1-BDA3-7130A0BD1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A35F5-BB78-4640-A1EC-0B96EBF577A3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42DE2-C525-2B58-A5DD-9CE810919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2DE42-CCE6-73C8-F9F8-EE20EBF0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12F34-6C93-C440-BDEB-C39809876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48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6DA17-F46D-6316-8078-D38C8A717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86DF6-5FD5-5D68-2DFB-675093690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10C898-9E6A-1428-8B90-573F035153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8E8FC-D15A-64D4-13A5-1FFB87C8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A35F5-BB78-4640-A1EC-0B96EBF577A3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983A2-9DC9-0A58-F200-0413C5192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96341-071C-32D7-0C0D-979A81E6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12F34-6C93-C440-BDEB-C39809876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21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5BDC9-131F-7537-92E5-056DFC19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B8262-E3C2-15B8-8880-3562A8485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ED800-66F8-C767-4952-59D2D111F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8740C2-DD97-20BC-BC85-D32F30AAC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881438-9A84-803D-A5CE-363CBD5AA5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2D8B22-2657-C0F9-6D05-61DAD6B8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A35F5-BB78-4640-A1EC-0B96EBF577A3}" type="datetimeFigureOut">
              <a:rPr lang="en-US" smtClean="0"/>
              <a:t>1/8/26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E3846-0AE7-9C49-CE97-47FCFD1AB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9BB0C3-4920-91E1-9434-A411C1F45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12F34-6C93-C440-BDEB-C39809876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96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E376-55CF-390E-3E60-92A68D9D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72D0E2-2599-C7E7-AD43-C305CB2A6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A35F5-BB78-4640-A1EC-0B96EBF577A3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C05694-4778-0CE0-40BB-88768A6AF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F5F68-F1B9-0D0C-D073-3A29FC8C5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12F34-6C93-C440-BDEB-C39809876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28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4112C-DB54-66C4-0E90-C38BDC237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A35F5-BB78-4640-A1EC-0B96EBF577A3}" type="datetimeFigureOut">
              <a:rPr lang="en-US" smtClean="0"/>
              <a:t>1/8/26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47473-ADAB-CF5E-B86F-F631DB40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378AA-2B8F-035F-1B9F-9A3A6388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12F34-6C93-C440-BDEB-C39809876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484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9459E-A468-52AE-0095-316F1BCF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4ADE7-4632-55BA-1438-9278ECD48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F7103-CE36-D6A8-DFCD-239CFE4A5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E54FF-D518-B365-8C3C-C830A8955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A35F5-BB78-4640-A1EC-0B96EBF577A3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53A11-E95B-44D3-CBA7-0CA1DB1E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AD353-9154-E419-00C7-7C0AA455E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12F34-6C93-C440-BDEB-C39809876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82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163B7-C8F8-84ED-07ED-655821395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87B20-A2CC-9DB9-8D51-689DF76D0F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91F36-D3A4-641B-CD5A-8F8675801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3DD58-9C6D-E2C9-5A8A-74D6CFD17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A35F5-BB78-4640-A1EC-0B96EBF577A3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81883-545D-A7FD-E255-DB2468E94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BFFD6-B24C-9688-6A10-0AD878B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12F34-6C93-C440-BDEB-C39809876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10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DC790-6F1E-A06A-A24B-27481DF6A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7F8A58-1F2B-5EC6-D007-329599049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1ECE3-E6F1-A7FE-7CBA-355954FE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A35F5-BB78-4640-A1EC-0B96EBF577A3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71834-7C15-D83C-ED68-5A3F7EED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B76B0-AB39-FED1-83E8-F35BAE2C2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12F34-6C93-C440-BDEB-C39809876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85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1D9CC4-AC1F-3FB5-BD58-D3EBCE498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B1975-09A7-B66D-913A-2C757B73A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6BC7-90E6-1D02-B17F-BF9C72169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A35F5-BB78-4640-A1EC-0B96EBF577A3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FEA24-BF49-256C-4096-53670A4F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35183-CEB6-FFED-E3CD-8EDA619C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12F34-6C93-C440-BDEB-C39809876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76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731AC9-E632-BE0C-D8F4-528B6FC00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3127F-CFF0-65D5-9716-301042AE9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60CD5-066F-67DF-4CE4-4B45AA5DC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EA35F5-BB78-4640-A1EC-0B96EBF577A3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C58D8-17E0-EB88-F9DB-25C49FC2B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C3038-9191-9EBE-6C84-80C9C6EC5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12F34-6C93-C440-BDEB-C39809876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56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lide_1_chart_4">
            <a:extLst>
              <a:ext uri="{FF2B5EF4-FFF2-40B4-BE49-F238E27FC236}">
                <a16:creationId xmlns:a16="http://schemas.microsoft.com/office/drawing/2014/main" id="{DB1FC603-DE14-DEC2-C8FE-4F3A022A46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2834616"/>
              </p:ext>
            </p:extLst>
          </p:nvPr>
        </p:nvGraphicFramePr>
        <p:xfrm>
          <a:off x="4191193" y="2301876"/>
          <a:ext cx="3809613" cy="2254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14290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BRE Emerald">
    <a:dk1>
      <a:srgbClr val="435254"/>
    </a:dk1>
    <a:lt1>
      <a:srgbClr val="FFFFFF"/>
    </a:lt1>
    <a:dk2>
      <a:srgbClr val="DBD99A"/>
    </a:dk2>
    <a:lt2>
      <a:srgbClr val="80BBAD"/>
    </a:lt2>
    <a:accent1>
      <a:srgbClr val="1F3765"/>
    </a:accent1>
    <a:accent2>
      <a:srgbClr val="3E7CA6"/>
    </a:accent2>
    <a:accent3>
      <a:srgbClr val="CAD1D3"/>
    </a:accent3>
    <a:accent4>
      <a:srgbClr val="96B3B6"/>
    </a:accent4>
    <a:accent5>
      <a:srgbClr val="7F8481"/>
    </a:accent5>
    <a:accent6>
      <a:srgbClr val="003F2D"/>
    </a:accent6>
    <a:hlink>
      <a:srgbClr val="80BBAD"/>
    </a:hlink>
    <a:folHlink>
      <a:srgbClr val="D1D1D3"/>
    </a:folHlink>
  </a:clrScheme>
  <a:fontScheme name="CBRE">
    <a:majorFont>
      <a:latin typeface="Financier Display"/>
      <a:ea typeface=""/>
      <a:cs typeface=""/>
    </a:majorFont>
    <a:minorFont>
      <a:latin typeface="Calibre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Metadata/LabelInfo.xml><?xml version="1.0" encoding="utf-8"?>
<clbl:labelList xmlns:clbl="http://schemas.microsoft.com/office/2020/mipLabelMetadata">
  <clbl:label id="{9e767a3e-36d8-4341-a9b3-8a01d66037db}" enabled="1" method="Privileged" siteId="{0159e9d0-09a0-4edf-96ba-a3deea363c2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1082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Kalwakurthy, Akhil @ Global D&amp;T Contractor</dc:creator>
  <cp:lastModifiedBy>Geda, Utkarsh @ Global D&amp;T Contractor</cp:lastModifiedBy>
  <cp:revision>5</cp:revision>
  <dcterms:created xsi:type="dcterms:W3CDTF">2025-11-14T13:34:19Z</dcterms:created>
  <dcterms:modified xsi:type="dcterms:W3CDTF">2026-01-08T15:04:46Z</dcterms:modified>
</cp:coreProperties>
</file>