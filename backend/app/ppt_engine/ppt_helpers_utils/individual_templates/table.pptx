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700"/>
  </p:normalViewPr>
  <p:slideViewPr>
    <p:cSldViewPr snapToGrid="0">
      <p:cViewPr varScale="1">
        <p:scale>
          <a:sx n="113" d="100"/>
          <a:sy n="113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2208-80C9-E365-BEE0-6FB0790F5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B72DB-2015-E929-A40C-66790BABB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3B0C6-4BB3-0671-2C9C-D9D83E6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A97E6-8EAA-4887-E1C2-02E3C28C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3F43-0A61-78E4-E710-14C1A9FE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6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D1E1-4E5B-9D16-CBF8-FCB176FF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E48F-7617-E615-35B1-112E19FD3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1F97-65DD-462E-7024-9DB343A1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EB10-C001-F330-99F5-40AAA66F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0642-3612-CA8E-57F2-C065075B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59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1EE0-D260-341F-9E25-CCFFB4A7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125A-080D-30B6-7735-5E2E2B7B5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38AB1-93E0-C52B-A577-C0C102CC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8645-FE45-4709-646B-4179DD5B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0815-1FAE-39EC-4B24-D109B452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47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5A2A-213C-3EDC-06EB-C7D35F40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29E4-888C-035A-2534-26C177BDD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B843B-D967-C255-8B5C-A2EC0B3F7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9B650-4560-CDE9-A408-C3493859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D247-6DD5-FDF3-8BFB-9B243A7E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08A05-1107-1D34-699E-2BF2AD61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7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6A5C-A181-D9E0-7501-447658A0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80BBB-8979-00A1-AF1F-AB7072875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3D578-0824-9CC0-4A70-EFD96A43F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DF0D0-CFF9-DD70-448C-29A822FF4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D913D-35F7-0954-5A27-B336B6F6D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AAB78-D2C2-8260-E974-52416002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620562-F9AC-983B-3E04-CAA3141EF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AF2E31-78D8-939D-7250-B2E6721F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4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9985-12C4-83BB-12B5-F2060EB3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24A8E-F61B-2570-67E0-CCDE8603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FBC80-E6E2-15AF-B3F4-BB2A3851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4C6C7-9195-F89D-DF4E-71088E3E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3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ECB1C-7505-E564-3F3A-096A01D7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C31FF-D9F5-D9BD-B988-EEADE16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3463-CAE2-D685-03E9-9C567456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1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8E0C-FA2D-833F-9ED6-679F7E3E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A2A23-7DA0-7B20-B196-817EBC10E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39CE6-2104-2EEA-6C70-0367B8E1C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7667-C84A-94AC-9D03-17924FB5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5EBB4-3EAB-AB85-B37A-75D7ADB5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8224C-D65C-DB44-94B7-77DE033C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23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CA36-98C3-0E93-0E6B-21F29E58A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D875E-6E25-C665-C71C-D65A3523A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5F27C-9B07-3DD8-7AF5-4257E0D5B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C80F1-51BA-B4B1-F010-D1B8E12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B9878-BC13-2619-4FC5-0FB50F44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09BA3-5E8B-7260-4D62-152FFBE0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7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6670-4DC7-259C-806C-F3AADA3F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F124B-7BAE-3112-E9BB-8823FAE7C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F4C0-5F7F-6C22-4803-74D54C1A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91724-EF96-EE49-142E-5CB13A45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37B0E-1548-F5B5-5ADA-FA5B1A55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23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5C71C-F9BB-4D75-9069-A025793C5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65A50-9E02-79B2-0E2C-1031B9176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E2784-624B-1BE3-6094-C28A45FC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E4687-1CB3-0FF4-C7DE-0DFDEC45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FA117-C549-ACD1-FB5F-9F6568C6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90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41306-11F9-0770-1CF2-B63A3B7F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E3CC-A652-D09D-3753-618CEFF21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06FB5-325F-EFB9-75CE-D0FD446CA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D87B5-1F4F-4098-8D5D-EE1F32B8EC56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5445A-5D48-02BA-8A72-06CED5678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3D526-9712-7ED7-6835-CFDD074EE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0BA43-3F1C-4B12-A355-B141F6E7F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57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lide_3_table_1">
            <a:extLst>
              <a:ext uri="{FF2B5EF4-FFF2-40B4-BE49-F238E27FC236}">
                <a16:creationId xmlns:a16="http://schemas.microsoft.com/office/drawing/2014/main" id="{7F29CDF7-6789-B21C-58C4-D86A7EDC7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065282"/>
              </p:ext>
            </p:extLst>
          </p:nvPr>
        </p:nvGraphicFramePr>
        <p:xfrm>
          <a:off x="2647947" y="2376311"/>
          <a:ext cx="6896106" cy="883331"/>
        </p:xfrm>
        <a:graphic>
          <a:graphicData uri="http://schemas.openxmlformats.org/drawingml/2006/table">
            <a:tbl>
              <a:tblPr firstRow="1" bandRow="1"/>
              <a:tblGrid>
                <a:gridCol w="918601">
                  <a:extLst>
                    <a:ext uri="{9D8B030D-6E8A-4147-A177-3AD203B41FA5}">
                      <a16:colId xmlns:a16="http://schemas.microsoft.com/office/drawing/2014/main" val="2965212600"/>
                    </a:ext>
                  </a:extLst>
                </a:gridCol>
                <a:gridCol w="681599">
                  <a:extLst>
                    <a:ext uri="{9D8B030D-6E8A-4147-A177-3AD203B41FA5}">
                      <a16:colId xmlns:a16="http://schemas.microsoft.com/office/drawing/2014/main" val="2595390030"/>
                    </a:ext>
                  </a:extLst>
                </a:gridCol>
                <a:gridCol w="381167">
                  <a:extLst>
                    <a:ext uri="{9D8B030D-6E8A-4147-A177-3AD203B41FA5}">
                      <a16:colId xmlns:a16="http://schemas.microsoft.com/office/drawing/2014/main" val="536879813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3109963765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3824013521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1464754481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413872167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3300916877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3350112570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1045043610"/>
                    </a:ext>
                  </a:extLst>
                </a:gridCol>
                <a:gridCol w="531383">
                  <a:extLst>
                    <a:ext uri="{9D8B030D-6E8A-4147-A177-3AD203B41FA5}">
                      <a16:colId xmlns:a16="http://schemas.microsoft.com/office/drawing/2014/main" val="2020514293"/>
                    </a:ext>
                  </a:extLst>
                </a:gridCol>
                <a:gridCol w="663675">
                  <a:extLst>
                    <a:ext uri="{9D8B030D-6E8A-4147-A177-3AD203B41FA5}">
                      <a16:colId xmlns:a16="http://schemas.microsoft.com/office/drawing/2014/main" val="1961510482"/>
                    </a:ext>
                  </a:extLst>
                </a:gridCol>
              </a:tblGrid>
              <a:tr h="694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endParaRPr lang="en-GB" sz="900" dirty="0">
                        <a:solidFill>
                          <a:srgbClr val="012A2D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b="0" i="0" dirty="0">
                          <a:solidFill>
                            <a:srgbClr val="012A2D"/>
                          </a:solidFill>
                          <a:latin typeface="Calibre" panose="020B0503030202060203" pitchFamily="34" charset="77"/>
                        </a:rPr>
                        <a:t>Net Rentable Area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Total Vacancy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Total Vacant SF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Total Availability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Total Direct Available SF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Total Sublease Available SF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Avg. Gross Direct Asking Rate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Current Quarter Net Absorption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YTD Net Absorption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Deliveries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12A2D"/>
                          </a:solidFill>
                          <a:effectLst/>
                          <a:uLnTx/>
                          <a:uFillTx/>
                          <a:latin typeface="Calibre" panose="020B0503030202060203" pitchFamily="34" charset="77"/>
                          <a:ea typeface="+mn-ea"/>
                          <a:cs typeface="+mn-cs"/>
                        </a:rPr>
                        <a:t>Under Construction</a:t>
                      </a:r>
                    </a:p>
                  </a:txBody>
                  <a:tcPr marL="0" marR="0" marT="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833506"/>
                  </a:ext>
                </a:extLst>
              </a:tr>
              <a:tr h="1883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[SUBMARKET]</a:t>
                      </a: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21,370,409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31.6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10,222,444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31.0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12,203,499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31,569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76.97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41,459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50,000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algn="ctr"/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250,000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e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>
                          <a:solidFill>
                            <a:srgbClr val="435254"/>
                          </a:solidFill>
                          <a:latin typeface="+mn-lt"/>
                        </a:rPr>
                        <a:t>250,00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5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90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63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Calibre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Kalwakurthy, Akhil @ Global D&amp;T Contractor</cp:lastModifiedBy>
  <cp:revision>2</cp:revision>
  <dcterms:created xsi:type="dcterms:W3CDTF">2025-10-05T21:40:49Z</dcterms:created>
  <dcterms:modified xsi:type="dcterms:W3CDTF">2026-01-28T15:54:40Z</dcterms:modified>
</cp:coreProperties>
</file>