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1" autoAdjust="0"/>
    <p:restoredTop sz="94612"/>
  </p:normalViewPr>
  <p:slideViewPr>
    <p:cSldViewPr snapToGrid="0">
      <p:cViewPr varScale="1">
        <p:scale>
          <a:sx n="90" d="100"/>
          <a:sy n="90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36321274159195E-2"/>
          <c:y val="0.11545351954811119"/>
          <c:w val="0.91118750517454994"/>
          <c:h val="0.62138004321056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Absorption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1189309</c:v>
                </c:pt>
                <c:pt idx="1">
                  <c:v>818178</c:v>
                </c:pt>
                <c:pt idx="2">
                  <c:v>5826737</c:v>
                </c:pt>
                <c:pt idx="3">
                  <c:v>2422052</c:v>
                </c:pt>
                <c:pt idx="4">
                  <c:v>3974653</c:v>
                </c:pt>
                <c:pt idx="5">
                  <c:v>2171540</c:v>
                </c:pt>
                <c:pt idx="6">
                  <c:v>5259113</c:v>
                </c:pt>
                <c:pt idx="7">
                  <c:v>3031162</c:v>
                </c:pt>
                <c:pt idx="8">
                  <c:v>3054232</c:v>
                </c:pt>
                <c:pt idx="9">
                  <c:v>2650641</c:v>
                </c:pt>
                <c:pt idx="10">
                  <c:v>1300213</c:v>
                </c:pt>
                <c:pt idx="11">
                  <c:v>529376</c:v>
                </c:pt>
                <c:pt idx="12">
                  <c:v>1840255</c:v>
                </c:pt>
                <c:pt idx="13">
                  <c:v>2724274</c:v>
                </c:pt>
                <c:pt idx="14">
                  <c:v>696054</c:v>
                </c:pt>
                <c:pt idx="15">
                  <c:v>1736103</c:v>
                </c:pt>
                <c:pt idx="16">
                  <c:v>-547721</c:v>
                </c:pt>
                <c:pt idx="17">
                  <c:v>3342016</c:v>
                </c:pt>
                <c:pt idx="18">
                  <c:v>1406995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E0-6B43-A3B1-6D8EA261A7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Deliveries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2037649</c:v>
                </c:pt>
                <c:pt idx="1">
                  <c:v>2880952</c:v>
                </c:pt>
                <c:pt idx="2">
                  <c:v>5549857</c:v>
                </c:pt>
                <c:pt idx="3">
                  <c:v>654372</c:v>
                </c:pt>
                <c:pt idx="4">
                  <c:v>2701850</c:v>
                </c:pt>
                <c:pt idx="5">
                  <c:v>1714387</c:v>
                </c:pt>
                <c:pt idx="6">
                  <c:v>3266304</c:v>
                </c:pt>
                <c:pt idx="7">
                  <c:v>1028935</c:v>
                </c:pt>
                <c:pt idx="8">
                  <c:v>1399785</c:v>
                </c:pt>
                <c:pt idx="9">
                  <c:v>3954277</c:v>
                </c:pt>
                <c:pt idx="10">
                  <c:v>2728151</c:v>
                </c:pt>
                <c:pt idx="11">
                  <c:v>4842416</c:v>
                </c:pt>
                <c:pt idx="12">
                  <c:v>5687063</c:v>
                </c:pt>
                <c:pt idx="13">
                  <c:v>3081153</c:v>
                </c:pt>
                <c:pt idx="14">
                  <c:v>3971440</c:v>
                </c:pt>
                <c:pt idx="15">
                  <c:v>4320415</c:v>
                </c:pt>
                <c:pt idx="16">
                  <c:v>1513432</c:v>
                </c:pt>
                <c:pt idx="17">
                  <c:v>2526058</c:v>
                </c:pt>
                <c:pt idx="18">
                  <c:v>1969484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E0-6B43-A3B1-6D8EA261A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51401488"/>
        <c:axId val="155140184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Vacancy Rate</c:v>
                </c:pt>
              </c:strCache>
            </c:strRef>
          </c:tx>
          <c:spPr>
            <a:ln w="28575" cap="rnd">
              <a:solidFill>
                <a:srgbClr val="17E88F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5.77</c:v>
                </c:pt>
                <c:pt idx="1">
                  <c:v>6.1</c:v>
                </c:pt>
                <c:pt idx="2">
                  <c:v>7.81</c:v>
                </c:pt>
                <c:pt idx="3">
                  <c:v>6.09</c:v>
                </c:pt>
                <c:pt idx="4">
                  <c:v>5.13</c:v>
                </c:pt>
                <c:pt idx="5">
                  <c:v>5.93</c:v>
                </c:pt>
                <c:pt idx="6">
                  <c:v>5.03</c:v>
                </c:pt>
                <c:pt idx="7">
                  <c:v>3.67</c:v>
                </c:pt>
                <c:pt idx="8">
                  <c:v>2.09</c:v>
                </c:pt>
                <c:pt idx="9">
                  <c:v>2.21</c:v>
                </c:pt>
                <c:pt idx="10">
                  <c:v>1.75</c:v>
                </c:pt>
                <c:pt idx="11">
                  <c:v>3.18</c:v>
                </c:pt>
                <c:pt idx="12">
                  <c:v>5.1100000000000003</c:v>
                </c:pt>
                <c:pt idx="13">
                  <c:v>5.21</c:v>
                </c:pt>
                <c:pt idx="14">
                  <c:v>6.17</c:v>
                </c:pt>
                <c:pt idx="15">
                  <c:v>7.2</c:v>
                </c:pt>
                <c:pt idx="16">
                  <c:v>7.88</c:v>
                </c:pt>
                <c:pt idx="17">
                  <c:v>7.54</c:v>
                </c:pt>
                <c:pt idx="18">
                  <c:v>7.79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E0-6B43-A3B1-6D8EA261A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1359728"/>
        <c:axId val="1551345688"/>
      </c:lineChart>
      <c:catAx>
        <c:axId val="1551401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401848"/>
        <c:crosses val="autoZero"/>
        <c:auto val="1"/>
        <c:lblAlgn val="ctr"/>
        <c:lblOffset val="100"/>
        <c:noMultiLvlLbl val="0"/>
      </c:catAx>
      <c:valAx>
        <c:axId val="1551401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Sq. Ft.</a:t>
                </a:r>
                <a:r>
                  <a:rPr lang="en-US" baseline="0" dirty="0"/>
                  <a:t> millions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_);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401488"/>
        <c:crosses val="autoZero"/>
        <c:crossBetween val="between"/>
      </c:valAx>
      <c:valAx>
        <c:axId val="1551345688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Vacancy %</a:t>
                </a:r>
              </a:p>
            </c:rich>
          </c:tx>
          <c:layout>
            <c:manualLayout>
              <c:xMode val="edge"/>
              <c:yMode val="edge"/>
              <c:x val="0.89644654039665805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359728"/>
        <c:crosses val="max"/>
        <c:crossBetween val="between"/>
      </c:valAx>
      <c:catAx>
        <c:axId val="1551359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13456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822810222053217"/>
          <c:y val="0.92339885864081184"/>
          <c:w val="0.60260500581381293"/>
          <c:h val="7.66011413591882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2C7C-FFCA-A5F3-AB42-CF51D5C99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D490D-61DD-29CA-90F0-18BA1467C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4CE1-33D3-2A3E-A3C8-1E54B903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CBEB4-3AE5-6091-0E30-C4AEFCC7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3C91C-4FB4-5D73-B678-B4EB8451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9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3F06-3B9A-9DAA-5BE1-E325E3C4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DA889-61FE-A765-FD8B-A9FCB5A8E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2511-2F3A-5C4A-0F20-85A79C9A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E619B-2533-7271-A47F-5DAFBDB6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FFD2-EDD1-4B9E-E1D0-0F6F653F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59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FE81-8431-D37C-634D-93E7B573F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CB24-3A3F-3E11-B7B3-DFEF81DA7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04BB3-32D2-D69F-90EF-62A00B74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68295-6D1A-0867-4911-33C808FC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1FE73-AAE1-CF97-6928-A549A02B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10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C9FE-4B67-E6F7-05A1-2AC09FB2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900E-FCA8-7994-F017-3829B78C7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31646-BF7D-102C-666E-B6A68E049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3C81C-6555-AF50-6227-B64F2B9F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1BED3-2D03-0ABA-DD56-DEE77D5B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6601F-0CDC-41CA-B42E-8B2E08FB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49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4B8A-C6E2-560C-EAAE-6D641D38E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518F-024B-B40E-B3C9-A705039D6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28CC9-BA6E-D777-EE42-27FB1FCF9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98BD6-419A-C9F3-3D0A-816C3976C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7AACC-5CE5-6EA6-BF94-26274207B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7F82B-B30F-1A45-8997-6E17B3EC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AA755-3B9A-1408-65CA-AE6BF40E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D6741-CE95-CC9E-F286-BC960187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078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DC83-553C-549E-86A0-1D3AC8BC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78D89-6BE3-17F6-2890-5E32B152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B30D9-E14A-9014-EB68-12B85A3F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70FB0-8F72-AA0F-55D2-26F2317A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4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0477-11DA-6610-90B3-8EB17064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34749-DB35-6654-9DD5-B071760C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98BD6-AC09-B158-3B2B-C7F135E9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452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2DB5-73F0-9D9D-B1C3-B6099371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FCD0-20A6-7C41-C534-53283CA17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AEB3A-BC06-A674-8DDB-783BA0F0B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AE46E-78D3-5061-F077-90923872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64413-3E05-1CC1-F4FA-D313BAD4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FDADF-ABA7-327C-19FD-4F160960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58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1DB2-537A-51C3-EECA-42CCBA1B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F0CCAE-C11C-B23B-A68E-FF6ADF611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45A92-274E-B88C-E9D7-DE2EA92CB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A1235-45B4-CB17-B56A-421D3BAB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9446F-E3C1-882B-A5CA-67B7012F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441C8-C6FE-15F6-518E-684780C4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00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6DD4-7CA2-284A-CDF7-E54CF5F5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E9FF8-7E72-7C9A-52F7-52A40EE75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0F1A0-A84F-6A90-26DE-83A4DC6DE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CDF11-558F-DE76-2FD0-115D163B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B72E-4074-C443-A3C0-6222E21C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5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FE98B5-8683-7E5F-14C1-4B6A5B30C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9BA7F-3AB4-0E5C-61AE-E3269E5DC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302DD-9B2E-D42A-AB1D-27067EBE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E6360-CECF-81AE-2D0B-50CED514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F72FA-60C3-2CE9-A6D2-DD9558F2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29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4679D-610F-8496-A75B-9FA03389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8AF07-EA87-C25A-8F07-1DC3991AF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B437B-A512-2655-9A01-510B70048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8F887-017C-43CE-A15B-8B5FB1740ED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05BD4-9D1C-187E-4475-3E51A7E0C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2BB6F-C171-E337-B984-899823487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D4BD2-63C0-4634-B59C-88A9DBF3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9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lide_1_chart_1">
            <a:extLst>
              <a:ext uri="{FF2B5EF4-FFF2-40B4-BE49-F238E27FC236}">
                <a16:creationId xmlns:a16="http://schemas.microsoft.com/office/drawing/2014/main" id="{27103184-A684-E29C-2FB0-3361A472E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205979"/>
              </p:ext>
            </p:extLst>
          </p:nvPr>
        </p:nvGraphicFramePr>
        <p:xfrm>
          <a:off x="3366294" y="1772552"/>
          <a:ext cx="5459412" cy="2612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005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Jain Prateek</cp:lastModifiedBy>
  <cp:revision>4</cp:revision>
  <dcterms:created xsi:type="dcterms:W3CDTF">2025-10-05T21:47:05Z</dcterms:created>
  <dcterms:modified xsi:type="dcterms:W3CDTF">2025-12-03T09:25:58Z</dcterms:modified>
</cp:coreProperties>
</file>