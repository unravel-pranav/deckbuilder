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597"/>
    <a:srgbClr val="00A5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2" autoAdjust="0"/>
    <p:restoredTop sz="94612"/>
  </p:normalViewPr>
  <p:slideViewPr>
    <p:cSldViewPr snapToGrid="0">
      <p:cViewPr varScale="1">
        <p:scale>
          <a:sx n="114" d="100"/>
          <a:sy n="114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805783479979161E-2"/>
          <c:y val="0.11387897803032408"/>
          <c:w val="0.92164211090864734"/>
          <c:h val="0.6181815955438002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Under Construction 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10683851</c:v>
                </c:pt>
                <c:pt idx="1">
                  <c:v>10884303</c:v>
                </c:pt>
                <c:pt idx="2">
                  <c:v>8482539</c:v>
                </c:pt>
                <c:pt idx="3">
                  <c:v>8773976</c:v>
                </c:pt>
                <c:pt idx="4">
                  <c:v>7037126</c:v>
                </c:pt>
                <c:pt idx="5">
                  <c:v>9258927</c:v>
                </c:pt>
                <c:pt idx="6">
                  <c:v>11225928</c:v>
                </c:pt>
                <c:pt idx="7">
                  <c:v>16325142</c:v>
                </c:pt>
                <c:pt idx="8">
                  <c:v>16225357</c:v>
                </c:pt>
                <c:pt idx="9">
                  <c:v>16445275</c:v>
                </c:pt>
                <c:pt idx="10">
                  <c:v>19082520</c:v>
                </c:pt>
                <c:pt idx="11">
                  <c:v>16972938</c:v>
                </c:pt>
                <c:pt idx="12">
                  <c:v>11841658</c:v>
                </c:pt>
                <c:pt idx="13">
                  <c:v>10869287</c:v>
                </c:pt>
                <c:pt idx="14">
                  <c:v>9225117</c:v>
                </c:pt>
                <c:pt idx="15">
                  <c:v>6813060</c:v>
                </c:pt>
                <c:pt idx="16">
                  <c:v>6399489</c:v>
                </c:pt>
                <c:pt idx="17">
                  <c:v>4401431</c:v>
                </c:pt>
                <c:pt idx="18">
                  <c:v>2647947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8A-A242-8BA2-51CC61F9F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7006648"/>
        <c:axId val="1550376192"/>
      </c:area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Deliveries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2037649</c:v>
                </c:pt>
                <c:pt idx="1">
                  <c:v>2880952</c:v>
                </c:pt>
                <c:pt idx="2">
                  <c:v>5549857</c:v>
                </c:pt>
                <c:pt idx="3">
                  <c:v>654372</c:v>
                </c:pt>
                <c:pt idx="4">
                  <c:v>2701850</c:v>
                </c:pt>
                <c:pt idx="5">
                  <c:v>1714387</c:v>
                </c:pt>
                <c:pt idx="6">
                  <c:v>3266304</c:v>
                </c:pt>
                <c:pt idx="7">
                  <c:v>1028935</c:v>
                </c:pt>
                <c:pt idx="8">
                  <c:v>1399785</c:v>
                </c:pt>
                <c:pt idx="9">
                  <c:v>3954277</c:v>
                </c:pt>
                <c:pt idx="10">
                  <c:v>2728151</c:v>
                </c:pt>
                <c:pt idx="11">
                  <c:v>4842416</c:v>
                </c:pt>
                <c:pt idx="12">
                  <c:v>5687063</c:v>
                </c:pt>
                <c:pt idx="13">
                  <c:v>3081153</c:v>
                </c:pt>
                <c:pt idx="14">
                  <c:v>3971440</c:v>
                </c:pt>
                <c:pt idx="15">
                  <c:v>4320415</c:v>
                </c:pt>
                <c:pt idx="16">
                  <c:v>1513432</c:v>
                </c:pt>
                <c:pt idx="17">
                  <c:v>2526058</c:v>
                </c:pt>
                <c:pt idx="18">
                  <c:v>1969484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8A-A242-8BA2-51CC61F9F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7006648"/>
        <c:axId val="1550376192"/>
      </c:barChart>
      <c:catAx>
        <c:axId val="577006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376192"/>
        <c:crosses val="autoZero"/>
        <c:auto val="1"/>
        <c:lblAlgn val="ctr"/>
        <c:lblOffset val="100"/>
        <c:noMultiLvlLbl val="0"/>
      </c:catAx>
      <c:valAx>
        <c:axId val="155037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Sq. Ft.</a:t>
                </a:r>
                <a:r>
                  <a:rPr lang="en-US" baseline="0" dirty="0"/>
                  <a:t> millions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"/>
              <c:y val="8.4019371979852302E-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_);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006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897865191342951"/>
          <c:y val="0.91028354072159834"/>
          <c:w val="0.34204251300323185"/>
          <c:h val="8.97164592784018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12A2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14CF-F5DE-16B2-6549-9707A32C3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8E0EA-9623-3959-F218-71DB9530B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C9D50-D04C-8DCC-DC8E-0B9A2C5D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BF581-82A2-1EFE-D666-E2B901A4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00FD7-BFE5-482A-1ECE-0FF3BAFB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46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9EE8-1AA2-5496-0F87-E70B2193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8875F-8E64-4E2C-E837-FE03E6EC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ABA88-FE12-E87F-A05A-360FB7FE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BA965-9865-1D7C-D42E-A9178C7E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EF08F-9724-9B4B-5AE6-F4ADE3F3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7E17-D07A-FF15-208A-9A6C60BC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E0DE4-F35F-553F-62D5-DF0A7F116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8E9B2-2FEC-31D1-6E7C-C95EC33D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FAB02-B83D-74F8-1861-1DD3F106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6A0D1-7CA3-4FA2-EE20-C8F78A6A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7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EFCF-33A7-7B7D-8819-0A135E91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4E127-7379-F0B3-7ECA-233CC9B36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7AB8B-B07A-2BDC-45B8-73C687457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FF806-84BE-5713-2EEB-0460DD83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5B6F0-8B2C-1CF0-9C75-279B3609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49326-16B8-CCFD-E434-00599650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8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7D79-4F28-6310-53DC-4FC9F54E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3F4CF-D6EE-00B7-53B8-1C48D5A2F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C3CDB-DDA1-6CBC-3725-07D8E2BDF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37CFD-9ADF-D3FE-433D-C16E7F383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D97F8-0BEA-B2C3-69A7-21D9E79C4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A8FBA-1171-E9DC-775C-60A4F74A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62601-FD0C-00D0-ADBD-E42110D9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21680-FCAE-6336-6E01-AA9552550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74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1B80-6975-64D7-A142-1B53CC02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2FCB0-3064-3C85-24F2-EDCD4BB9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8B60E-D2EC-8BBA-E45F-269B396A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AB040-7CEF-2AB3-0C15-599DA6BB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93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172C5-D9AA-EF4E-06D7-35194D9C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C5683-A981-6781-7EB6-F40FE93C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F0D44-151F-C202-FDA2-70B8FE6B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26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F655-2D4A-1496-0BBA-B3B6E63A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9E7F4-E965-B70B-1E98-9370ABBE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F6CC8-FC81-B9AF-6F58-E56B729FB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2BB51-36F9-AC7C-FC31-F2FBBC35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0D1E6-02C5-EC6C-7D2B-F4A26DE7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1540F-8868-D3B0-A81C-EADEA01B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743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09B1-1C19-0DCC-F7D7-92E1B4313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F66D0-19D2-067B-4666-7D9B527E0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92605-EF3A-36ED-6C90-7F8DC441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2F5CC-946A-A67B-4012-0B6314E6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AEE8-E9B0-6DC0-B761-B983FC7A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503A2-AB4E-1D1B-019F-AAEA8DD3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9F92-D200-9BCC-B290-573DAA0C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E0D9F-3045-90BF-31D0-305FB894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664BF-CE89-1B51-DA09-882C24CB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CA0AE-5155-000E-4273-9142BC1E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61E6D-6008-68DD-07EC-B59E26CB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56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7DF9E3-6FB3-63B1-7110-5B0FD41DF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8C5EB-4AF0-C23B-F26F-74166D2BA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5062-E023-F1FD-31AE-B554F151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44255-62DF-ABCE-0723-93011D4D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6113-853B-9EDB-3CE3-F87EF0BC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3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E2FD0C-D380-2CE6-E6F9-3E9BEE74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E9A7E-C651-5ED6-1974-AED8566F4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EA7AB-9173-F201-81B2-C45213458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FFCA1-282A-44E8-A4A3-497E166A9158}" type="datetimeFigureOut">
              <a:rPr lang="en-IN" smtClean="0"/>
              <a:t>21/01/26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7C07A-6D36-8525-8836-F997C953A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27575-BE4F-F7D9-97F2-8260E2412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8B89A-C6C3-4B54-97F3-1E0ED8343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1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lide_3_chart_2">
            <a:extLst>
              <a:ext uri="{FF2B5EF4-FFF2-40B4-BE49-F238E27FC236}">
                <a16:creationId xmlns:a16="http://schemas.microsoft.com/office/drawing/2014/main" id="{E73745B6-44D2-F71A-65C7-54E850F7B6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5840184"/>
              </p:ext>
            </p:extLst>
          </p:nvPr>
        </p:nvGraphicFramePr>
        <p:xfrm>
          <a:off x="1403708" y="838324"/>
          <a:ext cx="5459412" cy="2368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97338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Jain Prateek</cp:lastModifiedBy>
  <cp:revision>6</cp:revision>
  <dcterms:created xsi:type="dcterms:W3CDTF">2025-09-30T07:27:57Z</dcterms:created>
  <dcterms:modified xsi:type="dcterms:W3CDTF">2026-01-21T10:10:54Z</dcterms:modified>
</cp:coreProperties>
</file>