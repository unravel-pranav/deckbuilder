
<file path=[Content_Types].xml><?xml version="1.0" encoding="utf-8"?>
<Types xmlns="http://schemas.openxmlformats.org/package/2006/content-types">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53"/>
    <p:restoredTop sz="94643"/>
  </p:normalViewPr>
  <p:slideViewPr>
    <p:cSldViewPr snapToGrid="0">
      <p:cViewPr varScale="1">
        <p:scale>
          <a:sx n="115" d="100"/>
          <a:sy n="115" d="100"/>
        </p:scale>
        <p:origin x="52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amp;LR - Figures Cover, 1 Col, 1 Chart">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18BCB5ED-9935-1545-98F6-4195D113974C}"/>
              </a:ext>
            </a:extLst>
          </p:cNvPr>
          <p:cNvSpPr/>
          <p:nvPr userDrawn="1"/>
        </p:nvSpPr>
        <p:spPr>
          <a:xfrm>
            <a:off x="-1828800" y="382588"/>
            <a:ext cx="1524000" cy="665163"/>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chorCtr="0"/>
          <a:lstStyle/>
          <a:p>
            <a:pPr algn="l">
              <a:spcBef>
                <a:spcPts val="0"/>
              </a:spcBef>
              <a:spcAft>
                <a:spcPts val="600"/>
              </a:spcAft>
            </a:pPr>
            <a:r>
              <a:rPr lang="en-US" sz="1000" dirty="0">
                <a:solidFill>
                  <a:schemeClr val="bg1"/>
                </a:solidFill>
                <a:latin typeface="Calibre" panose="020B0503030202060203" pitchFamily="34" charset="77"/>
              </a:rPr>
              <a:t>Leave ‘</a:t>
            </a:r>
            <a:r>
              <a:rPr lang="en-US" sz="1000" b="1" dirty="0">
                <a:solidFill>
                  <a:schemeClr val="bg1"/>
                </a:solidFill>
                <a:latin typeface="Calibre Semibold" panose="020B0503030202060203" pitchFamily="34" charset="77"/>
              </a:rPr>
              <a:t>FIGURES</a:t>
            </a:r>
            <a:r>
              <a:rPr lang="en-US" sz="1000" dirty="0">
                <a:solidFill>
                  <a:schemeClr val="bg1"/>
                </a:solidFill>
                <a:latin typeface="Calibre" panose="020B0503030202060203" pitchFamily="34" charset="77"/>
              </a:rPr>
              <a:t>’ as-is;</a:t>
            </a:r>
            <a:br>
              <a:rPr lang="en-US" sz="1000" dirty="0">
                <a:solidFill>
                  <a:schemeClr val="bg1"/>
                </a:solidFill>
                <a:latin typeface="Calibre" panose="020B0503030202060203" pitchFamily="34" charset="77"/>
              </a:rPr>
            </a:br>
            <a:r>
              <a:rPr lang="en-US" sz="1000" dirty="0">
                <a:solidFill>
                  <a:schemeClr val="bg1"/>
                </a:solidFill>
                <a:latin typeface="Calibre" panose="020B0503030202060203" pitchFamily="34" charset="77"/>
              </a:rPr>
              <a:t>update ‘MARKET SECTOR’ and quarter accordingly. </a:t>
            </a:r>
            <a:endParaRPr lang="en-US" sz="1000" b="1" dirty="0">
              <a:solidFill>
                <a:schemeClr val="bg1"/>
              </a:solidFill>
              <a:latin typeface="Calibre Semibold" panose="020B0503030202060203" pitchFamily="34" charset="77"/>
            </a:endParaRPr>
          </a:p>
        </p:txBody>
      </p:sp>
      <p:sp>
        <p:nvSpPr>
          <p:cNvPr id="2" name="Main Title Placeholder">
            <a:extLst>
              <a:ext uri="{FF2B5EF4-FFF2-40B4-BE49-F238E27FC236}">
                <a16:creationId xmlns:a16="http://schemas.microsoft.com/office/drawing/2014/main" id="{34216D36-9B3F-49BE-91BC-45DA57EE482F}"/>
              </a:ext>
            </a:extLst>
          </p:cNvPr>
          <p:cNvSpPr>
            <a:spLocks noGrp="1"/>
          </p:cNvSpPr>
          <p:nvPr>
            <p:ph type="body" sz="quarter" idx="32" hasCustomPrompt="1"/>
          </p:nvPr>
        </p:nvSpPr>
        <p:spPr>
          <a:xfrm>
            <a:off x="349719" y="468771"/>
            <a:ext cx="9291637" cy="410221"/>
          </a:xfrm>
          <a:prstGeom prst="rect">
            <a:avLst/>
          </a:prstGeom>
        </p:spPr>
        <p:txBody>
          <a:bodyPr anchor="b" anchorCtr="0"/>
          <a:lstStyle>
            <a:lvl1pPr algn="l">
              <a:spcBef>
                <a:spcPts val="0"/>
              </a:spcBef>
              <a:spcAft>
                <a:spcPts val="0"/>
              </a:spcAft>
              <a:defRPr sz="3200" baseline="0">
                <a:solidFill>
                  <a:srgbClr val="003F2D"/>
                </a:solidFill>
              </a:defRPr>
            </a:lvl1pPr>
          </a:lstStyle>
          <a:p>
            <a:pPr lvl="0"/>
            <a:r>
              <a:rPr lang="en-US" dirty="0"/>
              <a:t>Submarket Name</a:t>
            </a:r>
          </a:p>
        </p:txBody>
      </p:sp>
      <p:cxnSp>
        <p:nvCxnSpPr>
          <p:cNvPr id="40" name="Straight Connector 39">
            <a:extLst>
              <a:ext uri="{FF2B5EF4-FFF2-40B4-BE49-F238E27FC236}">
                <a16:creationId xmlns:a16="http://schemas.microsoft.com/office/drawing/2014/main" id="{9C70E8C4-19A0-6509-B90C-39FED434CE02}"/>
              </a:ext>
            </a:extLst>
          </p:cNvPr>
          <p:cNvCxnSpPr>
            <a:cxnSpLocks/>
          </p:cNvCxnSpPr>
          <p:nvPr userDrawn="1"/>
        </p:nvCxnSpPr>
        <p:spPr>
          <a:xfrm>
            <a:off x="5413248" y="246888"/>
            <a:ext cx="5330952" cy="0"/>
          </a:xfrm>
          <a:prstGeom prst="line">
            <a:avLst/>
          </a:prstGeom>
          <a:ln w="28575">
            <a:solidFill>
              <a:srgbClr val="17E891"/>
            </a:solidFill>
          </a:ln>
        </p:spPr>
        <p:style>
          <a:lnRef idx="1">
            <a:schemeClr val="accent1"/>
          </a:lnRef>
          <a:fillRef idx="0">
            <a:schemeClr val="accent1"/>
          </a:fillRef>
          <a:effectRef idx="0">
            <a:schemeClr val="accent1"/>
          </a:effectRef>
          <a:fontRef idx="minor">
            <a:schemeClr val="tx1"/>
          </a:fontRef>
        </p:style>
      </p:cxnSp>
      <p:sp>
        <p:nvSpPr>
          <p:cNvPr id="43" name="slide_master_copyright_text">
            <a:extLst>
              <a:ext uri="{FF2B5EF4-FFF2-40B4-BE49-F238E27FC236}">
                <a16:creationId xmlns:a16="http://schemas.microsoft.com/office/drawing/2014/main" id="{4143E9AE-75A0-EC40-1B7D-EFB9DBF7CC50}"/>
              </a:ext>
            </a:extLst>
          </p:cNvPr>
          <p:cNvSpPr txBox="1">
            <a:spLocks/>
          </p:cNvSpPr>
          <p:nvPr userDrawn="1"/>
        </p:nvSpPr>
        <p:spPr>
          <a:xfrm>
            <a:off x="5203188" y="6574822"/>
            <a:ext cx="6604637" cy="182880"/>
          </a:xfrm>
          <a:prstGeom prst="rect">
            <a:avLst/>
          </a:prstGeom>
        </p:spPr>
        <p:txBody>
          <a:bodyPr vert="horz" wrap="square" lIns="0" tIns="0" rIns="0" bIns="0" rtlCol="0" anchor="t" anchorCtr="0">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r"/>
            <a:r>
              <a:rPr lang="en-US" sz="900" b="0" kern="1200" cap="none" baseline="0" dirty="0">
                <a:solidFill>
                  <a:schemeClr val="tx1"/>
                </a:solidFill>
                <a:latin typeface="Calibre Light" panose="020B0303030202060203" pitchFamily="34" charset="0"/>
                <a:ea typeface="+mn-ea"/>
                <a:cs typeface="+mn-cs"/>
              </a:rPr>
              <a:t>© 2026 CBRE, INC</a:t>
            </a:r>
            <a:r>
              <a:rPr lang="en-US" sz="900" spc="20" dirty="0">
                <a:solidFill>
                  <a:srgbClr val="435154"/>
                </a:solidFill>
                <a:latin typeface="Calibre Light" panose="020B0303030202060203" pitchFamily="34" charset="0"/>
              </a:rPr>
              <a:t>.</a:t>
            </a:r>
          </a:p>
        </p:txBody>
      </p:sp>
      <p:sp>
        <p:nvSpPr>
          <p:cNvPr id="44" name="CBRE Vector Logo">
            <a:extLst>
              <a:ext uri="{FF2B5EF4-FFF2-40B4-BE49-F238E27FC236}">
                <a16:creationId xmlns:a16="http://schemas.microsoft.com/office/drawing/2014/main" id="{F8EC72CC-D2C8-5BB3-E599-4889C6E1BDD0}"/>
              </a:ext>
            </a:extLst>
          </p:cNvPr>
          <p:cNvSpPr>
            <a:spLocks noChangeAspect="1"/>
          </p:cNvSpPr>
          <p:nvPr userDrawn="1"/>
        </p:nvSpPr>
        <p:spPr>
          <a:xfrm>
            <a:off x="11010546" y="131970"/>
            <a:ext cx="914400" cy="227176"/>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chemeClr val="accent6"/>
          </a:solidFill>
          <a:ln w="2617" cap="flat">
            <a:noFill/>
            <a:prstDash val="solid"/>
            <a:miter/>
          </a:ln>
        </p:spPr>
        <p:txBody>
          <a:bodyPr wrap="square" rtlCol="0" anchor="ctr">
            <a:noAutofit/>
          </a:bodyPr>
          <a:lstStyle/>
          <a:p>
            <a:endParaRPr lang="en-US" dirty="0"/>
          </a:p>
        </p:txBody>
      </p:sp>
      <p:sp>
        <p:nvSpPr>
          <p:cNvPr id="3" name="TextBox 2">
            <a:extLst>
              <a:ext uri="{FF2B5EF4-FFF2-40B4-BE49-F238E27FC236}">
                <a16:creationId xmlns:a16="http://schemas.microsoft.com/office/drawing/2014/main" id="{10ED3DBB-7417-8CFB-678F-5AADE83B075A}"/>
              </a:ext>
            </a:extLst>
          </p:cNvPr>
          <p:cNvSpPr txBox="1"/>
          <p:nvPr userDrawn="1"/>
        </p:nvSpPr>
        <p:spPr>
          <a:xfrm>
            <a:off x="2259724" y="262759"/>
            <a:ext cx="0" cy="0"/>
          </a:xfrm>
          <a:prstGeom prst="rect">
            <a:avLst/>
          </a:prstGeom>
          <a:noFill/>
        </p:spPr>
        <p:txBody>
          <a:bodyPr wrap="none" lIns="0" tIns="0" rIns="0" bIns="0" rtlCol="0">
            <a:noAutofit/>
          </a:bodyPr>
          <a:lstStyle/>
          <a:p>
            <a:pPr algn="l"/>
            <a:endParaRPr lang="en-US" dirty="0"/>
          </a:p>
        </p:txBody>
      </p:sp>
    </p:spTree>
    <p:extLst>
      <p:ext uri="{BB962C8B-B14F-4D97-AF65-F5344CB8AC3E}">
        <p14:creationId xmlns:p14="http://schemas.microsoft.com/office/powerpoint/2010/main" val="372917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18BCB5ED-9935-1545-98F6-4195D113974C}"/>
              </a:ext>
            </a:extLst>
          </p:cNvPr>
          <p:cNvSpPr/>
          <p:nvPr userDrawn="1"/>
        </p:nvSpPr>
        <p:spPr>
          <a:xfrm>
            <a:off x="-1828800" y="382588"/>
            <a:ext cx="1524000" cy="665163"/>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chorCtr="0"/>
          <a:lstStyle/>
          <a:p>
            <a:pPr algn="l">
              <a:spcBef>
                <a:spcPts val="0"/>
              </a:spcBef>
              <a:spcAft>
                <a:spcPts val="600"/>
              </a:spcAft>
            </a:pPr>
            <a:r>
              <a:rPr lang="en-US" sz="1000" dirty="0">
                <a:solidFill>
                  <a:schemeClr val="bg1"/>
                </a:solidFill>
                <a:latin typeface="Calibre" panose="020B0503030202060203" pitchFamily="34" charset="77"/>
              </a:rPr>
              <a:t>Leave ‘</a:t>
            </a:r>
            <a:r>
              <a:rPr lang="en-US" sz="1000" b="1" dirty="0">
                <a:solidFill>
                  <a:schemeClr val="bg1"/>
                </a:solidFill>
                <a:latin typeface="Calibre Semibold" panose="020B0503030202060203" pitchFamily="34" charset="77"/>
              </a:rPr>
              <a:t>FIGURES</a:t>
            </a:r>
            <a:r>
              <a:rPr lang="en-US" sz="1000" dirty="0">
                <a:solidFill>
                  <a:schemeClr val="bg1"/>
                </a:solidFill>
                <a:latin typeface="Calibre" panose="020B0503030202060203" pitchFamily="34" charset="77"/>
              </a:rPr>
              <a:t>’ as-is;</a:t>
            </a:r>
            <a:br>
              <a:rPr lang="en-US" sz="1000" dirty="0">
                <a:solidFill>
                  <a:schemeClr val="bg1"/>
                </a:solidFill>
                <a:latin typeface="Calibre" panose="020B0503030202060203" pitchFamily="34" charset="77"/>
              </a:rPr>
            </a:br>
            <a:r>
              <a:rPr lang="en-US" sz="1000" dirty="0">
                <a:solidFill>
                  <a:schemeClr val="bg1"/>
                </a:solidFill>
                <a:latin typeface="Calibre" panose="020B0503030202060203" pitchFamily="34" charset="77"/>
              </a:rPr>
              <a:t>update ‘MARKET SECTOR’ and quarter accordingly. </a:t>
            </a:r>
            <a:endParaRPr lang="en-US" sz="1000" b="1" dirty="0">
              <a:solidFill>
                <a:schemeClr val="bg1"/>
              </a:solidFill>
              <a:latin typeface="Calibre Semibold" panose="020B0503030202060203" pitchFamily="34" charset="77"/>
            </a:endParaRPr>
          </a:p>
        </p:txBody>
      </p:sp>
      <p:cxnSp>
        <p:nvCxnSpPr>
          <p:cNvPr id="40" name="Straight Connector 39">
            <a:extLst>
              <a:ext uri="{FF2B5EF4-FFF2-40B4-BE49-F238E27FC236}">
                <a16:creationId xmlns:a16="http://schemas.microsoft.com/office/drawing/2014/main" id="{9C70E8C4-19A0-6509-B90C-39FED434CE02}"/>
              </a:ext>
            </a:extLst>
          </p:cNvPr>
          <p:cNvCxnSpPr>
            <a:cxnSpLocks/>
          </p:cNvCxnSpPr>
          <p:nvPr userDrawn="1"/>
        </p:nvCxnSpPr>
        <p:spPr>
          <a:xfrm>
            <a:off x="5413248" y="246888"/>
            <a:ext cx="5330952" cy="0"/>
          </a:xfrm>
          <a:prstGeom prst="line">
            <a:avLst/>
          </a:prstGeom>
          <a:ln w="28575">
            <a:solidFill>
              <a:srgbClr val="17E891"/>
            </a:solidFill>
          </a:ln>
        </p:spPr>
        <p:style>
          <a:lnRef idx="1">
            <a:schemeClr val="accent1"/>
          </a:lnRef>
          <a:fillRef idx="0">
            <a:schemeClr val="accent1"/>
          </a:fillRef>
          <a:effectRef idx="0">
            <a:schemeClr val="accent1"/>
          </a:effectRef>
          <a:fontRef idx="minor">
            <a:schemeClr val="tx1"/>
          </a:fontRef>
        </p:style>
      </p:cxnSp>
      <p:sp>
        <p:nvSpPr>
          <p:cNvPr id="43" name="slide_master_copyright_text">
            <a:extLst>
              <a:ext uri="{FF2B5EF4-FFF2-40B4-BE49-F238E27FC236}">
                <a16:creationId xmlns:a16="http://schemas.microsoft.com/office/drawing/2014/main" id="{4143E9AE-75A0-EC40-1B7D-EFB9DBF7CC50}"/>
              </a:ext>
            </a:extLst>
          </p:cNvPr>
          <p:cNvSpPr txBox="1">
            <a:spLocks/>
          </p:cNvSpPr>
          <p:nvPr userDrawn="1"/>
        </p:nvSpPr>
        <p:spPr>
          <a:xfrm>
            <a:off x="5203188" y="6574822"/>
            <a:ext cx="6604637" cy="182880"/>
          </a:xfrm>
          <a:prstGeom prst="rect">
            <a:avLst/>
          </a:prstGeom>
        </p:spPr>
        <p:txBody>
          <a:bodyPr vert="horz" wrap="square" lIns="0" tIns="0" rIns="0" bIns="0" rtlCol="0" anchor="t" anchorCtr="0">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r"/>
            <a:r>
              <a:rPr lang="en-US" sz="900" b="0" kern="1200" cap="none" baseline="0" dirty="0">
                <a:solidFill>
                  <a:schemeClr val="tx1"/>
                </a:solidFill>
                <a:latin typeface="Calibre Light" panose="020B0303030202060203" pitchFamily="34" charset="0"/>
                <a:ea typeface="+mn-ea"/>
                <a:cs typeface="+mn-cs"/>
              </a:rPr>
              <a:t>© 2025 CBRE, INC</a:t>
            </a:r>
            <a:r>
              <a:rPr lang="en-US" sz="900" spc="20" dirty="0">
                <a:solidFill>
                  <a:srgbClr val="435154"/>
                </a:solidFill>
                <a:latin typeface="Calibre Light" panose="020B0303030202060203" pitchFamily="34" charset="0"/>
              </a:rPr>
              <a:t>.</a:t>
            </a:r>
          </a:p>
        </p:txBody>
      </p:sp>
      <p:sp>
        <p:nvSpPr>
          <p:cNvPr id="44" name="CBRE Vector Logo">
            <a:extLst>
              <a:ext uri="{FF2B5EF4-FFF2-40B4-BE49-F238E27FC236}">
                <a16:creationId xmlns:a16="http://schemas.microsoft.com/office/drawing/2014/main" id="{F8EC72CC-D2C8-5BB3-E599-4889C6E1BDD0}"/>
              </a:ext>
            </a:extLst>
          </p:cNvPr>
          <p:cNvSpPr>
            <a:spLocks noChangeAspect="1"/>
          </p:cNvSpPr>
          <p:nvPr userDrawn="1"/>
        </p:nvSpPr>
        <p:spPr>
          <a:xfrm>
            <a:off x="11010546" y="131970"/>
            <a:ext cx="914400" cy="227176"/>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chemeClr val="accent6"/>
          </a:solidFill>
          <a:ln w="2617" cap="flat">
            <a:noFill/>
            <a:prstDash val="solid"/>
            <a:miter/>
          </a:ln>
        </p:spPr>
        <p:txBody>
          <a:bodyPr wrap="square" rtlCol="0" anchor="ctr">
            <a:noAutofit/>
          </a:bodyPr>
          <a:lstStyle/>
          <a:p>
            <a:endParaRPr lang="en-US" dirty="0"/>
          </a:p>
        </p:txBody>
      </p:sp>
      <p:sp>
        <p:nvSpPr>
          <p:cNvPr id="3" name="TextBox 2">
            <a:extLst>
              <a:ext uri="{FF2B5EF4-FFF2-40B4-BE49-F238E27FC236}">
                <a16:creationId xmlns:a16="http://schemas.microsoft.com/office/drawing/2014/main" id="{10ED3DBB-7417-8CFB-678F-5AADE83B075A}"/>
              </a:ext>
            </a:extLst>
          </p:cNvPr>
          <p:cNvSpPr txBox="1"/>
          <p:nvPr userDrawn="1"/>
        </p:nvSpPr>
        <p:spPr>
          <a:xfrm>
            <a:off x="2259724" y="262759"/>
            <a:ext cx="0" cy="0"/>
          </a:xfrm>
          <a:prstGeom prst="rect">
            <a:avLst/>
          </a:prstGeom>
          <a:noFill/>
        </p:spPr>
        <p:txBody>
          <a:bodyPr wrap="none" lIns="0" tIns="0" rIns="0" bIns="0" rtlCol="0">
            <a:noAutofit/>
          </a:bodyPr>
          <a:lstStyle/>
          <a:p>
            <a:pPr algn="l"/>
            <a:endParaRPr lang="en-US" dirty="0"/>
          </a:p>
        </p:txBody>
      </p:sp>
    </p:spTree>
    <p:extLst>
      <p:ext uri="{BB962C8B-B14F-4D97-AF65-F5344CB8AC3E}">
        <p14:creationId xmlns:p14="http://schemas.microsoft.com/office/powerpoint/2010/main" val="3950525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amp;LR - Back">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18BCB5ED-9935-1545-98F6-4195D113974C}"/>
              </a:ext>
            </a:extLst>
          </p:cNvPr>
          <p:cNvSpPr/>
          <p:nvPr userDrawn="1"/>
        </p:nvSpPr>
        <p:spPr>
          <a:xfrm>
            <a:off x="-1828800" y="382588"/>
            <a:ext cx="1524000" cy="665163"/>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chorCtr="0"/>
          <a:lstStyle/>
          <a:p>
            <a:pPr algn="l">
              <a:spcBef>
                <a:spcPts val="0"/>
              </a:spcBef>
              <a:spcAft>
                <a:spcPts val="600"/>
              </a:spcAft>
            </a:pPr>
            <a:r>
              <a:rPr lang="en-US" sz="1000" dirty="0">
                <a:solidFill>
                  <a:schemeClr val="bg1"/>
                </a:solidFill>
                <a:latin typeface="Calibre" panose="020B0503030202060203" pitchFamily="34" charset="77"/>
              </a:rPr>
              <a:t>Leave ‘</a:t>
            </a:r>
            <a:r>
              <a:rPr lang="en-US" sz="1000" b="1" dirty="0">
                <a:solidFill>
                  <a:schemeClr val="bg1"/>
                </a:solidFill>
                <a:latin typeface="Calibre Semibold" panose="020B0503030202060203" pitchFamily="34" charset="77"/>
              </a:rPr>
              <a:t>FIGURES</a:t>
            </a:r>
            <a:r>
              <a:rPr lang="en-US" sz="1000" dirty="0">
                <a:solidFill>
                  <a:schemeClr val="bg1"/>
                </a:solidFill>
                <a:latin typeface="Calibre" panose="020B0503030202060203" pitchFamily="34" charset="77"/>
              </a:rPr>
              <a:t>’ as-is;</a:t>
            </a:r>
            <a:br>
              <a:rPr lang="en-US" sz="1000" dirty="0">
                <a:solidFill>
                  <a:schemeClr val="bg1"/>
                </a:solidFill>
                <a:latin typeface="Calibre" panose="020B0503030202060203" pitchFamily="34" charset="77"/>
              </a:rPr>
            </a:br>
            <a:r>
              <a:rPr lang="en-US" sz="1000" dirty="0">
                <a:solidFill>
                  <a:schemeClr val="bg1"/>
                </a:solidFill>
                <a:latin typeface="Calibre" panose="020B0503030202060203" pitchFamily="34" charset="77"/>
              </a:rPr>
              <a:t>update ‘MARKET SECTOR’ and quarter accordingly. </a:t>
            </a:r>
            <a:endParaRPr lang="en-US" sz="1000" b="1" dirty="0">
              <a:solidFill>
                <a:schemeClr val="bg1"/>
              </a:solidFill>
              <a:latin typeface="Calibre Semibold" panose="020B0503030202060203" pitchFamily="34" charset="77"/>
            </a:endParaRPr>
          </a:p>
        </p:txBody>
      </p:sp>
      <p:sp>
        <p:nvSpPr>
          <p:cNvPr id="5" name="Arrows Disclaimer Text" hidden="1">
            <a:extLst>
              <a:ext uri="{FF2B5EF4-FFF2-40B4-BE49-F238E27FC236}">
                <a16:creationId xmlns:a16="http://schemas.microsoft.com/office/drawing/2014/main" id="{354ADE3E-5A92-2410-857F-A66376743CDF}"/>
              </a:ext>
            </a:extLst>
          </p:cNvPr>
          <p:cNvSpPr txBox="1"/>
          <p:nvPr userDrawn="1"/>
        </p:nvSpPr>
        <p:spPr>
          <a:xfrm>
            <a:off x="7010400" y="6506543"/>
            <a:ext cx="2743200" cy="128301"/>
          </a:xfrm>
          <a:prstGeom prst="rect">
            <a:avLst/>
          </a:prstGeom>
          <a:noFill/>
        </p:spPr>
        <p:txBody>
          <a:bodyPr wrap="square" lIns="0" tIns="0" rIns="0" bIns="0" rtlCol="0" anchor="ctr" anchorCtr="0">
            <a:noAutofit/>
          </a:bodyPr>
          <a:lstStyle/>
          <a:p>
            <a:pPr algn="l"/>
            <a:r>
              <a:rPr lang="en-US" sz="900" b="0" i="0" dirty="0">
                <a:latin typeface="Calibre" panose="020B0503030202060203" pitchFamily="34" charset="0"/>
              </a:rPr>
              <a:t>Note: Label shows number of available spaces per size range.</a:t>
            </a:r>
          </a:p>
        </p:txBody>
      </p:sp>
      <p:sp>
        <p:nvSpPr>
          <p:cNvPr id="9" name="CBRE Vector Logo">
            <a:extLst>
              <a:ext uri="{FF2B5EF4-FFF2-40B4-BE49-F238E27FC236}">
                <a16:creationId xmlns:a16="http://schemas.microsoft.com/office/drawing/2014/main" id="{032FCEB5-B72C-93AC-419E-50A2D7D33745}"/>
              </a:ext>
            </a:extLst>
          </p:cNvPr>
          <p:cNvSpPr>
            <a:spLocks noChangeAspect="1"/>
          </p:cNvSpPr>
          <p:nvPr userDrawn="1"/>
        </p:nvSpPr>
        <p:spPr>
          <a:xfrm>
            <a:off x="11010546" y="131970"/>
            <a:ext cx="914400" cy="227176"/>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chemeClr val="accent6"/>
          </a:solidFill>
          <a:ln w="2617" cap="flat">
            <a:noFill/>
            <a:prstDash val="solid"/>
            <a:miter/>
          </a:ln>
        </p:spPr>
        <p:txBody>
          <a:bodyPr wrap="square" rtlCol="0" anchor="ctr">
            <a:noAutofit/>
          </a:bodyPr>
          <a:lstStyle/>
          <a:p>
            <a:endParaRPr lang="en-US" dirty="0"/>
          </a:p>
        </p:txBody>
      </p:sp>
      <p:cxnSp>
        <p:nvCxnSpPr>
          <p:cNvPr id="8" name="Straight Connector 7">
            <a:extLst>
              <a:ext uri="{FF2B5EF4-FFF2-40B4-BE49-F238E27FC236}">
                <a16:creationId xmlns:a16="http://schemas.microsoft.com/office/drawing/2014/main" id="{3FEE87F2-12EC-9428-0D12-A91098F2D7FA}"/>
              </a:ext>
            </a:extLst>
          </p:cNvPr>
          <p:cNvCxnSpPr>
            <a:cxnSpLocks/>
          </p:cNvCxnSpPr>
          <p:nvPr userDrawn="1"/>
        </p:nvCxnSpPr>
        <p:spPr>
          <a:xfrm>
            <a:off x="5410200" y="243288"/>
            <a:ext cx="5334000" cy="0"/>
          </a:xfrm>
          <a:prstGeom prst="line">
            <a:avLst/>
          </a:prstGeom>
          <a:ln w="28575">
            <a:solidFill>
              <a:srgbClr val="17E891"/>
            </a:solidFill>
          </a:ln>
        </p:spPr>
        <p:style>
          <a:lnRef idx="1">
            <a:schemeClr val="accent1"/>
          </a:lnRef>
          <a:fillRef idx="0">
            <a:schemeClr val="accent1"/>
          </a:fillRef>
          <a:effectRef idx="0">
            <a:schemeClr val="accent1"/>
          </a:effectRef>
          <a:fontRef idx="minor">
            <a:schemeClr val="tx1"/>
          </a:fontRef>
        </p:style>
      </p:cxnSp>
      <p:sp>
        <p:nvSpPr>
          <p:cNvPr id="3" name="Copyright">
            <a:extLst>
              <a:ext uri="{FF2B5EF4-FFF2-40B4-BE49-F238E27FC236}">
                <a16:creationId xmlns:a16="http://schemas.microsoft.com/office/drawing/2014/main" id="{4864E351-EDF4-F649-75E8-4E31B6F362A6}"/>
              </a:ext>
            </a:extLst>
          </p:cNvPr>
          <p:cNvSpPr txBox="1">
            <a:spLocks/>
          </p:cNvSpPr>
          <p:nvPr userDrawn="1"/>
        </p:nvSpPr>
        <p:spPr>
          <a:xfrm>
            <a:off x="206829" y="6168739"/>
            <a:ext cx="11704669" cy="424487"/>
          </a:xfrm>
          <a:prstGeom prst="rect">
            <a:avLst/>
          </a:prstGeom>
        </p:spPr>
        <p:txBody>
          <a:bodyPr vert="horz" lIns="0" tIns="0" rIns="0" bIns="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algn="l">
              <a:lnSpc>
                <a:spcPts val="1100"/>
              </a:lnSpc>
              <a:spcBef>
                <a:spcPts val="227"/>
              </a:spcBef>
              <a:spcAft>
                <a:spcPts val="0"/>
              </a:spcAft>
            </a:pPr>
            <a:r>
              <a:rPr lang="en-US" sz="800" dirty="0">
                <a:solidFill>
                  <a:srgbClr val="435154"/>
                </a:solidFill>
                <a:latin typeface="Barlow Condensed Light" panose="00000406000000000000" pitchFamily="2" charset="0"/>
              </a:rPr>
              <a:t>© Copyright 2026 All rights reserved. Information contained herein, including projections, has been obtained from sources believed to be reliable, but has not been verified for accuracy or completeness. CBRE, Inc. makes no guarantee, warranty or representation about it. Any reliance on such information is solely at your own risk. This information is exclusively for use by CBRE clients and professionals and may not be reproduced without the prior written permission of CBRE’s Global Chief Economist.</a:t>
            </a:r>
          </a:p>
        </p:txBody>
      </p:sp>
    </p:spTree>
    <p:extLst>
      <p:ext uri="{BB962C8B-B14F-4D97-AF65-F5344CB8AC3E}">
        <p14:creationId xmlns:p14="http://schemas.microsoft.com/office/powerpoint/2010/main" val="52242067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id" hidden="1">
            <a:extLst>
              <a:ext uri="{FF2B5EF4-FFF2-40B4-BE49-F238E27FC236}">
                <a16:creationId xmlns:a16="http://schemas.microsoft.com/office/drawing/2014/main" id="{5BC11278-2A89-4C0A-8011-1D067D74B726}"/>
              </a:ext>
            </a:extLst>
          </p:cNvPr>
          <p:cNvGrpSpPr/>
          <p:nvPr userDrawn="1"/>
        </p:nvGrpSpPr>
        <p:grpSpPr>
          <a:xfrm>
            <a:off x="0" y="0"/>
            <a:ext cx="12864211" cy="7009759"/>
            <a:chOff x="0" y="0"/>
            <a:chExt cx="12864211" cy="7009759"/>
          </a:xfrm>
        </p:grpSpPr>
        <p:sp>
          <p:nvSpPr>
            <p:cNvPr id="4" name="Rectangle 3">
              <a:extLst>
                <a:ext uri="{FF2B5EF4-FFF2-40B4-BE49-F238E27FC236}">
                  <a16:creationId xmlns:a16="http://schemas.microsoft.com/office/drawing/2014/main" id="{57E478CF-1E84-4F7A-A0DA-3E6EEFF1C993}"/>
                </a:ext>
              </a:extLst>
            </p:cNvPr>
            <p:cNvSpPr/>
            <p:nvPr userDrawn="1"/>
          </p:nvSpPr>
          <p:spPr>
            <a:xfrm>
              <a:off x="0" y="0"/>
              <a:ext cx="768096" cy="384048"/>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24" name="Rectangle 23">
              <a:extLst>
                <a:ext uri="{FF2B5EF4-FFF2-40B4-BE49-F238E27FC236}">
                  <a16:creationId xmlns:a16="http://schemas.microsoft.com/office/drawing/2014/main" id="{9AEBEF7D-C52C-4463-9406-919D68C148C2}"/>
                </a:ext>
              </a:extLst>
            </p:cNvPr>
            <p:cNvSpPr/>
            <p:nvPr userDrawn="1"/>
          </p:nvSpPr>
          <p:spPr>
            <a:xfrm>
              <a:off x="0" y="778034"/>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26" name="Rectangle 25">
              <a:extLst>
                <a:ext uri="{FF2B5EF4-FFF2-40B4-BE49-F238E27FC236}">
                  <a16:creationId xmlns:a16="http://schemas.microsoft.com/office/drawing/2014/main" id="{B941888A-0E2A-43E9-ABF8-EDBB68D8FAAA}"/>
                </a:ext>
              </a:extLst>
            </p:cNvPr>
            <p:cNvSpPr/>
            <p:nvPr userDrawn="1"/>
          </p:nvSpPr>
          <p:spPr>
            <a:xfrm>
              <a:off x="0" y="6473952"/>
              <a:ext cx="768096" cy="384048"/>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28" name="Rectangle 27">
              <a:extLst>
                <a:ext uri="{FF2B5EF4-FFF2-40B4-BE49-F238E27FC236}">
                  <a16:creationId xmlns:a16="http://schemas.microsoft.com/office/drawing/2014/main" id="{66599361-6B47-4AAA-B601-7F3550CD534A}"/>
                </a:ext>
              </a:extLst>
            </p:cNvPr>
            <p:cNvSpPr/>
            <p:nvPr userDrawn="1"/>
          </p:nvSpPr>
          <p:spPr>
            <a:xfrm>
              <a:off x="11807952" y="0"/>
              <a:ext cx="384048" cy="384048"/>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0" name="Rectangle 29">
              <a:extLst>
                <a:ext uri="{FF2B5EF4-FFF2-40B4-BE49-F238E27FC236}">
                  <a16:creationId xmlns:a16="http://schemas.microsoft.com/office/drawing/2014/main" id="{CDC21C18-A6E4-4F2E-B501-033F91B785E7}"/>
                </a:ext>
              </a:extLst>
            </p:cNvPr>
            <p:cNvSpPr/>
            <p:nvPr userDrawn="1"/>
          </p:nvSpPr>
          <p:spPr>
            <a:xfrm>
              <a:off x="0" y="5956144"/>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1" name="Rectangle 30">
              <a:extLst>
                <a:ext uri="{FF2B5EF4-FFF2-40B4-BE49-F238E27FC236}">
                  <a16:creationId xmlns:a16="http://schemas.microsoft.com/office/drawing/2014/main" id="{E4137BD9-6EA0-426F-A7C6-7C4512A9EA1E}"/>
                </a:ext>
              </a:extLst>
            </p:cNvPr>
            <p:cNvSpPr/>
            <p:nvPr userDrawn="1"/>
          </p:nvSpPr>
          <p:spPr>
            <a:xfrm>
              <a:off x="0" y="5438333"/>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2" name="Rectangle 31">
              <a:extLst>
                <a:ext uri="{FF2B5EF4-FFF2-40B4-BE49-F238E27FC236}">
                  <a16:creationId xmlns:a16="http://schemas.microsoft.com/office/drawing/2014/main" id="{F94E5D9E-583C-48CB-9A92-DF215C218856}"/>
                </a:ext>
              </a:extLst>
            </p:cNvPr>
            <p:cNvSpPr/>
            <p:nvPr userDrawn="1"/>
          </p:nvSpPr>
          <p:spPr>
            <a:xfrm>
              <a:off x="0" y="4920522"/>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3" name="Rectangle 32">
              <a:extLst>
                <a:ext uri="{FF2B5EF4-FFF2-40B4-BE49-F238E27FC236}">
                  <a16:creationId xmlns:a16="http://schemas.microsoft.com/office/drawing/2014/main" id="{A2FFEF67-BC8A-4444-9BF0-8DB7FA2CD97B}"/>
                </a:ext>
              </a:extLst>
            </p:cNvPr>
            <p:cNvSpPr/>
            <p:nvPr userDrawn="1"/>
          </p:nvSpPr>
          <p:spPr>
            <a:xfrm>
              <a:off x="0" y="4402711"/>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4" name="Rectangle 33">
              <a:extLst>
                <a:ext uri="{FF2B5EF4-FFF2-40B4-BE49-F238E27FC236}">
                  <a16:creationId xmlns:a16="http://schemas.microsoft.com/office/drawing/2014/main" id="{4098F805-B781-429A-BA94-67F423D71566}"/>
                </a:ext>
              </a:extLst>
            </p:cNvPr>
            <p:cNvSpPr/>
            <p:nvPr userDrawn="1"/>
          </p:nvSpPr>
          <p:spPr>
            <a:xfrm>
              <a:off x="0" y="3884900"/>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5" name="Rectangle 34">
              <a:extLst>
                <a:ext uri="{FF2B5EF4-FFF2-40B4-BE49-F238E27FC236}">
                  <a16:creationId xmlns:a16="http://schemas.microsoft.com/office/drawing/2014/main" id="{CB8B5202-3C91-408A-B9A2-341A75BD450B}"/>
                </a:ext>
              </a:extLst>
            </p:cNvPr>
            <p:cNvSpPr/>
            <p:nvPr userDrawn="1"/>
          </p:nvSpPr>
          <p:spPr>
            <a:xfrm>
              <a:off x="0" y="3367089"/>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6" name="Rectangle 35">
              <a:extLst>
                <a:ext uri="{FF2B5EF4-FFF2-40B4-BE49-F238E27FC236}">
                  <a16:creationId xmlns:a16="http://schemas.microsoft.com/office/drawing/2014/main" id="{0E5CB377-D9AB-4A6B-A517-0508424D5FC3}"/>
                </a:ext>
              </a:extLst>
            </p:cNvPr>
            <p:cNvSpPr/>
            <p:nvPr userDrawn="1"/>
          </p:nvSpPr>
          <p:spPr>
            <a:xfrm>
              <a:off x="0" y="2849278"/>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7" name="Rectangle 36">
              <a:extLst>
                <a:ext uri="{FF2B5EF4-FFF2-40B4-BE49-F238E27FC236}">
                  <a16:creationId xmlns:a16="http://schemas.microsoft.com/office/drawing/2014/main" id="{D8A5BB5D-E55C-4C85-B0E8-D7E72D779172}"/>
                </a:ext>
              </a:extLst>
            </p:cNvPr>
            <p:cNvSpPr/>
            <p:nvPr userDrawn="1"/>
          </p:nvSpPr>
          <p:spPr>
            <a:xfrm>
              <a:off x="0" y="2331467"/>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8" name="Rectangle 37">
              <a:extLst>
                <a:ext uri="{FF2B5EF4-FFF2-40B4-BE49-F238E27FC236}">
                  <a16:creationId xmlns:a16="http://schemas.microsoft.com/office/drawing/2014/main" id="{D59A2F2D-1AD8-4342-869F-28271BEDFE36}"/>
                </a:ext>
              </a:extLst>
            </p:cNvPr>
            <p:cNvSpPr/>
            <p:nvPr userDrawn="1"/>
          </p:nvSpPr>
          <p:spPr>
            <a:xfrm>
              <a:off x="0" y="1813656"/>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9" name="Rectangle 38">
              <a:extLst>
                <a:ext uri="{FF2B5EF4-FFF2-40B4-BE49-F238E27FC236}">
                  <a16:creationId xmlns:a16="http://schemas.microsoft.com/office/drawing/2014/main" id="{ECD05E55-544E-4D05-815F-47A0C34E3645}"/>
                </a:ext>
              </a:extLst>
            </p:cNvPr>
            <p:cNvSpPr/>
            <p:nvPr userDrawn="1"/>
          </p:nvSpPr>
          <p:spPr>
            <a:xfrm>
              <a:off x="0" y="1295845"/>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0" name="Rectangle 39">
              <a:extLst>
                <a:ext uri="{FF2B5EF4-FFF2-40B4-BE49-F238E27FC236}">
                  <a16:creationId xmlns:a16="http://schemas.microsoft.com/office/drawing/2014/main" id="{A5D5C267-FE66-4E7A-BC3D-E41102FF9F2C}"/>
                </a:ext>
              </a:extLst>
            </p:cNvPr>
            <p:cNvSpPr/>
            <p:nvPr userDrawn="1"/>
          </p:nvSpPr>
          <p:spPr>
            <a:xfrm rot="5400000">
              <a:off x="4235388" y="130111"/>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1" name="Rectangle 40">
              <a:extLst>
                <a:ext uri="{FF2B5EF4-FFF2-40B4-BE49-F238E27FC236}">
                  <a16:creationId xmlns:a16="http://schemas.microsoft.com/office/drawing/2014/main" id="{625166BE-FFE8-4C6E-9C2A-F145DE810CCC}"/>
                </a:ext>
              </a:extLst>
            </p:cNvPr>
            <p:cNvSpPr/>
            <p:nvPr userDrawn="1"/>
          </p:nvSpPr>
          <p:spPr>
            <a:xfrm rot="5400000">
              <a:off x="1444467" y="130112"/>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2" name="Rectangle 41">
              <a:extLst>
                <a:ext uri="{FF2B5EF4-FFF2-40B4-BE49-F238E27FC236}">
                  <a16:creationId xmlns:a16="http://schemas.microsoft.com/office/drawing/2014/main" id="{4BAA4B15-8878-43C5-8729-20D808DD0B74}"/>
                </a:ext>
              </a:extLst>
            </p:cNvPr>
            <p:cNvSpPr/>
            <p:nvPr userDrawn="1"/>
          </p:nvSpPr>
          <p:spPr>
            <a:xfrm rot="5400000">
              <a:off x="5165695" y="130113"/>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3" name="Rectangle 42">
              <a:extLst>
                <a:ext uri="{FF2B5EF4-FFF2-40B4-BE49-F238E27FC236}">
                  <a16:creationId xmlns:a16="http://schemas.microsoft.com/office/drawing/2014/main" id="{DD58D7E6-9975-4B5B-8DBA-05A49CDA68F4}"/>
                </a:ext>
              </a:extLst>
            </p:cNvPr>
            <p:cNvSpPr/>
            <p:nvPr userDrawn="1"/>
          </p:nvSpPr>
          <p:spPr>
            <a:xfrm rot="5400000">
              <a:off x="2374774" y="130112"/>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4" name="Rectangle 43">
              <a:extLst>
                <a:ext uri="{FF2B5EF4-FFF2-40B4-BE49-F238E27FC236}">
                  <a16:creationId xmlns:a16="http://schemas.microsoft.com/office/drawing/2014/main" id="{B886EFF4-66CA-4317-8748-AE5330470C14}"/>
                </a:ext>
              </a:extLst>
            </p:cNvPr>
            <p:cNvSpPr/>
            <p:nvPr userDrawn="1"/>
          </p:nvSpPr>
          <p:spPr>
            <a:xfrm rot="5400000">
              <a:off x="3305081" y="130111"/>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5" name="Rectangle 44">
              <a:extLst>
                <a:ext uri="{FF2B5EF4-FFF2-40B4-BE49-F238E27FC236}">
                  <a16:creationId xmlns:a16="http://schemas.microsoft.com/office/drawing/2014/main" id="{6464C605-1C14-4726-8273-B5240CB77977}"/>
                </a:ext>
              </a:extLst>
            </p:cNvPr>
            <p:cNvSpPr/>
            <p:nvPr userDrawn="1"/>
          </p:nvSpPr>
          <p:spPr>
            <a:xfrm rot="5400000">
              <a:off x="6096002" y="130111"/>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6" name="Rectangle 45">
              <a:extLst>
                <a:ext uri="{FF2B5EF4-FFF2-40B4-BE49-F238E27FC236}">
                  <a16:creationId xmlns:a16="http://schemas.microsoft.com/office/drawing/2014/main" id="{958D3CAD-59A7-43F8-801E-20DBBCD51B42}"/>
                </a:ext>
              </a:extLst>
            </p:cNvPr>
            <p:cNvSpPr/>
            <p:nvPr userDrawn="1"/>
          </p:nvSpPr>
          <p:spPr>
            <a:xfrm rot="5400000">
              <a:off x="9817230" y="130111"/>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8" name="Rectangle 47">
              <a:extLst>
                <a:ext uri="{FF2B5EF4-FFF2-40B4-BE49-F238E27FC236}">
                  <a16:creationId xmlns:a16="http://schemas.microsoft.com/office/drawing/2014/main" id="{F6CC5F01-0179-4702-9579-CE91070B340D}"/>
                </a:ext>
              </a:extLst>
            </p:cNvPr>
            <p:cNvSpPr/>
            <p:nvPr userDrawn="1"/>
          </p:nvSpPr>
          <p:spPr>
            <a:xfrm rot="5400000">
              <a:off x="7026309" y="130112"/>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1" name="Rectangle 50">
              <a:extLst>
                <a:ext uri="{FF2B5EF4-FFF2-40B4-BE49-F238E27FC236}">
                  <a16:creationId xmlns:a16="http://schemas.microsoft.com/office/drawing/2014/main" id="{1AA37796-8FC6-4CDE-8316-55BD93EF8B01}"/>
                </a:ext>
              </a:extLst>
            </p:cNvPr>
            <p:cNvSpPr/>
            <p:nvPr userDrawn="1"/>
          </p:nvSpPr>
          <p:spPr>
            <a:xfrm rot="5400000">
              <a:off x="10747537" y="130113"/>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3" name="Rectangle 52">
              <a:extLst>
                <a:ext uri="{FF2B5EF4-FFF2-40B4-BE49-F238E27FC236}">
                  <a16:creationId xmlns:a16="http://schemas.microsoft.com/office/drawing/2014/main" id="{C64B2F61-704A-476C-8780-875648E4FA0D}"/>
                </a:ext>
              </a:extLst>
            </p:cNvPr>
            <p:cNvSpPr/>
            <p:nvPr userDrawn="1"/>
          </p:nvSpPr>
          <p:spPr>
            <a:xfrm rot="5400000">
              <a:off x="7956616" y="130112"/>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4" name="Rectangle 53">
              <a:extLst>
                <a:ext uri="{FF2B5EF4-FFF2-40B4-BE49-F238E27FC236}">
                  <a16:creationId xmlns:a16="http://schemas.microsoft.com/office/drawing/2014/main" id="{A81EDFB2-B12C-4FE9-B0DD-EBD3E0074A52}"/>
                </a:ext>
              </a:extLst>
            </p:cNvPr>
            <p:cNvSpPr/>
            <p:nvPr userDrawn="1"/>
          </p:nvSpPr>
          <p:spPr>
            <a:xfrm rot="5400000">
              <a:off x="8886923" y="130111"/>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6" name="Rectangle 55">
              <a:extLst>
                <a:ext uri="{FF2B5EF4-FFF2-40B4-BE49-F238E27FC236}">
                  <a16:creationId xmlns:a16="http://schemas.microsoft.com/office/drawing/2014/main" id="{E39BC3A5-276A-4389-A457-C368C697A8B4}"/>
                </a:ext>
              </a:extLst>
            </p:cNvPr>
            <p:cNvSpPr/>
            <p:nvPr userDrawn="1"/>
          </p:nvSpPr>
          <p:spPr>
            <a:xfrm>
              <a:off x="0" y="260223"/>
              <a:ext cx="768096" cy="123825"/>
            </a:xfrm>
            <a:prstGeom prst="rect">
              <a:avLst/>
            </a:prstGeom>
            <a:solidFill>
              <a:srgbClr val="17E88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8" name="Rectangle 57">
              <a:extLst>
                <a:ext uri="{FF2B5EF4-FFF2-40B4-BE49-F238E27FC236}">
                  <a16:creationId xmlns:a16="http://schemas.microsoft.com/office/drawing/2014/main" id="{A2CC0DB5-AE69-4CD3-A2E0-6C335231A0AD}"/>
                </a:ext>
              </a:extLst>
            </p:cNvPr>
            <p:cNvSpPr/>
            <p:nvPr userDrawn="1"/>
          </p:nvSpPr>
          <p:spPr>
            <a:xfrm>
              <a:off x="0" y="6473952"/>
              <a:ext cx="768096" cy="123825"/>
            </a:xfrm>
            <a:prstGeom prst="rect">
              <a:avLst/>
            </a:prstGeom>
            <a:solidFill>
              <a:srgbClr val="17E88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63" name="Rectangle 62">
              <a:extLst>
                <a:ext uri="{FF2B5EF4-FFF2-40B4-BE49-F238E27FC236}">
                  <a16:creationId xmlns:a16="http://schemas.microsoft.com/office/drawing/2014/main" id="{2935EF41-15E1-4FD1-B248-F3B89168602C}"/>
                </a:ext>
              </a:extLst>
            </p:cNvPr>
            <p:cNvSpPr/>
            <p:nvPr userDrawn="1"/>
          </p:nvSpPr>
          <p:spPr>
            <a:xfrm flipH="1" flipV="1">
              <a:off x="12407011" y="6281924"/>
              <a:ext cx="457200" cy="727835"/>
            </a:xfrm>
            <a:prstGeom prst="rect">
              <a:avLst/>
            </a:prstGeom>
            <a:solidFill>
              <a:schemeClr val="tx2"/>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cxnSp>
          <p:nvCxnSpPr>
            <p:cNvPr id="72" name="Straight Connector 71">
              <a:extLst>
                <a:ext uri="{FF2B5EF4-FFF2-40B4-BE49-F238E27FC236}">
                  <a16:creationId xmlns:a16="http://schemas.microsoft.com/office/drawing/2014/main" id="{03F14920-BB96-4143-BCCD-4D2C6CDAEDA6}"/>
                </a:ext>
              </a:extLst>
            </p:cNvPr>
            <p:cNvCxnSpPr>
              <a:cxnSpLocks/>
            </p:cNvCxnSpPr>
            <p:nvPr userDrawn="1"/>
          </p:nvCxnSpPr>
          <p:spPr>
            <a:xfrm>
              <a:off x="5795962" y="0"/>
              <a:ext cx="0" cy="685800"/>
            </a:xfrm>
            <a:prstGeom prst="line">
              <a:avLst/>
            </a:prstGeom>
          </p:spPr>
          <p:style>
            <a:lnRef idx="1">
              <a:schemeClr val="accent1"/>
            </a:lnRef>
            <a:fillRef idx="0">
              <a:schemeClr val="accent1"/>
            </a:fillRef>
            <a:effectRef idx="0">
              <a:schemeClr val="accent1"/>
            </a:effectRef>
            <a:fontRef idx="minor">
              <a:schemeClr val="tx1"/>
            </a:fontRef>
          </p:style>
        </p:cxnSp>
      </p:grpSp>
      <p:sp>
        <p:nvSpPr>
          <p:cNvPr id="55" name="Rectangle 54">
            <a:extLst>
              <a:ext uri="{FF2B5EF4-FFF2-40B4-BE49-F238E27FC236}">
                <a16:creationId xmlns:a16="http://schemas.microsoft.com/office/drawing/2014/main" id="{4BEB5654-C8D6-4568-8252-7B4D82FA962D}"/>
              </a:ext>
            </a:extLst>
          </p:cNvPr>
          <p:cNvSpPr/>
          <p:nvPr userDrawn="1"/>
        </p:nvSpPr>
        <p:spPr>
          <a:xfrm>
            <a:off x="-2336800" y="0"/>
            <a:ext cx="2032000" cy="836613"/>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chorCtr="0"/>
          <a:lstStyle/>
          <a:p>
            <a:pPr marL="0" marR="0" lvl="0" indent="0" algn="l" defTabSz="914400" eaLnBrk="1" fontAlgn="auto" latinLnBrk="0" hangingPunct="1">
              <a:lnSpc>
                <a:spcPct val="100000"/>
              </a:lnSpc>
              <a:spcBef>
                <a:spcPts val="0"/>
              </a:spcBef>
              <a:spcAft>
                <a:spcPts val="600"/>
              </a:spcAft>
              <a:buClrTx/>
              <a:buSzTx/>
              <a:buFontTx/>
              <a:buNone/>
              <a:tabLst/>
              <a:defRPr/>
            </a:pPr>
            <a:r>
              <a:rPr lang="en-US" sz="1000" dirty="0">
                <a:solidFill>
                  <a:schemeClr val="bg1"/>
                </a:solidFill>
                <a:latin typeface="+mn-lt"/>
              </a:rPr>
              <a:t>Update header text on master slide</a:t>
            </a:r>
            <a:endParaRPr lang="en-US" sz="1000" dirty="0">
              <a:solidFill>
                <a:schemeClr val="bg1"/>
              </a:solidFill>
              <a:latin typeface="Calibre" panose="020B0503030202060203" pitchFamily="34" charset="77"/>
            </a:endParaRPr>
          </a:p>
          <a:p>
            <a:pPr algn="l">
              <a:spcBef>
                <a:spcPts val="0"/>
              </a:spcBef>
              <a:spcAft>
                <a:spcPts val="600"/>
              </a:spcAft>
            </a:pPr>
            <a:r>
              <a:rPr lang="en-US" sz="1000" dirty="0">
                <a:solidFill>
                  <a:schemeClr val="bg1"/>
                </a:solidFill>
                <a:latin typeface="Calibre" panose="020B0503030202060203" pitchFamily="34" charset="77"/>
              </a:rPr>
              <a:t>Leave ‘</a:t>
            </a:r>
            <a:r>
              <a:rPr lang="en-US" sz="1000" b="1" dirty="0">
                <a:solidFill>
                  <a:schemeClr val="bg1"/>
                </a:solidFill>
                <a:latin typeface="Calibre Semibold" panose="020B0503030202060203" pitchFamily="34" charset="77"/>
              </a:rPr>
              <a:t>FIGURES</a:t>
            </a:r>
            <a:r>
              <a:rPr lang="en-US" sz="1000" dirty="0">
                <a:solidFill>
                  <a:schemeClr val="bg1"/>
                </a:solidFill>
                <a:latin typeface="Calibre" panose="020B0503030202060203" pitchFamily="34" charset="77"/>
              </a:rPr>
              <a:t>’ as-is;</a:t>
            </a:r>
            <a:br>
              <a:rPr lang="en-US" sz="1000" dirty="0">
                <a:solidFill>
                  <a:schemeClr val="bg1"/>
                </a:solidFill>
                <a:latin typeface="Calibre" panose="020B0503030202060203" pitchFamily="34" charset="77"/>
              </a:rPr>
            </a:br>
            <a:r>
              <a:rPr lang="en-US" sz="1000" dirty="0">
                <a:solidFill>
                  <a:schemeClr val="bg1"/>
                </a:solidFill>
                <a:latin typeface="Calibre" panose="020B0503030202060203" pitchFamily="34" charset="77"/>
              </a:rPr>
              <a:t>update ‘MARKET SECTOR’ and quarter accordingly. </a:t>
            </a:r>
            <a:endParaRPr lang="en-US" sz="1000" b="1" dirty="0">
              <a:solidFill>
                <a:schemeClr val="bg1"/>
              </a:solidFill>
              <a:latin typeface="Calibre Semibold" panose="020B0503030202060203" pitchFamily="34" charset="77"/>
            </a:endParaRPr>
          </a:p>
        </p:txBody>
      </p:sp>
      <p:grpSp>
        <p:nvGrpSpPr>
          <p:cNvPr id="2" name="Ruler">
            <a:extLst>
              <a:ext uri="{FF2B5EF4-FFF2-40B4-BE49-F238E27FC236}">
                <a16:creationId xmlns:a16="http://schemas.microsoft.com/office/drawing/2014/main" id="{0A9BED18-21D0-48C8-AD39-3174BA8377A0}"/>
              </a:ext>
            </a:extLst>
          </p:cNvPr>
          <p:cNvGrpSpPr/>
          <p:nvPr userDrawn="1"/>
        </p:nvGrpSpPr>
        <p:grpSpPr>
          <a:xfrm>
            <a:off x="0" y="-338328"/>
            <a:ext cx="12192000" cy="228600"/>
            <a:chOff x="0" y="-435626"/>
            <a:chExt cx="12192000" cy="228600"/>
          </a:xfrm>
        </p:grpSpPr>
        <p:sp>
          <p:nvSpPr>
            <p:cNvPr id="65" name="Ruler BG">
              <a:extLst>
                <a:ext uri="{FF2B5EF4-FFF2-40B4-BE49-F238E27FC236}">
                  <a16:creationId xmlns:a16="http://schemas.microsoft.com/office/drawing/2014/main" id="{9A2B7550-B65B-41E3-9D55-F88291F54637}"/>
                </a:ext>
              </a:extLst>
            </p:cNvPr>
            <p:cNvSpPr/>
            <p:nvPr userDrawn="1"/>
          </p:nvSpPr>
          <p:spPr>
            <a:xfrm>
              <a:off x="0" y="-435626"/>
              <a:ext cx="12192000" cy="228600"/>
            </a:xfrm>
            <a:prstGeom prst="rect">
              <a:avLst/>
            </a:prstGeom>
            <a:solidFill>
              <a:srgbClr val="FFFFFF">
                <a:alpha val="30000"/>
              </a:srgbClr>
            </a:solidFill>
            <a:ln w="25400" cap="flat" cmpd="sng" algn="ctr">
              <a:noFill/>
              <a:prstDash val="solid"/>
            </a:ln>
            <a:effectLst/>
          </p:spPr>
          <p:txBody>
            <a:bodyPr rtlCol="0" anchor="ctr"/>
            <a:lstStyle/>
            <a:p>
              <a:pPr marL="0" marR="0" lvl="0" indent="0" algn="ctr" defTabSz="871317" eaLnBrk="1" fontAlgn="auto" latinLnBrk="0" hangingPunct="1">
                <a:lnSpc>
                  <a:spcPct val="100000"/>
                </a:lnSpc>
                <a:spcBef>
                  <a:spcPts val="0"/>
                </a:spcBef>
                <a:spcAft>
                  <a:spcPts val="0"/>
                </a:spcAft>
                <a:buClrTx/>
                <a:buSzTx/>
                <a:buFontTx/>
                <a:buNone/>
                <a:tabLst/>
                <a:defRPr/>
              </a:pPr>
              <a:endParaRPr kumimoji="0" lang="en-US" sz="1715" b="0" i="0" u="none" strike="noStrike" kern="0" cap="none" spc="0" normalizeH="0" baseline="0" noProof="0" dirty="0">
                <a:ln>
                  <a:noFill/>
                </a:ln>
                <a:solidFill>
                  <a:prstClr val="white"/>
                </a:solidFill>
                <a:effectLst/>
                <a:uLnTx/>
                <a:uFillTx/>
                <a:latin typeface="Arial Narrow" panose="020B0606020202030204" pitchFamily="34" charset="0"/>
                <a:ea typeface="+mn-ea"/>
                <a:cs typeface="+mn-cs"/>
              </a:endParaRPr>
            </a:p>
          </p:txBody>
        </p:sp>
        <p:grpSp>
          <p:nvGrpSpPr>
            <p:cNvPr id="66" name="Group 65">
              <a:extLst>
                <a:ext uri="{FF2B5EF4-FFF2-40B4-BE49-F238E27FC236}">
                  <a16:creationId xmlns:a16="http://schemas.microsoft.com/office/drawing/2014/main" id="{038CBABB-D2D4-4538-BD6A-7ABFA0D15009}"/>
                </a:ext>
              </a:extLst>
            </p:cNvPr>
            <p:cNvGrpSpPr/>
            <p:nvPr userDrawn="1"/>
          </p:nvGrpSpPr>
          <p:grpSpPr>
            <a:xfrm>
              <a:off x="766762" y="-348758"/>
              <a:ext cx="11041190" cy="54864"/>
              <a:chOff x="766762" y="-240316"/>
              <a:chExt cx="11041190" cy="54864"/>
            </a:xfrm>
          </p:grpSpPr>
          <p:sp>
            <p:nvSpPr>
              <p:cNvPr id="67" name="Rectangle 66">
                <a:extLst>
                  <a:ext uri="{FF2B5EF4-FFF2-40B4-BE49-F238E27FC236}">
                    <a16:creationId xmlns:a16="http://schemas.microsoft.com/office/drawing/2014/main" id="{F4662A01-49A7-4E7C-B966-44866033CB5A}"/>
                  </a:ext>
                </a:extLst>
              </p:cNvPr>
              <p:cNvSpPr/>
              <p:nvPr userDrawn="1"/>
            </p:nvSpPr>
            <p:spPr>
              <a:xfrm>
                <a:off x="766762" y="-240316"/>
                <a:ext cx="5029200" cy="54864"/>
              </a:xfrm>
              <a:prstGeom prst="rect">
                <a:avLst/>
              </a:prstGeom>
              <a:gradFill flip="none" rotWithShape="1">
                <a:gsLst>
                  <a:gs pos="0">
                    <a:srgbClr val="3E7CA6">
                      <a:alpha val="10000"/>
                    </a:srgbClr>
                  </a:gs>
                  <a:gs pos="50000">
                    <a:srgbClr val="3E7CA6">
                      <a:alpha val="20000"/>
                    </a:srgb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91440" bIns="18288" rtlCol="0" anchor="ctr" anchorCtr="0"/>
              <a:lstStyle/>
              <a:p>
                <a:pPr lvl="0" algn="l">
                  <a:spcAft>
                    <a:spcPts val="300"/>
                  </a:spcAft>
                </a:pPr>
                <a:r>
                  <a:rPr lang="en-US" sz="1050" dirty="0">
                    <a:solidFill>
                      <a:srgbClr val="3E7CA6"/>
                    </a:solidFill>
                    <a:latin typeface="Calibre Medium" panose="020B0603030202060203" pitchFamily="34" charset="0"/>
                  </a:rPr>
                  <a:t>Column 1 = 5.5” (13.97 cm)</a:t>
                </a:r>
              </a:p>
            </p:txBody>
          </p:sp>
          <p:sp>
            <p:nvSpPr>
              <p:cNvPr id="68" name="Rectangle 67">
                <a:extLst>
                  <a:ext uri="{FF2B5EF4-FFF2-40B4-BE49-F238E27FC236}">
                    <a16:creationId xmlns:a16="http://schemas.microsoft.com/office/drawing/2014/main" id="{C0AC1E7A-7C9D-4D58-877B-881CF6F90CEA}"/>
                  </a:ext>
                </a:extLst>
              </p:cNvPr>
              <p:cNvSpPr/>
              <p:nvPr userDrawn="1"/>
            </p:nvSpPr>
            <p:spPr>
              <a:xfrm>
                <a:off x="6348413" y="-240316"/>
                <a:ext cx="5459539" cy="54864"/>
              </a:xfrm>
              <a:prstGeom prst="rect">
                <a:avLst/>
              </a:prstGeom>
              <a:gradFill flip="none" rotWithShape="1">
                <a:gsLst>
                  <a:gs pos="0">
                    <a:srgbClr val="3E7CA6">
                      <a:alpha val="10000"/>
                    </a:srgbClr>
                  </a:gs>
                  <a:gs pos="50000">
                    <a:srgbClr val="3E7CA6">
                      <a:alpha val="20000"/>
                    </a:srgb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91440" bIns="18288" rtlCol="0" anchor="ctr" anchorCtr="0"/>
              <a:lstStyle/>
              <a:p>
                <a:pPr lvl="0" algn="l">
                  <a:spcAft>
                    <a:spcPts val="300"/>
                  </a:spcAft>
                </a:pPr>
                <a:r>
                  <a:rPr lang="en-US" sz="1050" dirty="0">
                    <a:solidFill>
                      <a:srgbClr val="3E7CA6"/>
                    </a:solidFill>
                    <a:latin typeface="Calibre Medium" panose="020B0603030202060203" pitchFamily="34" charset="0"/>
                  </a:rPr>
                  <a:t>Column 2 = 5.97” (15.16 cm)</a:t>
                </a:r>
              </a:p>
            </p:txBody>
          </p:sp>
        </p:grpSp>
      </p:grpSp>
      <p:sp>
        <p:nvSpPr>
          <p:cNvPr id="6" name="Page Number">
            <a:extLst>
              <a:ext uri="{FF2B5EF4-FFF2-40B4-BE49-F238E27FC236}">
                <a16:creationId xmlns:a16="http://schemas.microsoft.com/office/drawing/2014/main" id="{E58E7509-6F56-4384-96C9-87A36BA2BC0F}"/>
              </a:ext>
            </a:extLst>
          </p:cNvPr>
          <p:cNvSpPr txBox="1"/>
          <p:nvPr userDrawn="1"/>
        </p:nvSpPr>
        <p:spPr>
          <a:xfrm>
            <a:off x="228600" y="6574822"/>
            <a:ext cx="252984" cy="182880"/>
          </a:xfrm>
          <a:prstGeom prst="rect">
            <a:avLst/>
          </a:prstGeom>
          <a:noFill/>
        </p:spPr>
        <p:txBody>
          <a:bodyPr wrap="square" lIns="0" tIns="0" rIns="0" bIns="0" anchor="t" anchorCtr="0">
            <a:noAutofit/>
          </a:bodyPr>
          <a:lstStyle/>
          <a:p>
            <a:pPr marL="0" algn="l" defTabSz="914400" rtl="0" eaLnBrk="1" latinLnBrk="0" hangingPunct="1"/>
            <a:fld id="{1C89B4D1-E1CE-4E79-B913-C04DDECCCBCD}" type="slidenum">
              <a:rPr lang="en-US" sz="800" b="0" kern="1200" cap="none" baseline="0" smtClean="0">
                <a:solidFill>
                  <a:schemeClr val="tx1"/>
                </a:solidFill>
                <a:latin typeface="Calibre Medium" panose="020B0603030202060203" pitchFamily="34" charset="0"/>
                <a:ea typeface="+mn-ea"/>
                <a:cs typeface="+mn-cs"/>
              </a:rPr>
              <a:pPr marL="0" algn="l" defTabSz="914400" rtl="0" eaLnBrk="1" latinLnBrk="0" hangingPunct="1"/>
              <a:t>‹#›</a:t>
            </a:fld>
            <a:endParaRPr lang="en-US" sz="800" b="0" kern="1200" cap="none" baseline="0" dirty="0">
              <a:solidFill>
                <a:schemeClr val="tx1"/>
              </a:solidFill>
              <a:latin typeface="Calibre Medium" panose="020B0603030202060203" pitchFamily="34" charset="0"/>
              <a:ea typeface="+mn-ea"/>
              <a:cs typeface="+mn-cs"/>
            </a:endParaRPr>
          </a:p>
        </p:txBody>
      </p:sp>
      <p:sp>
        <p:nvSpPr>
          <p:cNvPr id="3" name="slide_master_market_sector_period_header_text">
            <a:extLst>
              <a:ext uri="{FF2B5EF4-FFF2-40B4-BE49-F238E27FC236}">
                <a16:creationId xmlns:a16="http://schemas.microsoft.com/office/drawing/2014/main" id="{B443C347-714D-941B-EA5A-DD186541D1EB}"/>
              </a:ext>
            </a:extLst>
          </p:cNvPr>
          <p:cNvSpPr txBox="1">
            <a:spLocks/>
          </p:cNvSpPr>
          <p:nvPr userDrawn="1"/>
        </p:nvSpPr>
        <p:spPr>
          <a:xfrm>
            <a:off x="382233" y="94776"/>
            <a:ext cx="5037399" cy="276226"/>
          </a:xfrm>
          <a:prstGeom prst="rect">
            <a:avLst/>
          </a:prstGeom>
        </p:spPr>
        <p:txBody>
          <a:bodyPr vert="horz" wrap="square" lIns="0" tIns="0" rIns="0" bIns="0" rtlCol="0" anchor="b" anchorCtr="0">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marL="0" marR="0" lvl="0" indent="0" algn="l" defTabSz="914400" eaLnBrk="1" fontAlgn="auto" latinLnBrk="0" hangingPunct="1">
              <a:lnSpc>
                <a:spcPct val="100000"/>
              </a:lnSpc>
              <a:spcBef>
                <a:spcPts val="1200"/>
              </a:spcBef>
              <a:spcAft>
                <a:spcPts val="600"/>
              </a:spcAft>
              <a:buClrTx/>
              <a:buSzTx/>
              <a:buFontTx/>
              <a:buNone/>
              <a:tabLst/>
              <a:defRPr/>
            </a:pPr>
            <a:r>
              <a:rPr kumimoji="0" lang="en-US" sz="1200" b="0" i="0" u="none" strike="noStrike" kern="0" cap="none" spc="0" normalizeH="0" baseline="0" noProof="0" dirty="0">
                <a:ln>
                  <a:noFill/>
                </a:ln>
                <a:solidFill>
                  <a:srgbClr val="435254"/>
                </a:solidFill>
                <a:effectLst/>
                <a:uLnTx/>
                <a:uFillTx/>
                <a:latin typeface="Calibre"/>
                <a:ea typeface="+mn-ea"/>
                <a:cs typeface="+mn-cs"/>
              </a:rPr>
              <a:t>SNAPSHOT  |  [MARKET] [SECTOR] |  Q3 2024</a:t>
            </a:r>
          </a:p>
        </p:txBody>
      </p:sp>
    </p:spTree>
    <p:extLst>
      <p:ext uri="{BB962C8B-B14F-4D97-AF65-F5344CB8AC3E}">
        <p14:creationId xmlns:p14="http://schemas.microsoft.com/office/powerpoint/2010/main" val="2863297323"/>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62" r:id="rId3"/>
  </p:sldLayoutIdLst>
  <p:hf hdr="0" dt="0"/>
  <p:txStyles>
    <p:titleStyle>
      <a:lvl1pPr eaLnBrk="1" hangingPunct="1">
        <a:lnSpc>
          <a:spcPct val="90000"/>
        </a:lnSpc>
        <a:defRPr sz="4400">
          <a:solidFill>
            <a:schemeClr val="tx1"/>
          </a:solidFill>
          <a:latin typeface="+mj-lt"/>
          <a:ea typeface="+mj-ea"/>
          <a:cs typeface="+mj-cs"/>
        </a:defRPr>
      </a:lvl1pPr>
    </p:titleStyle>
    <p:bodyStyle>
      <a:lvl1pPr marL="0" eaLnBrk="1" hangingPunct="1">
        <a:spcBef>
          <a:spcPts val="1200"/>
        </a:spcBef>
        <a:spcAft>
          <a:spcPts val="600"/>
        </a:spcAft>
        <a:defRPr sz="1600">
          <a:solidFill>
            <a:schemeClr val="tx1"/>
          </a:solidFill>
          <a:latin typeface="+mj-lt"/>
          <a:ea typeface="+mn-ea"/>
          <a:cs typeface="+mn-cs"/>
        </a:defRPr>
      </a:lvl1pPr>
      <a:lvl2pPr marL="0" indent="0" eaLnBrk="1" hangingPunct="1">
        <a:spcBef>
          <a:spcPts val="900"/>
        </a:spcBef>
        <a:spcAft>
          <a:spcPts val="0"/>
        </a:spcAft>
        <a:buClr>
          <a:srgbClr val="17E88F"/>
        </a:buClr>
        <a:buFontTx/>
        <a:buNone/>
        <a:defRPr sz="1600" b="0">
          <a:solidFill>
            <a:schemeClr val="tx1"/>
          </a:solidFill>
          <a:latin typeface="Calibre Light" panose="020B0303030202060203" pitchFamily="34" charset="0"/>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p:bodyStyle>
    <p:otherStyle>
      <a:lvl1pPr marL="0" eaLnBrk="1" hangingPunct="1">
        <a:defRPr>
          <a:latin typeface="+mn-lt"/>
          <a:ea typeface="+mn-ea"/>
          <a:cs typeface="+mn-cs"/>
        </a:defRPr>
      </a:lvl1pPr>
      <a:lvl2pPr marL="277246" eaLnBrk="1" hangingPunct="1">
        <a:defRPr>
          <a:latin typeface="+mn-lt"/>
          <a:ea typeface="+mn-ea"/>
          <a:cs typeface="+mn-cs"/>
        </a:defRPr>
      </a:lvl2pPr>
      <a:lvl3pPr marL="554492" eaLnBrk="1" hangingPunct="1">
        <a:defRPr>
          <a:latin typeface="+mn-lt"/>
          <a:ea typeface="+mn-ea"/>
          <a:cs typeface="+mn-cs"/>
        </a:defRPr>
      </a:lvl3pPr>
      <a:lvl4pPr marL="831738" eaLnBrk="1" hangingPunct="1">
        <a:defRPr>
          <a:latin typeface="+mn-lt"/>
          <a:ea typeface="+mn-ea"/>
          <a:cs typeface="+mn-cs"/>
        </a:defRPr>
      </a:lvl4pPr>
      <a:lvl5pPr marL="1108984" eaLnBrk="1" hangingPunct="1">
        <a:defRPr>
          <a:latin typeface="+mn-lt"/>
          <a:ea typeface="+mn-ea"/>
          <a:cs typeface="+mn-cs"/>
        </a:defRPr>
      </a:lvl5pPr>
      <a:lvl6pPr marL="1386230" eaLnBrk="1" hangingPunct="1">
        <a:defRPr>
          <a:latin typeface="+mn-lt"/>
          <a:ea typeface="+mn-ea"/>
          <a:cs typeface="+mn-cs"/>
        </a:defRPr>
      </a:lvl6pPr>
      <a:lvl7pPr marL="1663476" eaLnBrk="1" hangingPunct="1">
        <a:defRPr>
          <a:latin typeface="+mn-lt"/>
          <a:ea typeface="+mn-ea"/>
          <a:cs typeface="+mn-cs"/>
        </a:defRPr>
      </a:lvl7pPr>
      <a:lvl8pPr marL="1940723" eaLnBrk="1" hangingPunct="1">
        <a:defRPr>
          <a:latin typeface="+mn-lt"/>
          <a:ea typeface="+mn-ea"/>
          <a:cs typeface="+mn-cs"/>
        </a:defRPr>
      </a:lvl8pPr>
      <a:lvl9pPr marL="2217969" eaLnBrk="1" hangingPunct="1">
        <a:defRPr>
          <a:latin typeface="+mn-lt"/>
          <a:ea typeface="+mn-ea"/>
          <a:cs typeface="+mn-cs"/>
        </a:defRPr>
      </a:lvl9pPr>
    </p:otherStyle>
  </p:txStyles>
  <p:extLst>
    <p:ext uri="{27BBF7A9-308A-43DC-89C8-2F10F3537804}">
      <p15:sldGuideLst xmlns:p15="http://schemas.microsoft.com/office/powerpoint/2012/main">
        <p15:guide id="1" orient="horz">
          <p15:clr>
            <a:srgbClr val="F26B43"/>
          </p15:clr>
        </p15:guide>
        <p15:guide id="2" orient="horz" pos="241">
          <p15:clr>
            <a:srgbClr val="F26B43"/>
          </p15:clr>
        </p15:guide>
        <p15:guide id="3">
          <p15:clr>
            <a:srgbClr val="F26B43"/>
          </p15:clr>
        </p15:guide>
        <p15:guide id="4" pos="483">
          <p15:clr>
            <a:srgbClr val="F26B43"/>
          </p15:clr>
        </p15:guide>
        <p15:guide id="5" orient="horz" pos="490">
          <p15:clr>
            <a:srgbClr val="F26B43"/>
          </p15:clr>
        </p15:guide>
        <p15:guide id="6" orient="horz" pos="568">
          <p15:clr>
            <a:srgbClr val="F26B43"/>
          </p15:clr>
        </p15:guide>
        <p15:guide id="7" orient="horz" pos="4078">
          <p15:clr>
            <a:srgbClr val="F26B43"/>
          </p15:clr>
        </p15:guide>
        <p15:guide id="8" orient="horz" pos="4320">
          <p15:clr>
            <a:srgbClr val="F26B43"/>
          </p15:clr>
        </p15:guide>
        <p15:guide id="9" pos="7438">
          <p15:clr>
            <a:srgbClr val="F26B43"/>
          </p15:clr>
        </p15:guide>
        <p15:guide id="10" pos="7680">
          <p15:clr>
            <a:srgbClr val="F26B43"/>
          </p15:clr>
        </p15:guide>
        <p15:guide id="11" orient="horz" pos="3751">
          <p15:clr>
            <a:srgbClr val="F26B43"/>
          </p15:clr>
        </p15:guide>
        <p15:guide id="12" orient="horz" pos="3829">
          <p15:clr>
            <a:srgbClr val="F26B43"/>
          </p15:clr>
        </p15:guide>
        <p15:guide id="13" orient="horz" pos="3425">
          <p15:clr>
            <a:srgbClr val="F26B43"/>
          </p15:clr>
        </p15:guide>
        <p15:guide id="14" orient="horz" pos="3503">
          <p15:clr>
            <a:srgbClr val="F26B43"/>
          </p15:clr>
        </p15:guide>
        <p15:guide id="15" orient="horz" pos="3099">
          <p15:clr>
            <a:srgbClr val="F26B43"/>
          </p15:clr>
        </p15:guide>
        <p15:guide id="16" orient="horz" pos="3177">
          <p15:clr>
            <a:srgbClr val="F26B43"/>
          </p15:clr>
        </p15:guide>
        <p15:guide id="17" orient="horz" pos="2773">
          <p15:clr>
            <a:srgbClr val="F26B43"/>
          </p15:clr>
        </p15:guide>
        <p15:guide id="18" orient="horz" pos="2851">
          <p15:clr>
            <a:srgbClr val="F26B43"/>
          </p15:clr>
        </p15:guide>
        <p15:guide id="19" orient="horz" pos="2447">
          <p15:clr>
            <a:srgbClr val="F26B43"/>
          </p15:clr>
        </p15:guide>
        <p15:guide id="20" orient="horz" pos="2525">
          <p15:clr>
            <a:srgbClr val="F26B43"/>
          </p15:clr>
        </p15:guide>
        <p15:guide id="21" orient="horz" pos="2121">
          <p15:clr>
            <a:srgbClr val="F26B43"/>
          </p15:clr>
        </p15:guide>
        <p15:guide id="22" orient="horz" pos="2199">
          <p15:clr>
            <a:srgbClr val="F26B43"/>
          </p15:clr>
        </p15:guide>
        <p15:guide id="23" orient="horz" pos="1794">
          <p15:clr>
            <a:srgbClr val="F26B43"/>
          </p15:clr>
        </p15:guide>
        <p15:guide id="24" orient="horz" pos="1872">
          <p15:clr>
            <a:srgbClr val="F26B43"/>
          </p15:clr>
        </p15:guide>
        <p15:guide id="25" orient="horz" pos="1468">
          <p15:clr>
            <a:srgbClr val="F26B43"/>
          </p15:clr>
        </p15:guide>
        <p15:guide id="26" orient="horz" pos="1546">
          <p15:clr>
            <a:srgbClr val="F26B43"/>
          </p15:clr>
        </p15:guide>
        <p15:guide id="27" orient="horz" pos="1142">
          <p15:clr>
            <a:srgbClr val="F26B43"/>
          </p15:clr>
        </p15:guide>
        <p15:guide id="28" orient="horz" pos="1220">
          <p15:clr>
            <a:srgbClr val="F26B43"/>
          </p15:clr>
        </p15:guide>
        <p15:guide id="29" orient="horz" pos="816">
          <p15:clr>
            <a:srgbClr val="F26B43"/>
          </p15:clr>
        </p15:guide>
        <p15:guide id="30" orient="horz" pos="894">
          <p15:clr>
            <a:srgbClr val="F26B43"/>
          </p15:clr>
        </p15:guide>
        <p15:guide id="31" pos="2749">
          <p15:clr>
            <a:srgbClr val="F26B43"/>
          </p15:clr>
        </p15:guide>
        <p15:guide id="32" pos="2827">
          <p15:clr>
            <a:srgbClr val="F26B43"/>
          </p15:clr>
        </p15:guide>
        <p15:guide id="33" pos="991">
          <p15:clr>
            <a:srgbClr val="F26B43"/>
          </p15:clr>
        </p15:guide>
        <p15:guide id="34" pos="1069">
          <p15:clr>
            <a:srgbClr val="F26B43"/>
          </p15:clr>
        </p15:guide>
        <p15:guide id="35" pos="3335">
          <p15:clr>
            <a:srgbClr val="F26B43"/>
          </p15:clr>
        </p15:guide>
        <p15:guide id="36" pos="3413">
          <p15:clr>
            <a:srgbClr val="F26B43"/>
          </p15:clr>
        </p15:guide>
        <p15:guide id="37" pos="1584">
          <p15:clr>
            <a:srgbClr val="F26B43"/>
          </p15:clr>
        </p15:guide>
        <p15:guide id="38" pos="1655">
          <p15:clr>
            <a:srgbClr val="F26B43"/>
          </p15:clr>
        </p15:guide>
        <p15:guide id="39" pos="2163">
          <p15:clr>
            <a:srgbClr val="F26B43"/>
          </p15:clr>
        </p15:guide>
        <p15:guide id="40" pos="2241">
          <p15:clr>
            <a:srgbClr val="F26B43"/>
          </p15:clr>
        </p15:guide>
        <p15:guide id="41" pos="3921">
          <p15:clr>
            <a:srgbClr val="F26B43"/>
          </p15:clr>
        </p15:guide>
        <p15:guide id="42" pos="3999">
          <p15:clr>
            <a:srgbClr val="F26B43"/>
          </p15:clr>
        </p15:guide>
        <p15:guide id="43" pos="6266">
          <p15:clr>
            <a:srgbClr val="F26B43"/>
          </p15:clr>
        </p15:guide>
        <p15:guide id="44" pos="6344">
          <p15:clr>
            <a:srgbClr val="F26B43"/>
          </p15:clr>
        </p15:guide>
        <p15:guide id="45" pos="4507">
          <p15:clr>
            <a:srgbClr val="F26B43"/>
          </p15:clr>
        </p15:guide>
        <p15:guide id="46" pos="4585">
          <p15:clr>
            <a:srgbClr val="F26B43"/>
          </p15:clr>
        </p15:guide>
        <p15:guide id="47" pos="6852">
          <p15:clr>
            <a:srgbClr val="F26B43"/>
          </p15:clr>
        </p15:guide>
        <p15:guide id="48" pos="6930">
          <p15:clr>
            <a:srgbClr val="F26B43"/>
          </p15:clr>
        </p15:guide>
        <p15:guide id="49" pos="5088">
          <p15:clr>
            <a:srgbClr val="F26B43"/>
          </p15:clr>
        </p15:guide>
        <p15:guide id="50" pos="5172">
          <p15:clr>
            <a:srgbClr val="F26B43"/>
          </p15:clr>
        </p15:guide>
        <p15:guide id="51" pos="5680">
          <p15:clr>
            <a:srgbClr val="F26B43"/>
          </p15:clr>
        </p15:guide>
        <p15:guide id="52" pos="5758">
          <p15:clr>
            <a:srgbClr val="F26B43"/>
          </p15:clr>
        </p15:guide>
        <p15:guide id="53" orient="horz" pos="163">
          <p15:clr>
            <a:srgbClr val="F26B43"/>
          </p15:clr>
        </p15:guide>
        <p15:guide id="54" orient="horz" pos="4156">
          <p15:clr>
            <a:srgbClr val="F26B43"/>
          </p15:clr>
        </p15:guide>
        <p15:guide id="55" orient="horz" pos="3957">
          <p15:clr>
            <a:srgbClr val="FBAE40"/>
          </p15:clr>
        </p15:guide>
        <p15:guide id="56" pos="365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wmf"/><Relationship Id="rId1" Type="http://schemas.openxmlformats.org/officeDocument/2006/relationships/slideLayout" Target="../slideLayouts/slideLayout1.xml"/><Relationship Id="rId4" Type="http://schemas.openxmlformats.org/officeDocument/2006/relationships/image" Target="../media/image3.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lide_1_ticker_5_title_text">
            <a:extLst>
              <a:ext uri="{FF2B5EF4-FFF2-40B4-BE49-F238E27FC236}">
                <a16:creationId xmlns:a16="http://schemas.microsoft.com/office/drawing/2014/main" id="{A248333F-0DD2-D4C0-248B-0088E9BDF083}"/>
              </a:ext>
            </a:extLst>
          </p:cNvPr>
          <p:cNvSpPr txBox="1">
            <a:spLocks/>
          </p:cNvSpPr>
          <p:nvPr/>
        </p:nvSpPr>
        <p:spPr>
          <a:xfrm>
            <a:off x="8092586" y="1382819"/>
            <a:ext cx="1261872" cy="165958"/>
          </a:xfrm>
          <a:prstGeom prst="rect">
            <a:avLst/>
          </a:prstGeom>
        </p:spPr>
        <p:txBody>
          <a:bodyPr vert="horz" wrap="none" lIns="0" tIns="0" rIns="72000" bIns="0" rtlCol="0" anchor="t" anchorCtr="0">
            <a:noAutofit/>
          </a:bodyPr>
          <a:lstStyle>
            <a:defPPr>
              <a:defRPr lang="en-US"/>
            </a:defPPr>
            <a:lvl1pPr marL="0" eaLnBrk="1" hangingPunct="1">
              <a:spcBef>
                <a:spcPts val="1200"/>
              </a:spcBef>
              <a:spcAft>
                <a:spcPts val="1200"/>
              </a:spcAft>
              <a:defRPr sz="2200">
                <a:solidFill>
                  <a:schemeClr val="tx1"/>
                </a:solidFill>
                <a:latin typeface="Calibre Light" panose="020B0303030202060203" pitchFamily="34" charset="0"/>
                <a:ea typeface="+mn-ea"/>
                <a:cs typeface="+mn-cs"/>
              </a:defRPr>
            </a:lvl1pPr>
            <a:lvl2pPr marL="0" indent="0" eaLnBrk="1" hangingPunct="1">
              <a:spcAft>
                <a:spcPts val="600"/>
              </a:spcAft>
              <a:defRPr sz="1600" b="0">
                <a:solidFill>
                  <a:schemeClr val="tx1"/>
                </a:solidFill>
                <a:latin typeface="Calibre Semibold" panose="020B0703030202060203" pitchFamily="34" charset="0"/>
                <a:ea typeface="+mn-ea"/>
                <a:cs typeface="+mn-cs"/>
              </a:defRPr>
            </a:lvl2pPr>
            <a:lvl3pPr marL="0" indent="0" eaLnBrk="1" hangingPunct="1">
              <a:spcBef>
                <a:spcPts val="300"/>
              </a:spcBef>
              <a:spcAft>
                <a:spcPts val="300"/>
              </a:spcAft>
              <a:defRPr sz="1200">
                <a:solidFill>
                  <a:schemeClr val="tx1"/>
                </a:solidFill>
                <a:latin typeface="+mn-lt"/>
                <a:ea typeface="+mn-ea"/>
                <a:cs typeface="+mn-cs"/>
              </a:defRPr>
            </a:lvl3pPr>
            <a:lvl4pPr marL="171450" indent="-171450" eaLnBrk="1" hangingPunct="1">
              <a:spcBef>
                <a:spcPts val="300"/>
              </a:spcBef>
              <a:spcAft>
                <a:spcPts val="300"/>
              </a:spcAft>
              <a:buClr>
                <a:schemeClr val="tx1"/>
              </a:buClr>
              <a:buFont typeface="SwissReSansOTLight" panose="04000400000000000000" pitchFamily="82" charset="0"/>
              <a:buChar char="–"/>
              <a:defRPr sz="1200">
                <a:solidFill>
                  <a:schemeClr val="tx1"/>
                </a:solidFill>
                <a:latin typeface="+mn-lt"/>
                <a:ea typeface="+mn-ea"/>
                <a:cs typeface="+mn-cs"/>
              </a:defRPr>
            </a:lvl4pPr>
            <a:lvl5pPr marL="360363" indent="-184150" eaLnBrk="1" hangingPunct="1">
              <a:spcBef>
                <a:spcPts val="300"/>
              </a:spcBef>
              <a:spcAft>
                <a:spcPts val="300"/>
              </a:spcAft>
              <a:buFont typeface="SwissReSansOTLight" panose="04000400000000000000" pitchFamily="82" charset="0"/>
              <a:buChar char="–"/>
              <a:defRPr sz="1200" b="0">
                <a:solidFill>
                  <a:schemeClr val="tx1"/>
                </a:solidFill>
                <a:latin typeface="+mn-lt"/>
                <a:ea typeface="+mn-ea"/>
                <a:cs typeface="+mn-cs"/>
              </a:defRPr>
            </a:lvl5pPr>
            <a:lvl6pPr marL="0" indent="0" eaLnBrk="1" hangingPunct="1">
              <a:spcBef>
                <a:spcPts val="600"/>
              </a:spcBef>
              <a:spcAft>
                <a:spcPts val="0"/>
              </a:spcAft>
              <a:buClr>
                <a:schemeClr val="tx1"/>
              </a:buClr>
              <a:buFontTx/>
              <a:buNone/>
              <a:defRPr sz="1200">
                <a:solidFill>
                  <a:schemeClr val="tx1"/>
                </a:solidFill>
                <a:latin typeface="Calibre Semibold" panose="020B0703030202060203" pitchFamily="34" charset="0"/>
                <a:ea typeface="+mn-ea"/>
                <a:cs typeface="+mn-cs"/>
              </a:defRPr>
            </a:lvl6pPr>
            <a:lvl7pPr marL="0" indent="0" eaLnBrk="1" hangingPunct="1">
              <a:spcBef>
                <a:spcPts val="600"/>
              </a:spcBef>
              <a:defRPr sz="1050">
                <a:solidFill>
                  <a:schemeClr val="tx1"/>
                </a:solidFill>
                <a:latin typeface="Calibre Semibold" panose="020B0703030202060203" pitchFamily="34" charset="0"/>
                <a:ea typeface="+mn-ea"/>
                <a:cs typeface="+mn-cs"/>
              </a:defRPr>
            </a:lvl7pPr>
            <a:lvl8pPr marL="0" indent="0" eaLnBrk="1" hangingPunct="1">
              <a:spcBef>
                <a:spcPts val="300"/>
              </a:spcBef>
              <a:spcAft>
                <a:spcPts val="300"/>
              </a:spcAft>
              <a:defRPr sz="1050" b="0">
                <a:solidFill>
                  <a:schemeClr val="tx1"/>
                </a:solidFill>
                <a:latin typeface="+mn-lt"/>
                <a:ea typeface="+mn-ea"/>
                <a:cs typeface="+mn-cs"/>
              </a:defRPr>
            </a:lvl8pPr>
            <a:lvl9pPr marL="171450" indent="-171450" eaLnBrk="1" hangingPunct="1">
              <a:spcBef>
                <a:spcPts val="200"/>
              </a:spcBef>
              <a:spcAft>
                <a:spcPts val="200"/>
              </a:spcAft>
              <a:buFont typeface="SwissReSansOTLight" panose="04000400000000000000" pitchFamily="82" charset="0"/>
              <a:buChar char="–"/>
              <a:defRPr sz="1050">
                <a:solidFill>
                  <a:schemeClr val="tx1"/>
                </a:solidFill>
                <a:latin typeface="+mn-lt"/>
                <a:ea typeface="+mn-ea"/>
                <a:cs typeface="+mn-cs"/>
              </a:defRPr>
            </a:lvl9pPr>
          </a:lstStyle>
          <a:p>
            <a:pPr marL="0" marR="0" lvl="1" indent="0" defTabSz="914400" eaLnBrk="1" fontAlgn="auto" latinLnBrk="0" hangingPunct="1">
              <a:lnSpc>
                <a:spcPct val="100000"/>
              </a:lnSpc>
              <a:spcBef>
                <a:spcPts val="0"/>
              </a:spcBef>
              <a:spcAft>
                <a:spcPts val="600"/>
              </a:spcAft>
              <a:buClrTx/>
              <a:buSzTx/>
              <a:buFontTx/>
              <a:buNone/>
              <a:tabLst/>
              <a:defRPr/>
            </a:pPr>
            <a:r>
              <a:rPr kumimoji="0" lang="en-US" sz="850" b="0" i="0" u="none" strike="noStrike" kern="0" cap="none" spc="0" normalizeH="0" baseline="0" noProof="0" dirty="0">
                <a:ln>
                  <a:noFill/>
                </a:ln>
                <a:solidFill>
                  <a:srgbClr val="435254"/>
                </a:solidFill>
                <a:effectLst/>
                <a:uLnTx/>
                <a:uFillTx/>
                <a:latin typeface="Calibre" panose="020B0503030202060203" pitchFamily="34" charset="0"/>
                <a:ea typeface="+mn-ea"/>
                <a:cs typeface="+mn-cs"/>
              </a:rPr>
              <a:t>NNN / Lease Rate</a:t>
            </a:r>
          </a:p>
        </p:txBody>
      </p:sp>
      <p:sp>
        <p:nvSpPr>
          <p:cNvPr id="94" name="slide_1_ticker_5_text">
            <a:extLst>
              <a:ext uri="{FF2B5EF4-FFF2-40B4-BE49-F238E27FC236}">
                <a16:creationId xmlns:a16="http://schemas.microsoft.com/office/drawing/2014/main" id="{B8660A7D-72C7-E113-7168-BA2B248429D8}"/>
              </a:ext>
            </a:extLst>
          </p:cNvPr>
          <p:cNvSpPr txBox="1">
            <a:spLocks/>
          </p:cNvSpPr>
          <p:nvPr/>
        </p:nvSpPr>
        <p:spPr>
          <a:xfrm>
            <a:off x="8092586" y="929270"/>
            <a:ext cx="1261872" cy="453549"/>
          </a:xfrm>
          <a:prstGeom prst="rect">
            <a:avLst/>
          </a:prstGeom>
        </p:spPr>
        <p:txBody>
          <a:bodyPr vert="horz" wrap="none" lIns="0" tIns="0" rIns="72000" bIns="0" rtlCol="0" anchor="t" anchorCtr="0">
            <a:noAutofit/>
          </a:bodyPr>
          <a:lstStyle>
            <a:defPPr>
              <a:defRPr lang="en-US"/>
            </a:defPPr>
            <a:lvl1pPr marL="0" eaLnBrk="1" hangingPunct="1">
              <a:spcBef>
                <a:spcPts val="1200"/>
              </a:spcBef>
              <a:spcAft>
                <a:spcPts val="1200"/>
              </a:spcAft>
              <a:defRPr sz="2200">
                <a:solidFill>
                  <a:schemeClr val="tx1"/>
                </a:solidFill>
                <a:latin typeface="Calibre Light" panose="020B0303030202060203" pitchFamily="34" charset="0"/>
                <a:ea typeface="+mn-ea"/>
                <a:cs typeface="+mn-cs"/>
              </a:defRPr>
            </a:lvl1pPr>
            <a:lvl2pPr marL="0" indent="0" eaLnBrk="1" hangingPunct="1">
              <a:spcAft>
                <a:spcPts val="600"/>
              </a:spcAft>
              <a:defRPr sz="1600" b="0">
                <a:solidFill>
                  <a:schemeClr val="tx1"/>
                </a:solidFill>
                <a:latin typeface="Calibre Semibold" panose="020B0703030202060203" pitchFamily="34" charset="0"/>
                <a:ea typeface="+mn-ea"/>
                <a:cs typeface="+mn-cs"/>
              </a:defRPr>
            </a:lvl2pPr>
            <a:lvl3pPr marL="0" indent="0" eaLnBrk="1" hangingPunct="1">
              <a:spcBef>
                <a:spcPts val="300"/>
              </a:spcBef>
              <a:spcAft>
                <a:spcPts val="300"/>
              </a:spcAft>
              <a:defRPr sz="1200">
                <a:solidFill>
                  <a:schemeClr val="tx1"/>
                </a:solidFill>
                <a:latin typeface="+mn-lt"/>
                <a:ea typeface="+mn-ea"/>
                <a:cs typeface="+mn-cs"/>
              </a:defRPr>
            </a:lvl3pPr>
            <a:lvl4pPr marL="171450" indent="-171450" eaLnBrk="1" hangingPunct="1">
              <a:spcBef>
                <a:spcPts val="300"/>
              </a:spcBef>
              <a:spcAft>
                <a:spcPts val="300"/>
              </a:spcAft>
              <a:buClr>
                <a:schemeClr val="tx1"/>
              </a:buClr>
              <a:buFont typeface="SwissReSansOTLight" panose="04000400000000000000" pitchFamily="82" charset="0"/>
              <a:buChar char="–"/>
              <a:defRPr sz="1200">
                <a:solidFill>
                  <a:schemeClr val="tx1"/>
                </a:solidFill>
                <a:latin typeface="+mn-lt"/>
                <a:ea typeface="+mn-ea"/>
                <a:cs typeface="+mn-cs"/>
              </a:defRPr>
            </a:lvl4pPr>
            <a:lvl5pPr marL="360363" indent="-184150" eaLnBrk="1" hangingPunct="1">
              <a:spcBef>
                <a:spcPts val="300"/>
              </a:spcBef>
              <a:spcAft>
                <a:spcPts val="300"/>
              </a:spcAft>
              <a:buFont typeface="SwissReSansOTLight" panose="04000400000000000000" pitchFamily="82" charset="0"/>
              <a:buChar char="–"/>
              <a:defRPr sz="1200" b="0">
                <a:solidFill>
                  <a:schemeClr val="tx1"/>
                </a:solidFill>
                <a:latin typeface="+mn-lt"/>
                <a:ea typeface="+mn-ea"/>
                <a:cs typeface="+mn-cs"/>
              </a:defRPr>
            </a:lvl5pPr>
            <a:lvl6pPr marL="0" indent="0" eaLnBrk="1" hangingPunct="1">
              <a:spcBef>
                <a:spcPts val="600"/>
              </a:spcBef>
              <a:spcAft>
                <a:spcPts val="0"/>
              </a:spcAft>
              <a:buClr>
                <a:schemeClr val="tx1"/>
              </a:buClr>
              <a:buFontTx/>
              <a:buNone/>
              <a:defRPr sz="1200">
                <a:solidFill>
                  <a:schemeClr val="tx1"/>
                </a:solidFill>
                <a:latin typeface="Calibre Semibold" panose="020B0703030202060203" pitchFamily="34" charset="0"/>
                <a:ea typeface="+mn-ea"/>
                <a:cs typeface="+mn-cs"/>
              </a:defRPr>
            </a:lvl6pPr>
            <a:lvl7pPr marL="0" indent="0" eaLnBrk="1" hangingPunct="1">
              <a:spcBef>
                <a:spcPts val="600"/>
              </a:spcBef>
              <a:defRPr sz="1050">
                <a:solidFill>
                  <a:schemeClr val="tx1"/>
                </a:solidFill>
                <a:latin typeface="Calibre Semibold" panose="020B0703030202060203" pitchFamily="34" charset="0"/>
                <a:ea typeface="+mn-ea"/>
                <a:cs typeface="+mn-cs"/>
              </a:defRPr>
            </a:lvl7pPr>
            <a:lvl8pPr marL="0" indent="0" eaLnBrk="1" hangingPunct="1">
              <a:spcBef>
                <a:spcPts val="300"/>
              </a:spcBef>
              <a:spcAft>
                <a:spcPts val="300"/>
              </a:spcAft>
              <a:defRPr sz="1050" b="0">
                <a:solidFill>
                  <a:schemeClr val="tx1"/>
                </a:solidFill>
                <a:latin typeface="+mn-lt"/>
                <a:ea typeface="+mn-ea"/>
                <a:cs typeface="+mn-cs"/>
              </a:defRPr>
            </a:lvl8pPr>
            <a:lvl9pPr marL="171450" indent="-171450" eaLnBrk="1" hangingPunct="1">
              <a:spcBef>
                <a:spcPts val="200"/>
              </a:spcBef>
              <a:spcAft>
                <a:spcPts val="200"/>
              </a:spcAft>
              <a:buFont typeface="SwissReSansOTLight" panose="04000400000000000000" pitchFamily="82" charset="0"/>
              <a:buChar char="–"/>
              <a:defRPr sz="1050">
                <a:solidFill>
                  <a:schemeClr val="tx1"/>
                </a:solidFill>
                <a:latin typeface="+mn-lt"/>
                <a:ea typeface="+mn-ea"/>
                <a:cs typeface="+mn-cs"/>
              </a:defRPr>
            </a:lvl9pPr>
          </a:lstStyle>
          <a:p>
            <a:pPr marL="0" marR="0" lvl="0" indent="0" defTabSz="914400" eaLnBrk="1" fontAlgn="auto" latinLnBrk="0" hangingPunct="1">
              <a:lnSpc>
                <a:spcPct val="100000"/>
              </a:lnSpc>
              <a:spcBef>
                <a:spcPts val="1200"/>
              </a:spcBef>
              <a:spcAft>
                <a:spcPts val="1200"/>
              </a:spcAft>
              <a:buClrTx/>
              <a:buSzTx/>
              <a:buFontTx/>
              <a:buNone/>
              <a:tabLst/>
              <a:defRPr/>
            </a:pPr>
            <a:r>
              <a:rPr kumimoji="0" lang="en-US" sz="2800" b="0" i="0" u="none" strike="noStrike" kern="0" cap="none" spc="0" normalizeH="0" baseline="0" noProof="0" dirty="0">
                <a:ln>
                  <a:noFill/>
                </a:ln>
                <a:solidFill>
                  <a:srgbClr val="435254"/>
                </a:solidFill>
                <a:effectLst/>
                <a:uLnTx/>
                <a:uFillTx/>
                <a:latin typeface="Calibre Light" panose="020B0303030202060203" pitchFamily="34" charset="0"/>
                <a:ea typeface="+mn-ea"/>
                <a:cs typeface="+mn-cs"/>
              </a:rPr>
              <a:t>$X.XX</a:t>
            </a:r>
          </a:p>
        </p:txBody>
      </p:sp>
      <p:pic>
        <p:nvPicPr>
          <p:cNvPr id="95" name="slide_1_arrow_5_picture">
            <a:extLst>
              <a:ext uri="{FF2B5EF4-FFF2-40B4-BE49-F238E27FC236}">
                <a16:creationId xmlns:a16="http://schemas.microsoft.com/office/drawing/2014/main" id="{539C4970-D8AB-960F-90E9-E43F5DC23E9C}"/>
              </a:ext>
            </a:extLst>
          </p:cNvPr>
          <p:cNvPicPr>
            <a:picLocks noChangeAspect="1"/>
          </p:cNvPicPr>
          <p:nvPr/>
        </p:nvPicPr>
        <p:blipFill>
          <a:blip r:embed="rId2"/>
          <a:srcRect l="926" r="926"/>
          <a:stretch>
            <a:fillRect/>
          </a:stretch>
        </p:blipFill>
        <p:spPr>
          <a:xfrm>
            <a:off x="7873908" y="1121167"/>
            <a:ext cx="163513" cy="165100"/>
          </a:xfrm>
          <a:prstGeom prst="rect">
            <a:avLst/>
          </a:prstGeom>
        </p:spPr>
      </p:pic>
      <p:sp>
        <p:nvSpPr>
          <p:cNvPr id="99" name="slide_1_ticker_4_title_text">
            <a:extLst>
              <a:ext uri="{FF2B5EF4-FFF2-40B4-BE49-F238E27FC236}">
                <a16:creationId xmlns:a16="http://schemas.microsoft.com/office/drawing/2014/main" id="{809581B5-E833-C25E-DA05-EE420DF5F712}"/>
              </a:ext>
            </a:extLst>
          </p:cNvPr>
          <p:cNvSpPr txBox="1">
            <a:spLocks/>
          </p:cNvSpPr>
          <p:nvPr/>
        </p:nvSpPr>
        <p:spPr>
          <a:xfrm>
            <a:off x="6232210" y="1382819"/>
            <a:ext cx="1261872" cy="174118"/>
          </a:xfrm>
          <a:prstGeom prst="rect">
            <a:avLst/>
          </a:prstGeom>
        </p:spPr>
        <p:txBody>
          <a:bodyPr vert="horz" wrap="none" lIns="0" tIns="0" rIns="72000" bIns="0" rtlCol="0" anchor="t" anchorCtr="0">
            <a:noAutofit/>
          </a:bodyPr>
          <a:lstStyle>
            <a:defPPr>
              <a:defRPr lang="en-US"/>
            </a:defPPr>
            <a:lvl1pPr marL="0" eaLnBrk="1" hangingPunct="1">
              <a:spcBef>
                <a:spcPts val="1200"/>
              </a:spcBef>
              <a:spcAft>
                <a:spcPts val="1200"/>
              </a:spcAft>
              <a:defRPr sz="2200">
                <a:solidFill>
                  <a:schemeClr val="tx1"/>
                </a:solidFill>
                <a:latin typeface="Calibre Light" panose="020B0303030202060203" pitchFamily="34" charset="0"/>
                <a:ea typeface="+mn-ea"/>
                <a:cs typeface="+mn-cs"/>
              </a:defRPr>
            </a:lvl1pPr>
            <a:lvl2pPr marL="0" indent="0" eaLnBrk="1" hangingPunct="1">
              <a:spcAft>
                <a:spcPts val="600"/>
              </a:spcAft>
              <a:defRPr sz="1600" b="0">
                <a:solidFill>
                  <a:schemeClr val="tx1"/>
                </a:solidFill>
                <a:latin typeface="Calibre Semibold" panose="020B0703030202060203" pitchFamily="34" charset="0"/>
                <a:ea typeface="+mn-ea"/>
                <a:cs typeface="+mn-cs"/>
              </a:defRPr>
            </a:lvl2pPr>
            <a:lvl3pPr marL="0" indent="0" eaLnBrk="1" hangingPunct="1">
              <a:spcBef>
                <a:spcPts val="300"/>
              </a:spcBef>
              <a:spcAft>
                <a:spcPts val="300"/>
              </a:spcAft>
              <a:defRPr sz="1200">
                <a:solidFill>
                  <a:schemeClr val="tx1"/>
                </a:solidFill>
                <a:latin typeface="+mn-lt"/>
                <a:ea typeface="+mn-ea"/>
                <a:cs typeface="+mn-cs"/>
              </a:defRPr>
            </a:lvl3pPr>
            <a:lvl4pPr marL="171450" indent="-171450" eaLnBrk="1" hangingPunct="1">
              <a:spcBef>
                <a:spcPts val="300"/>
              </a:spcBef>
              <a:spcAft>
                <a:spcPts val="300"/>
              </a:spcAft>
              <a:buClr>
                <a:schemeClr val="tx1"/>
              </a:buClr>
              <a:buFont typeface="SwissReSansOTLight" panose="04000400000000000000" pitchFamily="82" charset="0"/>
              <a:buChar char="–"/>
              <a:defRPr sz="1200">
                <a:solidFill>
                  <a:schemeClr val="tx1"/>
                </a:solidFill>
                <a:latin typeface="+mn-lt"/>
                <a:ea typeface="+mn-ea"/>
                <a:cs typeface="+mn-cs"/>
              </a:defRPr>
            </a:lvl4pPr>
            <a:lvl5pPr marL="360363" indent="-184150" eaLnBrk="1" hangingPunct="1">
              <a:spcBef>
                <a:spcPts val="300"/>
              </a:spcBef>
              <a:spcAft>
                <a:spcPts val="300"/>
              </a:spcAft>
              <a:buFont typeface="SwissReSansOTLight" panose="04000400000000000000" pitchFamily="82" charset="0"/>
              <a:buChar char="–"/>
              <a:defRPr sz="1200" b="0">
                <a:solidFill>
                  <a:schemeClr val="tx1"/>
                </a:solidFill>
                <a:latin typeface="+mn-lt"/>
                <a:ea typeface="+mn-ea"/>
                <a:cs typeface="+mn-cs"/>
              </a:defRPr>
            </a:lvl5pPr>
            <a:lvl6pPr marL="0" indent="0" eaLnBrk="1" hangingPunct="1">
              <a:spcBef>
                <a:spcPts val="600"/>
              </a:spcBef>
              <a:spcAft>
                <a:spcPts val="0"/>
              </a:spcAft>
              <a:buClr>
                <a:schemeClr val="tx1"/>
              </a:buClr>
              <a:buFontTx/>
              <a:buNone/>
              <a:defRPr sz="1200">
                <a:solidFill>
                  <a:schemeClr val="tx1"/>
                </a:solidFill>
                <a:latin typeface="Calibre Semibold" panose="020B0703030202060203" pitchFamily="34" charset="0"/>
                <a:ea typeface="+mn-ea"/>
                <a:cs typeface="+mn-cs"/>
              </a:defRPr>
            </a:lvl6pPr>
            <a:lvl7pPr marL="0" indent="0" eaLnBrk="1" hangingPunct="1">
              <a:spcBef>
                <a:spcPts val="600"/>
              </a:spcBef>
              <a:defRPr sz="1050">
                <a:solidFill>
                  <a:schemeClr val="tx1"/>
                </a:solidFill>
                <a:latin typeface="Calibre Semibold" panose="020B0703030202060203" pitchFamily="34" charset="0"/>
                <a:ea typeface="+mn-ea"/>
                <a:cs typeface="+mn-cs"/>
              </a:defRPr>
            </a:lvl7pPr>
            <a:lvl8pPr marL="0" indent="0" eaLnBrk="1" hangingPunct="1">
              <a:spcBef>
                <a:spcPts val="300"/>
              </a:spcBef>
              <a:spcAft>
                <a:spcPts val="300"/>
              </a:spcAft>
              <a:defRPr sz="1050" b="0">
                <a:solidFill>
                  <a:schemeClr val="tx1"/>
                </a:solidFill>
                <a:latin typeface="+mn-lt"/>
                <a:ea typeface="+mn-ea"/>
                <a:cs typeface="+mn-cs"/>
              </a:defRPr>
            </a:lvl8pPr>
            <a:lvl9pPr marL="171450" indent="-171450" eaLnBrk="1" hangingPunct="1">
              <a:spcBef>
                <a:spcPts val="200"/>
              </a:spcBef>
              <a:spcAft>
                <a:spcPts val="200"/>
              </a:spcAft>
              <a:buFont typeface="SwissReSansOTLight" panose="04000400000000000000" pitchFamily="82" charset="0"/>
              <a:buChar char="–"/>
              <a:defRPr sz="1050">
                <a:solidFill>
                  <a:schemeClr val="tx1"/>
                </a:solidFill>
                <a:latin typeface="+mn-lt"/>
                <a:ea typeface="+mn-ea"/>
                <a:cs typeface="+mn-cs"/>
              </a:defRPr>
            </a:lvl9pPr>
          </a:lstStyle>
          <a:p>
            <a:pPr marL="0" marR="0" lvl="1" indent="0" defTabSz="914400" eaLnBrk="1" fontAlgn="auto" latinLnBrk="0" hangingPunct="1">
              <a:lnSpc>
                <a:spcPct val="100000"/>
              </a:lnSpc>
              <a:spcBef>
                <a:spcPts val="0"/>
              </a:spcBef>
              <a:spcAft>
                <a:spcPts val="600"/>
              </a:spcAft>
              <a:buClrTx/>
              <a:buSzTx/>
              <a:buFontTx/>
              <a:buNone/>
              <a:tabLst/>
              <a:defRPr/>
            </a:pPr>
            <a:r>
              <a:rPr kumimoji="0" lang="en-US" sz="850" b="0" i="0" u="none" strike="noStrike" kern="0" cap="none" spc="0" normalizeH="0" baseline="0" noProof="0" dirty="0">
                <a:ln>
                  <a:noFill/>
                </a:ln>
                <a:solidFill>
                  <a:srgbClr val="435254"/>
                </a:solidFill>
                <a:effectLst/>
                <a:uLnTx/>
                <a:uFillTx/>
                <a:latin typeface="Calibre" panose="020B0503030202060203" pitchFamily="34" charset="0"/>
                <a:ea typeface="+mn-ea"/>
                <a:cs typeface="+mn-cs"/>
              </a:rPr>
              <a:t>SF Under Construction</a:t>
            </a:r>
          </a:p>
        </p:txBody>
      </p:sp>
      <p:sp>
        <p:nvSpPr>
          <p:cNvPr id="89" name="slide_1_ticker_4_text">
            <a:extLst>
              <a:ext uri="{FF2B5EF4-FFF2-40B4-BE49-F238E27FC236}">
                <a16:creationId xmlns:a16="http://schemas.microsoft.com/office/drawing/2014/main" id="{FF173344-A294-4063-ADB8-13819E1DDEB7}"/>
              </a:ext>
            </a:extLst>
          </p:cNvPr>
          <p:cNvSpPr>
            <a:spLocks noGrp="1"/>
          </p:cNvSpPr>
          <p:nvPr/>
        </p:nvSpPr>
        <p:spPr>
          <a:xfrm>
            <a:off x="6232210" y="929270"/>
            <a:ext cx="1261872" cy="445389"/>
          </a:xfrm>
          <a:prstGeom prst="rect">
            <a:avLst/>
          </a:prstGeom>
        </p:spPr>
        <p:txBody>
          <a:bodyPr vert="horz" wrap="none" lIns="0" tIns="0" rIns="72000" bIns="0" rtlCol="0" anchor="t" anchorCtr="0">
            <a:noAutofit/>
          </a:bodyPr>
          <a:lstStyle>
            <a:lvl1pPr marL="0" eaLnBrk="1" hangingPunct="1">
              <a:spcBef>
                <a:spcPts val="0"/>
              </a:spcBef>
              <a:spcAft>
                <a:spcPts val="0"/>
              </a:spcAft>
              <a:defRPr sz="2800">
                <a:solidFill>
                  <a:schemeClr val="accent6"/>
                </a:solidFill>
                <a:latin typeface="Calibre Light" panose="020B0303030202060203" pitchFamily="34" charset="0"/>
                <a:ea typeface="+mn-ea"/>
                <a:cs typeface="+mn-cs"/>
              </a:defRPr>
            </a:lvl1pPr>
            <a:lvl2pPr marL="0" indent="0" eaLnBrk="1" hangingPunct="1">
              <a:spcBef>
                <a:spcPts val="200"/>
              </a:spcBef>
              <a:spcAft>
                <a:spcPts val="0"/>
              </a:spcAft>
              <a:buClr>
                <a:srgbClr val="17E88F"/>
              </a:buClr>
              <a:buFontTx/>
              <a:buNone/>
              <a:defRPr sz="850" b="0">
                <a:solidFill>
                  <a:srgbClr val="538184"/>
                </a:solidFill>
                <a:latin typeface="+mn-lt"/>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3F2D"/>
                </a:solidFill>
                <a:effectLst/>
                <a:uLnTx/>
                <a:uFillTx/>
                <a:latin typeface="Calibre Light" panose="020B0303030202060203" pitchFamily="34" charset="0"/>
                <a:ea typeface="+mn-ea"/>
                <a:cs typeface="+mn-cs"/>
              </a:rPr>
              <a:t>XXM</a:t>
            </a:r>
          </a:p>
        </p:txBody>
      </p:sp>
      <p:pic>
        <p:nvPicPr>
          <p:cNvPr id="91" name="slide_1_arrow_4_picture">
            <a:extLst>
              <a:ext uri="{FF2B5EF4-FFF2-40B4-BE49-F238E27FC236}">
                <a16:creationId xmlns:a16="http://schemas.microsoft.com/office/drawing/2014/main" id="{28D6D1A3-BBF3-4B2D-8897-EAA1CD93A951}"/>
              </a:ext>
            </a:extLst>
          </p:cNvPr>
          <p:cNvPicPr>
            <a:picLocks noGrp="1" noChangeAspect="1"/>
          </p:cNvPicPr>
          <p:nvPr/>
        </p:nvPicPr>
        <p:blipFill>
          <a:blip r:embed="rId2"/>
          <a:srcRect l="926" r="926"/>
          <a:stretch>
            <a:fillRect/>
          </a:stretch>
        </p:blipFill>
        <p:spPr>
          <a:xfrm>
            <a:off x="6013532" y="1121167"/>
            <a:ext cx="163513" cy="165100"/>
          </a:xfrm>
          <a:prstGeom prst="rect">
            <a:avLst/>
          </a:prstGeom>
        </p:spPr>
      </p:pic>
      <p:sp>
        <p:nvSpPr>
          <p:cNvPr id="98" name="slide_1_ticker_3_title_text">
            <a:extLst>
              <a:ext uri="{FF2B5EF4-FFF2-40B4-BE49-F238E27FC236}">
                <a16:creationId xmlns:a16="http://schemas.microsoft.com/office/drawing/2014/main" id="{5992C70E-F025-AE70-0518-DC69C42E87DD}"/>
              </a:ext>
            </a:extLst>
          </p:cNvPr>
          <p:cNvSpPr txBox="1">
            <a:spLocks/>
          </p:cNvSpPr>
          <p:nvPr/>
        </p:nvSpPr>
        <p:spPr>
          <a:xfrm>
            <a:off x="4371834" y="1374659"/>
            <a:ext cx="1261872" cy="174118"/>
          </a:xfrm>
          <a:prstGeom prst="rect">
            <a:avLst/>
          </a:prstGeom>
        </p:spPr>
        <p:txBody>
          <a:bodyPr vert="horz" wrap="none" lIns="0" tIns="0" rIns="72000" bIns="0" rtlCol="0" anchor="t" anchorCtr="0">
            <a:noAutofit/>
          </a:bodyPr>
          <a:lstStyle>
            <a:defPPr>
              <a:defRPr lang="en-US"/>
            </a:defPPr>
            <a:lvl1pPr marL="0" eaLnBrk="1" hangingPunct="1">
              <a:spcBef>
                <a:spcPts val="1200"/>
              </a:spcBef>
              <a:spcAft>
                <a:spcPts val="1200"/>
              </a:spcAft>
              <a:defRPr sz="2200">
                <a:solidFill>
                  <a:schemeClr val="tx1"/>
                </a:solidFill>
                <a:latin typeface="Calibre Light" panose="020B0303030202060203" pitchFamily="34" charset="0"/>
                <a:ea typeface="+mn-ea"/>
                <a:cs typeface="+mn-cs"/>
              </a:defRPr>
            </a:lvl1pPr>
            <a:lvl2pPr marL="0" indent="0" eaLnBrk="1" hangingPunct="1">
              <a:spcAft>
                <a:spcPts val="600"/>
              </a:spcAft>
              <a:defRPr sz="1600" b="0">
                <a:solidFill>
                  <a:schemeClr val="tx1"/>
                </a:solidFill>
                <a:latin typeface="Calibre Semibold" panose="020B0703030202060203" pitchFamily="34" charset="0"/>
                <a:ea typeface="+mn-ea"/>
                <a:cs typeface="+mn-cs"/>
              </a:defRPr>
            </a:lvl2pPr>
            <a:lvl3pPr marL="0" indent="0" eaLnBrk="1" hangingPunct="1">
              <a:spcBef>
                <a:spcPts val="300"/>
              </a:spcBef>
              <a:spcAft>
                <a:spcPts val="300"/>
              </a:spcAft>
              <a:defRPr sz="1200">
                <a:solidFill>
                  <a:schemeClr val="tx1"/>
                </a:solidFill>
                <a:latin typeface="+mn-lt"/>
                <a:ea typeface="+mn-ea"/>
                <a:cs typeface="+mn-cs"/>
              </a:defRPr>
            </a:lvl3pPr>
            <a:lvl4pPr marL="171450" indent="-171450" eaLnBrk="1" hangingPunct="1">
              <a:spcBef>
                <a:spcPts val="300"/>
              </a:spcBef>
              <a:spcAft>
                <a:spcPts val="300"/>
              </a:spcAft>
              <a:buClr>
                <a:schemeClr val="tx1"/>
              </a:buClr>
              <a:buFont typeface="SwissReSansOTLight" panose="04000400000000000000" pitchFamily="82" charset="0"/>
              <a:buChar char="–"/>
              <a:defRPr sz="1200">
                <a:solidFill>
                  <a:schemeClr val="tx1"/>
                </a:solidFill>
                <a:latin typeface="+mn-lt"/>
                <a:ea typeface="+mn-ea"/>
                <a:cs typeface="+mn-cs"/>
              </a:defRPr>
            </a:lvl4pPr>
            <a:lvl5pPr marL="360363" indent="-184150" eaLnBrk="1" hangingPunct="1">
              <a:spcBef>
                <a:spcPts val="300"/>
              </a:spcBef>
              <a:spcAft>
                <a:spcPts val="300"/>
              </a:spcAft>
              <a:buFont typeface="SwissReSansOTLight" panose="04000400000000000000" pitchFamily="82" charset="0"/>
              <a:buChar char="–"/>
              <a:defRPr sz="1200" b="0">
                <a:solidFill>
                  <a:schemeClr val="tx1"/>
                </a:solidFill>
                <a:latin typeface="+mn-lt"/>
                <a:ea typeface="+mn-ea"/>
                <a:cs typeface="+mn-cs"/>
              </a:defRPr>
            </a:lvl5pPr>
            <a:lvl6pPr marL="0" indent="0" eaLnBrk="1" hangingPunct="1">
              <a:spcBef>
                <a:spcPts val="600"/>
              </a:spcBef>
              <a:spcAft>
                <a:spcPts val="0"/>
              </a:spcAft>
              <a:buClr>
                <a:schemeClr val="tx1"/>
              </a:buClr>
              <a:buFontTx/>
              <a:buNone/>
              <a:defRPr sz="1200">
                <a:solidFill>
                  <a:schemeClr val="tx1"/>
                </a:solidFill>
                <a:latin typeface="Calibre Semibold" panose="020B0703030202060203" pitchFamily="34" charset="0"/>
                <a:ea typeface="+mn-ea"/>
                <a:cs typeface="+mn-cs"/>
              </a:defRPr>
            </a:lvl6pPr>
            <a:lvl7pPr marL="0" indent="0" eaLnBrk="1" hangingPunct="1">
              <a:spcBef>
                <a:spcPts val="600"/>
              </a:spcBef>
              <a:defRPr sz="1050">
                <a:solidFill>
                  <a:schemeClr val="tx1"/>
                </a:solidFill>
                <a:latin typeface="Calibre Semibold" panose="020B0703030202060203" pitchFamily="34" charset="0"/>
                <a:ea typeface="+mn-ea"/>
                <a:cs typeface="+mn-cs"/>
              </a:defRPr>
            </a:lvl7pPr>
            <a:lvl8pPr marL="0" indent="0" eaLnBrk="1" hangingPunct="1">
              <a:spcBef>
                <a:spcPts val="300"/>
              </a:spcBef>
              <a:spcAft>
                <a:spcPts val="300"/>
              </a:spcAft>
              <a:defRPr sz="1050" b="0">
                <a:solidFill>
                  <a:schemeClr val="tx1"/>
                </a:solidFill>
                <a:latin typeface="+mn-lt"/>
                <a:ea typeface="+mn-ea"/>
                <a:cs typeface="+mn-cs"/>
              </a:defRPr>
            </a:lvl8pPr>
            <a:lvl9pPr marL="171450" indent="-171450" eaLnBrk="1" hangingPunct="1">
              <a:spcBef>
                <a:spcPts val="200"/>
              </a:spcBef>
              <a:spcAft>
                <a:spcPts val="200"/>
              </a:spcAft>
              <a:buFont typeface="SwissReSansOTLight" panose="04000400000000000000" pitchFamily="82" charset="0"/>
              <a:buChar char="–"/>
              <a:defRPr sz="1050">
                <a:solidFill>
                  <a:schemeClr val="tx1"/>
                </a:solidFill>
                <a:latin typeface="+mn-lt"/>
                <a:ea typeface="+mn-ea"/>
                <a:cs typeface="+mn-cs"/>
              </a:defRPr>
            </a:lvl9pPr>
          </a:lstStyle>
          <a:p>
            <a:pPr marL="0" marR="0" lvl="1" indent="0" defTabSz="914400" eaLnBrk="1" fontAlgn="auto" latinLnBrk="0" hangingPunct="1">
              <a:lnSpc>
                <a:spcPct val="100000"/>
              </a:lnSpc>
              <a:spcBef>
                <a:spcPts val="0"/>
              </a:spcBef>
              <a:spcAft>
                <a:spcPts val="600"/>
              </a:spcAft>
              <a:buClrTx/>
              <a:buSzTx/>
              <a:buFontTx/>
              <a:buNone/>
              <a:tabLst/>
              <a:defRPr/>
            </a:pPr>
            <a:r>
              <a:rPr kumimoji="0" lang="en-US" sz="850" b="0" i="0" u="none" strike="noStrike" kern="0" cap="none" spc="0" normalizeH="0" baseline="0" noProof="0" dirty="0">
                <a:ln>
                  <a:noFill/>
                </a:ln>
                <a:solidFill>
                  <a:srgbClr val="435254"/>
                </a:solidFill>
                <a:effectLst/>
                <a:uLnTx/>
                <a:uFillTx/>
                <a:latin typeface="Calibre" panose="020B0503030202060203" pitchFamily="34" charset="0"/>
                <a:ea typeface="+mn-ea"/>
                <a:cs typeface="+mn-cs"/>
              </a:rPr>
              <a:t>SF Construction Delivered</a:t>
            </a:r>
          </a:p>
        </p:txBody>
      </p:sp>
      <p:sp>
        <p:nvSpPr>
          <p:cNvPr id="88" name="slide_1_ticker_3_text">
            <a:extLst>
              <a:ext uri="{FF2B5EF4-FFF2-40B4-BE49-F238E27FC236}">
                <a16:creationId xmlns:a16="http://schemas.microsoft.com/office/drawing/2014/main" id="{8EB38D33-A0BD-4CC0-A581-44EB9A4593F7}"/>
              </a:ext>
            </a:extLst>
          </p:cNvPr>
          <p:cNvSpPr>
            <a:spLocks noGrp="1"/>
          </p:cNvSpPr>
          <p:nvPr/>
        </p:nvSpPr>
        <p:spPr>
          <a:xfrm>
            <a:off x="4371834" y="929270"/>
            <a:ext cx="1261872" cy="453549"/>
          </a:xfrm>
          <a:prstGeom prst="rect">
            <a:avLst/>
          </a:prstGeom>
        </p:spPr>
        <p:txBody>
          <a:bodyPr vert="horz" wrap="none" lIns="0" tIns="0" rIns="72000" bIns="0" rtlCol="0" anchor="t" anchorCtr="0">
            <a:noAutofit/>
          </a:bodyPr>
          <a:lstStyle>
            <a:lvl1pPr marL="0" eaLnBrk="1" hangingPunct="1">
              <a:spcBef>
                <a:spcPts val="0"/>
              </a:spcBef>
              <a:spcAft>
                <a:spcPts val="0"/>
              </a:spcAft>
              <a:defRPr sz="2800">
                <a:solidFill>
                  <a:schemeClr val="accent6"/>
                </a:solidFill>
                <a:latin typeface="Calibre Light" panose="020B0303030202060203" pitchFamily="34" charset="0"/>
                <a:ea typeface="+mn-ea"/>
                <a:cs typeface="+mn-cs"/>
              </a:defRPr>
            </a:lvl1pPr>
            <a:lvl2pPr marL="0" indent="0" eaLnBrk="1" hangingPunct="1">
              <a:spcBef>
                <a:spcPts val="200"/>
              </a:spcBef>
              <a:spcAft>
                <a:spcPts val="0"/>
              </a:spcAft>
              <a:buClr>
                <a:srgbClr val="17E88F"/>
              </a:buClr>
              <a:buFontTx/>
              <a:buNone/>
              <a:defRPr sz="850" b="0">
                <a:solidFill>
                  <a:srgbClr val="538184"/>
                </a:solidFill>
                <a:latin typeface="+mn-lt"/>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3F2D"/>
                </a:solidFill>
                <a:effectLst/>
                <a:uLnTx/>
                <a:uFillTx/>
                <a:latin typeface="Calibre Light" panose="020B0303030202060203" pitchFamily="34" charset="0"/>
                <a:ea typeface="+mn-ea"/>
                <a:cs typeface="+mn-cs"/>
              </a:rPr>
              <a:t>XXM</a:t>
            </a:r>
          </a:p>
        </p:txBody>
      </p:sp>
      <p:pic>
        <p:nvPicPr>
          <p:cNvPr id="93" name="slide_1_arrow_3_picture">
            <a:extLst>
              <a:ext uri="{FF2B5EF4-FFF2-40B4-BE49-F238E27FC236}">
                <a16:creationId xmlns:a16="http://schemas.microsoft.com/office/drawing/2014/main" id="{0251E088-D022-4339-90E4-203DDDB0CC72}"/>
              </a:ext>
            </a:extLst>
          </p:cNvPr>
          <p:cNvPicPr>
            <a:picLocks noGrp="1" noChangeAspect="1"/>
          </p:cNvPicPr>
          <p:nvPr/>
        </p:nvPicPr>
        <p:blipFill>
          <a:blip r:embed="rId3"/>
          <a:srcRect l="481" r="481"/>
          <a:stretch>
            <a:fillRect/>
          </a:stretch>
        </p:blipFill>
        <p:spPr>
          <a:xfrm>
            <a:off x="4152982" y="1121167"/>
            <a:ext cx="163513" cy="165100"/>
          </a:xfrm>
          <a:prstGeom prst="rect">
            <a:avLst/>
          </a:prstGeom>
        </p:spPr>
      </p:pic>
      <p:sp>
        <p:nvSpPr>
          <p:cNvPr id="97" name="slide_1_ticker_2_title_text">
            <a:extLst>
              <a:ext uri="{FF2B5EF4-FFF2-40B4-BE49-F238E27FC236}">
                <a16:creationId xmlns:a16="http://schemas.microsoft.com/office/drawing/2014/main" id="{E2202036-DFF4-BF2B-C399-3AA1349831A7}"/>
              </a:ext>
            </a:extLst>
          </p:cNvPr>
          <p:cNvSpPr txBox="1">
            <a:spLocks/>
          </p:cNvSpPr>
          <p:nvPr/>
        </p:nvSpPr>
        <p:spPr>
          <a:xfrm>
            <a:off x="2511458" y="1374659"/>
            <a:ext cx="1261872" cy="174117"/>
          </a:xfrm>
          <a:prstGeom prst="rect">
            <a:avLst/>
          </a:prstGeom>
        </p:spPr>
        <p:txBody>
          <a:bodyPr vert="horz" wrap="none" lIns="0" tIns="0" rIns="72000" bIns="0" rtlCol="0" anchor="t" anchorCtr="0">
            <a:noAutofit/>
          </a:bodyPr>
          <a:lstStyle>
            <a:defPPr>
              <a:defRPr lang="en-US"/>
            </a:defPPr>
            <a:lvl1pPr marL="0" eaLnBrk="1" hangingPunct="1">
              <a:spcBef>
                <a:spcPts val="1200"/>
              </a:spcBef>
              <a:spcAft>
                <a:spcPts val="1200"/>
              </a:spcAft>
              <a:defRPr sz="2200">
                <a:solidFill>
                  <a:schemeClr val="tx1"/>
                </a:solidFill>
                <a:latin typeface="Calibre Light" panose="020B0303030202060203" pitchFamily="34" charset="0"/>
                <a:ea typeface="+mn-ea"/>
                <a:cs typeface="+mn-cs"/>
              </a:defRPr>
            </a:lvl1pPr>
            <a:lvl2pPr marL="0" indent="0" eaLnBrk="1" hangingPunct="1">
              <a:spcAft>
                <a:spcPts val="600"/>
              </a:spcAft>
              <a:defRPr sz="1600" b="0">
                <a:solidFill>
                  <a:schemeClr val="tx1"/>
                </a:solidFill>
                <a:latin typeface="Calibre Semibold" panose="020B0703030202060203" pitchFamily="34" charset="0"/>
                <a:ea typeface="+mn-ea"/>
                <a:cs typeface="+mn-cs"/>
              </a:defRPr>
            </a:lvl2pPr>
            <a:lvl3pPr marL="0" indent="0" eaLnBrk="1" hangingPunct="1">
              <a:spcBef>
                <a:spcPts val="300"/>
              </a:spcBef>
              <a:spcAft>
                <a:spcPts val="300"/>
              </a:spcAft>
              <a:defRPr sz="1200">
                <a:solidFill>
                  <a:schemeClr val="tx1"/>
                </a:solidFill>
                <a:latin typeface="+mn-lt"/>
                <a:ea typeface="+mn-ea"/>
                <a:cs typeface="+mn-cs"/>
              </a:defRPr>
            </a:lvl3pPr>
            <a:lvl4pPr marL="171450" indent="-171450" eaLnBrk="1" hangingPunct="1">
              <a:spcBef>
                <a:spcPts val="300"/>
              </a:spcBef>
              <a:spcAft>
                <a:spcPts val="300"/>
              </a:spcAft>
              <a:buClr>
                <a:schemeClr val="tx1"/>
              </a:buClr>
              <a:buFont typeface="SwissReSansOTLight" panose="04000400000000000000" pitchFamily="82" charset="0"/>
              <a:buChar char="–"/>
              <a:defRPr sz="1200">
                <a:solidFill>
                  <a:schemeClr val="tx1"/>
                </a:solidFill>
                <a:latin typeface="+mn-lt"/>
                <a:ea typeface="+mn-ea"/>
                <a:cs typeface="+mn-cs"/>
              </a:defRPr>
            </a:lvl4pPr>
            <a:lvl5pPr marL="360363" indent="-184150" eaLnBrk="1" hangingPunct="1">
              <a:spcBef>
                <a:spcPts val="300"/>
              </a:spcBef>
              <a:spcAft>
                <a:spcPts val="300"/>
              </a:spcAft>
              <a:buFont typeface="SwissReSansOTLight" panose="04000400000000000000" pitchFamily="82" charset="0"/>
              <a:buChar char="–"/>
              <a:defRPr sz="1200" b="0">
                <a:solidFill>
                  <a:schemeClr val="tx1"/>
                </a:solidFill>
                <a:latin typeface="+mn-lt"/>
                <a:ea typeface="+mn-ea"/>
                <a:cs typeface="+mn-cs"/>
              </a:defRPr>
            </a:lvl5pPr>
            <a:lvl6pPr marL="0" indent="0" eaLnBrk="1" hangingPunct="1">
              <a:spcBef>
                <a:spcPts val="600"/>
              </a:spcBef>
              <a:spcAft>
                <a:spcPts val="0"/>
              </a:spcAft>
              <a:buClr>
                <a:schemeClr val="tx1"/>
              </a:buClr>
              <a:buFontTx/>
              <a:buNone/>
              <a:defRPr sz="1200">
                <a:solidFill>
                  <a:schemeClr val="tx1"/>
                </a:solidFill>
                <a:latin typeface="Calibre Semibold" panose="020B0703030202060203" pitchFamily="34" charset="0"/>
                <a:ea typeface="+mn-ea"/>
                <a:cs typeface="+mn-cs"/>
              </a:defRPr>
            </a:lvl6pPr>
            <a:lvl7pPr marL="0" indent="0" eaLnBrk="1" hangingPunct="1">
              <a:spcBef>
                <a:spcPts val="600"/>
              </a:spcBef>
              <a:defRPr sz="1050">
                <a:solidFill>
                  <a:schemeClr val="tx1"/>
                </a:solidFill>
                <a:latin typeface="Calibre Semibold" panose="020B0703030202060203" pitchFamily="34" charset="0"/>
                <a:ea typeface="+mn-ea"/>
                <a:cs typeface="+mn-cs"/>
              </a:defRPr>
            </a:lvl7pPr>
            <a:lvl8pPr marL="0" indent="0" eaLnBrk="1" hangingPunct="1">
              <a:spcBef>
                <a:spcPts val="300"/>
              </a:spcBef>
              <a:spcAft>
                <a:spcPts val="300"/>
              </a:spcAft>
              <a:defRPr sz="1050" b="0">
                <a:solidFill>
                  <a:schemeClr val="tx1"/>
                </a:solidFill>
                <a:latin typeface="+mn-lt"/>
                <a:ea typeface="+mn-ea"/>
                <a:cs typeface="+mn-cs"/>
              </a:defRPr>
            </a:lvl8pPr>
            <a:lvl9pPr marL="171450" indent="-171450" eaLnBrk="1" hangingPunct="1">
              <a:spcBef>
                <a:spcPts val="200"/>
              </a:spcBef>
              <a:spcAft>
                <a:spcPts val="200"/>
              </a:spcAft>
              <a:buFont typeface="SwissReSansOTLight" panose="04000400000000000000" pitchFamily="82" charset="0"/>
              <a:buChar char="–"/>
              <a:defRPr sz="1050">
                <a:solidFill>
                  <a:schemeClr val="tx1"/>
                </a:solidFill>
                <a:latin typeface="+mn-lt"/>
                <a:ea typeface="+mn-ea"/>
                <a:cs typeface="+mn-cs"/>
              </a:defRPr>
            </a:lvl9pPr>
          </a:lstStyle>
          <a:p>
            <a:pPr marL="0" marR="0" lvl="1" indent="0" defTabSz="914400" eaLnBrk="1" fontAlgn="auto" latinLnBrk="0" hangingPunct="1">
              <a:lnSpc>
                <a:spcPct val="100000"/>
              </a:lnSpc>
              <a:spcBef>
                <a:spcPts val="0"/>
              </a:spcBef>
              <a:spcAft>
                <a:spcPts val="600"/>
              </a:spcAft>
              <a:buClrTx/>
              <a:buSzTx/>
              <a:buFontTx/>
              <a:buNone/>
              <a:tabLst/>
              <a:defRPr/>
            </a:pPr>
            <a:r>
              <a:rPr kumimoji="0" lang="en-US" sz="850" b="0" i="0" u="none" strike="noStrike" kern="0" cap="none" spc="0" normalizeH="0" baseline="0" noProof="0" dirty="0">
                <a:ln>
                  <a:noFill/>
                </a:ln>
                <a:solidFill>
                  <a:srgbClr val="435254"/>
                </a:solidFill>
                <a:effectLst/>
                <a:uLnTx/>
                <a:uFillTx/>
                <a:latin typeface="Calibre" panose="020B0503030202060203" pitchFamily="34" charset="0"/>
                <a:ea typeface="+mn-ea"/>
                <a:cs typeface="+mn-cs"/>
              </a:rPr>
              <a:t>SF Net Absorption</a:t>
            </a:r>
          </a:p>
        </p:txBody>
      </p:sp>
      <p:sp>
        <p:nvSpPr>
          <p:cNvPr id="87" name="slide_1_ticker_2_text">
            <a:extLst>
              <a:ext uri="{FF2B5EF4-FFF2-40B4-BE49-F238E27FC236}">
                <a16:creationId xmlns:a16="http://schemas.microsoft.com/office/drawing/2014/main" id="{22A74990-575E-4071-A4F1-729D27CBE184}"/>
              </a:ext>
            </a:extLst>
          </p:cNvPr>
          <p:cNvSpPr>
            <a:spLocks noGrp="1"/>
          </p:cNvSpPr>
          <p:nvPr/>
        </p:nvSpPr>
        <p:spPr>
          <a:xfrm>
            <a:off x="2511459" y="929270"/>
            <a:ext cx="1261872" cy="453549"/>
          </a:xfrm>
          <a:prstGeom prst="rect">
            <a:avLst/>
          </a:prstGeom>
        </p:spPr>
        <p:txBody>
          <a:bodyPr vert="horz" wrap="none" lIns="0" tIns="0" rIns="72000" bIns="0" rtlCol="0" anchor="t" anchorCtr="0">
            <a:noAutofit/>
          </a:bodyPr>
          <a:lstStyle>
            <a:lvl1pPr marL="0" eaLnBrk="1" hangingPunct="1">
              <a:spcBef>
                <a:spcPts val="0"/>
              </a:spcBef>
              <a:spcAft>
                <a:spcPts val="0"/>
              </a:spcAft>
              <a:defRPr sz="2800">
                <a:solidFill>
                  <a:schemeClr val="accent6"/>
                </a:solidFill>
                <a:latin typeface="Calibre Light" panose="020B0303030202060203" pitchFamily="34" charset="0"/>
                <a:ea typeface="+mn-ea"/>
                <a:cs typeface="+mn-cs"/>
              </a:defRPr>
            </a:lvl1pPr>
            <a:lvl2pPr marL="0" indent="0" eaLnBrk="1" hangingPunct="1">
              <a:spcBef>
                <a:spcPts val="200"/>
              </a:spcBef>
              <a:spcAft>
                <a:spcPts val="0"/>
              </a:spcAft>
              <a:buClr>
                <a:srgbClr val="17E88F"/>
              </a:buClr>
              <a:buFontTx/>
              <a:buNone/>
              <a:defRPr sz="850" b="0">
                <a:solidFill>
                  <a:srgbClr val="538184"/>
                </a:solidFill>
                <a:latin typeface="+mn-lt"/>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3F2D"/>
                </a:solidFill>
                <a:effectLst/>
                <a:uLnTx/>
                <a:uFillTx/>
                <a:latin typeface="Calibre Light" panose="020B0303030202060203" pitchFamily="34" charset="0"/>
                <a:ea typeface="+mn-ea"/>
                <a:cs typeface="+mn-cs"/>
              </a:rPr>
              <a:t>XXM</a:t>
            </a:r>
          </a:p>
        </p:txBody>
      </p:sp>
      <p:pic>
        <p:nvPicPr>
          <p:cNvPr id="92" name="slide_1_arrow_2_picture">
            <a:extLst>
              <a:ext uri="{FF2B5EF4-FFF2-40B4-BE49-F238E27FC236}">
                <a16:creationId xmlns:a16="http://schemas.microsoft.com/office/drawing/2014/main" id="{BF16D83C-76D9-4480-B899-6704C53E6DBF}"/>
              </a:ext>
            </a:extLst>
          </p:cNvPr>
          <p:cNvPicPr>
            <a:picLocks noGrp="1" noChangeAspect="1"/>
          </p:cNvPicPr>
          <p:nvPr/>
        </p:nvPicPr>
        <p:blipFill>
          <a:blip r:embed="rId4"/>
          <a:srcRect l="481" r="481"/>
          <a:stretch>
            <a:fillRect/>
          </a:stretch>
        </p:blipFill>
        <p:spPr>
          <a:xfrm>
            <a:off x="2292432" y="1121167"/>
            <a:ext cx="163513" cy="165100"/>
          </a:xfrm>
          <a:prstGeom prst="rect">
            <a:avLst/>
          </a:prstGeom>
        </p:spPr>
      </p:pic>
      <p:sp>
        <p:nvSpPr>
          <p:cNvPr id="96" name="slide_1_ticker_1_title_text">
            <a:extLst>
              <a:ext uri="{FF2B5EF4-FFF2-40B4-BE49-F238E27FC236}">
                <a16:creationId xmlns:a16="http://schemas.microsoft.com/office/drawing/2014/main" id="{E94188AC-EE38-3C52-1585-51B6D95D8966}"/>
              </a:ext>
            </a:extLst>
          </p:cNvPr>
          <p:cNvSpPr txBox="1">
            <a:spLocks/>
          </p:cNvSpPr>
          <p:nvPr/>
        </p:nvSpPr>
        <p:spPr>
          <a:xfrm>
            <a:off x="651083" y="1382819"/>
            <a:ext cx="1261872" cy="146210"/>
          </a:xfrm>
          <a:prstGeom prst="rect">
            <a:avLst/>
          </a:prstGeom>
        </p:spPr>
        <p:txBody>
          <a:bodyPr vert="horz" wrap="none" lIns="0" tIns="0" rIns="72000" bIns="0" rtlCol="0" anchor="t" anchorCtr="0">
            <a:noAutofit/>
          </a:bodyPr>
          <a:lstStyle>
            <a:defPPr>
              <a:defRPr lang="en-US"/>
            </a:defPPr>
            <a:lvl1pPr marL="0" eaLnBrk="1" hangingPunct="1">
              <a:spcBef>
                <a:spcPts val="1200"/>
              </a:spcBef>
              <a:spcAft>
                <a:spcPts val="1200"/>
              </a:spcAft>
              <a:defRPr sz="2200">
                <a:solidFill>
                  <a:schemeClr val="tx1"/>
                </a:solidFill>
                <a:latin typeface="Calibre Light" panose="020B0303030202060203" pitchFamily="34" charset="0"/>
                <a:ea typeface="+mn-ea"/>
                <a:cs typeface="+mn-cs"/>
              </a:defRPr>
            </a:lvl1pPr>
            <a:lvl2pPr marL="0" indent="0" eaLnBrk="1" hangingPunct="1">
              <a:spcAft>
                <a:spcPts val="600"/>
              </a:spcAft>
              <a:defRPr sz="1600" b="0">
                <a:solidFill>
                  <a:schemeClr val="tx1"/>
                </a:solidFill>
                <a:latin typeface="Calibre Semibold" panose="020B0703030202060203" pitchFamily="34" charset="0"/>
                <a:ea typeface="+mn-ea"/>
                <a:cs typeface="+mn-cs"/>
              </a:defRPr>
            </a:lvl2pPr>
            <a:lvl3pPr marL="0" indent="0" eaLnBrk="1" hangingPunct="1">
              <a:spcBef>
                <a:spcPts val="300"/>
              </a:spcBef>
              <a:spcAft>
                <a:spcPts val="300"/>
              </a:spcAft>
              <a:defRPr sz="1200">
                <a:solidFill>
                  <a:schemeClr val="tx1"/>
                </a:solidFill>
                <a:latin typeface="+mn-lt"/>
                <a:ea typeface="+mn-ea"/>
                <a:cs typeface="+mn-cs"/>
              </a:defRPr>
            </a:lvl3pPr>
            <a:lvl4pPr marL="171450" indent="-171450" eaLnBrk="1" hangingPunct="1">
              <a:spcBef>
                <a:spcPts val="300"/>
              </a:spcBef>
              <a:spcAft>
                <a:spcPts val="300"/>
              </a:spcAft>
              <a:buClr>
                <a:schemeClr val="tx1"/>
              </a:buClr>
              <a:buFont typeface="SwissReSansOTLight" panose="04000400000000000000" pitchFamily="82" charset="0"/>
              <a:buChar char="–"/>
              <a:defRPr sz="1200">
                <a:solidFill>
                  <a:schemeClr val="tx1"/>
                </a:solidFill>
                <a:latin typeface="+mn-lt"/>
                <a:ea typeface="+mn-ea"/>
                <a:cs typeface="+mn-cs"/>
              </a:defRPr>
            </a:lvl4pPr>
            <a:lvl5pPr marL="360363" indent="-184150" eaLnBrk="1" hangingPunct="1">
              <a:spcBef>
                <a:spcPts val="300"/>
              </a:spcBef>
              <a:spcAft>
                <a:spcPts val="300"/>
              </a:spcAft>
              <a:buFont typeface="SwissReSansOTLight" panose="04000400000000000000" pitchFamily="82" charset="0"/>
              <a:buChar char="–"/>
              <a:defRPr sz="1200" b="0">
                <a:solidFill>
                  <a:schemeClr val="tx1"/>
                </a:solidFill>
                <a:latin typeface="+mn-lt"/>
                <a:ea typeface="+mn-ea"/>
                <a:cs typeface="+mn-cs"/>
              </a:defRPr>
            </a:lvl5pPr>
            <a:lvl6pPr marL="0" indent="0" eaLnBrk="1" hangingPunct="1">
              <a:spcBef>
                <a:spcPts val="600"/>
              </a:spcBef>
              <a:spcAft>
                <a:spcPts val="0"/>
              </a:spcAft>
              <a:buClr>
                <a:schemeClr val="tx1"/>
              </a:buClr>
              <a:buFontTx/>
              <a:buNone/>
              <a:defRPr sz="1200">
                <a:solidFill>
                  <a:schemeClr val="tx1"/>
                </a:solidFill>
                <a:latin typeface="Calibre Semibold" panose="020B0703030202060203" pitchFamily="34" charset="0"/>
                <a:ea typeface="+mn-ea"/>
                <a:cs typeface="+mn-cs"/>
              </a:defRPr>
            </a:lvl6pPr>
            <a:lvl7pPr marL="0" indent="0" eaLnBrk="1" hangingPunct="1">
              <a:spcBef>
                <a:spcPts val="600"/>
              </a:spcBef>
              <a:defRPr sz="1050">
                <a:solidFill>
                  <a:schemeClr val="tx1"/>
                </a:solidFill>
                <a:latin typeface="Calibre Semibold" panose="020B0703030202060203" pitchFamily="34" charset="0"/>
                <a:ea typeface="+mn-ea"/>
                <a:cs typeface="+mn-cs"/>
              </a:defRPr>
            </a:lvl7pPr>
            <a:lvl8pPr marL="0" indent="0" eaLnBrk="1" hangingPunct="1">
              <a:spcBef>
                <a:spcPts val="300"/>
              </a:spcBef>
              <a:spcAft>
                <a:spcPts val="300"/>
              </a:spcAft>
              <a:defRPr sz="1050" b="0">
                <a:solidFill>
                  <a:schemeClr val="tx1"/>
                </a:solidFill>
                <a:latin typeface="+mn-lt"/>
                <a:ea typeface="+mn-ea"/>
                <a:cs typeface="+mn-cs"/>
              </a:defRPr>
            </a:lvl8pPr>
            <a:lvl9pPr marL="171450" indent="-171450" eaLnBrk="1" hangingPunct="1">
              <a:spcBef>
                <a:spcPts val="200"/>
              </a:spcBef>
              <a:spcAft>
                <a:spcPts val="200"/>
              </a:spcAft>
              <a:buFont typeface="SwissReSansOTLight" panose="04000400000000000000" pitchFamily="82" charset="0"/>
              <a:buChar char="–"/>
              <a:defRPr sz="1050">
                <a:solidFill>
                  <a:schemeClr val="tx1"/>
                </a:solidFill>
                <a:latin typeface="+mn-lt"/>
                <a:ea typeface="+mn-ea"/>
                <a:cs typeface="+mn-cs"/>
              </a:defRPr>
            </a:lvl9pPr>
          </a:lstStyle>
          <a:p>
            <a:pPr marL="0" marR="0" lvl="1" indent="0" defTabSz="914400" eaLnBrk="1" fontAlgn="auto" latinLnBrk="0" hangingPunct="1">
              <a:lnSpc>
                <a:spcPct val="100000"/>
              </a:lnSpc>
              <a:spcBef>
                <a:spcPts val="0"/>
              </a:spcBef>
              <a:spcAft>
                <a:spcPts val="600"/>
              </a:spcAft>
              <a:buClrTx/>
              <a:buSzTx/>
              <a:buFontTx/>
              <a:buNone/>
              <a:tabLst/>
              <a:defRPr/>
            </a:pPr>
            <a:r>
              <a:rPr kumimoji="0" lang="en-US" sz="850" b="0" i="0" u="none" strike="noStrike" kern="0" cap="none" spc="0" normalizeH="0" baseline="0" noProof="0" dirty="0">
                <a:ln>
                  <a:noFill/>
                </a:ln>
                <a:solidFill>
                  <a:srgbClr val="435254"/>
                </a:solidFill>
                <a:effectLst/>
                <a:uLnTx/>
                <a:uFillTx/>
                <a:latin typeface="Calibre" panose="020B0503030202060203" pitchFamily="34" charset="0"/>
                <a:ea typeface="+mn-ea"/>
                <a:cs typeface="+mn-cs"/>
              </a:rPr>
              <a:t>Vacancy Rate</a:t>
            </a:r>
          </a:p>
          <a:p>
            <a:pPr marL="0" marR="0" lvl="0" indent="0" defTabSz="914400" eaLnBrk="1" fontAlgn="auto" latinLnBrk="0" hangingPunct="1">
              <a:lnSpc>
                <a:spcPct val="100000"/>
              </a:lnSpc>
              <a:spcBef>
                <a:spcPts val="1200"/>
              </a:spcBef>
              <a:spcAft>
                <a:spcPts val="1200"/>
              </a:spcAft>
              <a:buClrTx/>
              <a:buSzTx/>
              <a:buFontTx/>
              <a:buNone/>
              <a:tabLst/>
              <a:defRPr/>
            </a:pPr>
            <a:endParaRPr kumimoji="0" lang="en-US" sz="850" b="0" i="0" u="none" strike="noStrike" kern="0" cap="none" spc="0" normalizeH="0" baseline="0" noProof="0" dirty="0">
              <a:ln>
                <a:noFill/>
              </a:ln>
              <a:solidFill>
                <a:srgbClr val="435254"/>
              </a:solidFill>
              <a:effectLst/>
              <a:uLnTx/>
              <a:uFillTx/>
              <a:latin typeface="Calibre" panose="020B0503030202060203" pitchFamily="34" charset="0"/>
              <a:ea typeface="+mn-ea"/>
              <a:cs typeface="+mn-cs"/>
            </a:endParaRPr>
          </a:p>
        </p:txBody>
      </p:sp>
      <p:sp>
        <p:nvSpPr>
          <p:cNvPr id="86" name="slide_1_ticker_1_text">
            <a:extLst>
              <a:ext uri="{FF2B5EF4-FFF2-40B4-BE49-F238E27FC236}">
                <a16:creationId xmlns:a16="http://schemas.microsoft.com/office/drawing/2014/main" id="{C1D238A5-FDDA-42AC-9258-362A780BE547}"/>
              </a:ext>
            </a:extLst>
          </p:cNvPr>
          <p:cNvSpPr>
            <a:spLocks noGrp="1"/>
          </p:cNvSpPr>
          <p:nvPr/>
        </p:nvSpPr>
        <p:spPr>
          <a:xfrm>
            <a:off x="651084" y="929270"/>
            <a:ext cx="1261872" cy="453549"/>
          </a:xfrm>
          <a:prstGeom prst="rect">
            <a:avLst/>
          </a:prstGeom>
        </p:spPr>
        <p:txBody>
          <a:bodyPr vert="horz" wrap="none" lIns="0" tIns="0" rIns="72000" bIns="0" rtlCol="0" anchor="t" anchorCtr="0">
            <a:noAutofit/>
          </a:bodyPr>
          <a:lstStyle>
            <a:lvl1pPr marL="0" eaLnBrk="1" hangingPunct="1">
              <a:spcBef>
                <a:spcPts val="0"/>
              </a:spcBef>
              <a:spcAft>
                <a:spcPts val="0"/>
              </a:spcAft>
              <a:defRPr sz="2800">
                <a:solidFill>
                  <a:schemeClr val="accent6"/>
                </a:solidFill>
                <a:latin typeface="Calibre Light" panose="020B0303030202060203" pitchFamily="34" charset="0"/>
                <a:ea typeface="+mn-ea"/>
                <a:cs typeface="+mn-cs"/>
              </a:defRPr>
            </a:lvl1pPr>
            <a:lvl2pPr marL="0" indent="0" eaLnBrk="1" hangingPunct="1">
              <a:spcBef>
                <a:spcPts val="200"/>
              </a:spcBef>
              <a:spcAft>
                <a:spcPts val="0"/>
              </a:spcAft>
              <a:buClr>
                <a:srgbClr val="17E88F"/>
              </a:buClr>
              <a:buFontTx/>
              <a:buNone/>
              <a:defRPr sz="850" b="0">
                <a:solidFill>
                  <a:srgbClr val="538184"/>
                </a:solidFill>
                <a:latin typeface="+mn-lt"/>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3F2D"/>
                </a:solidFill>
                <a:effectLst/>
                <a:uLnTx/>
                <a:uFillTx/>
                <a:latin typeface="Calibre Light" panose="020B0303030202060203" pitchFamily="34" charset="0"/>
                <a:ea typeface="+mn-ea"/>
                <a:cs typeface="+mn-cs"/>
              </a:rPr>
              <a:t>X.X%</a:t>
            </a:r>
          </a:p>
        </p:txBody>
      </p:sp>
      <p:pic>
        <p:nvPicPr>
          <p:cNvPr id="90" name="slide_1_arrow_1_picture">
            <a:extLst>
              <a:ext uri="{FF2B5EF4-FFF2-40B4-BE49-F238E27FC236}">
                <a16:creationId xmlns:a16="http://schemas.microsoft.com/office/drawing/2014/main" id="{29F07D95-29DA-4CB8-A3CA-56FA4E286AB2}"/>
              </a:ext>
            </a:extLst>
          </p:cNvPr>
          <p:cNvPicPr>
            <a:picLocks noGrp="1" noChangeAspect="1"/>
          </p:cNvPicPr>
          <p:nvPr/>
        </p:nvPicPr>
        <p:blipFill>
          <a:blip r:embed="rId2"/>
          <a:srcRect l="450" r="450"/>
          <a:stretch>
            <a:fillRect/>
          </a:stretch>
        </p:blipFill>
        <p:spPr>
          <a:xfrm>
            <a:off x="431882" y="1121167"/>
            <a:ext cx="165100" cy="165100"/>
          </a:xfrm>
          <a:prstGeom prst="rect">
            <a:avLst/>
          </a:prstGeom>
        </p:spPr>
      </p:pic>
      <p:sp>
        <p:nvSpPr>
          <p:cNvPr id="101" name="Arrows Disclaimer Text">
            <a:extLst>
              <a:ext uri="{FF2B5EF4-FFF2-40B4-BE49-F238E27FC236}">
                <a16:creationId xmlns:a16="http://schemas.microsoft.com/office/drawing/2014/main" id="{3D0F73CA-5E7E-A6B0-CAE9-2BF7FFB0D078}"/>
              </a:ext>
            </a:extLst>
          </p:cNvPr>
          <p:cNvSpPr txBox="1"/>
          <p:nvPr/>
        </p:nvSpPr>
        <p:spPr>
          <a:xfrm>
            <a:off x="457677" y="1572945"/>
            <a:ext cx="1860550" cy="82550"/>
          </a:xfrm>
          <a:prstGeom prst="rect">
            <a:avLst/>
          </a:prstGeom>
          <a:noFill/>
        </p:spPr>
        <p:txBody>
          <a:bodyPr wrap="square" lIns="0" tIns="0" rIns="0" bIns="0" rtlCol="0" anchor="ctr" anchorCtr="0">
            <a:noAutofit/>
          </a:bodyPr>
          <a:lstStyle/>
          <a:p>
            <a:pPr marL="0" marR="0" lvl="0" indent="0" algn="l" defTabSz="914400" eaLnBrk="1" fontAlgn="auto" latinLnBrk="0" hangingPunct="1">
              <a:lnSpc>
                <a:spcPct val="100000"/>
              </a:lnSpc>
              <a:spcBef>
                <a:spcPts val="1200"/>
              </a:spcBef>
              <a:spcAft>
                <a:spcPts val="1200"/>
              </a:spcAft>
              <a:buClrTx/>
              <a:buSzTx/>
              <a:buFontTx/>
              <a:buNone/>
              <a:tabLst/>
              <a:defRPr/>
            </a:pPr>
            <a:r>
              <a:rPr kumimoji="0" lang="en-US" sz="800" b="0" i="0" u="none" strike="noStrike" kern="0" cap="none" spc="0" normalizeH="0" baseline="0" noProof="0" dirty="0">
                <a:ln>
                  <a:noFill/>
                </a:ln>
                <a:solidFill>
                  <a:srgbClr val="435254"/>
                </a:solidFill>
                <a:effectLst/>
                <a:uLnTx/>
                <a:uFillTx/>
                <a:latin typeface="Barlow Condensed Thin" pitchFamily="2" charset="77"/>
                <a:ea typeface="+mn-ea"/>
                <a:cs typeface="+mn-cs"/>
              </a:rPr>
              <a:t>Note: Arrows indicate change from previous quarter.</a:t>
            </a:r>
          </a:p>
        </p:txBody>
      </p:sp>
      <p:sp>
        <p:nvSpPr>
          <p:cNvPr id="3" name="slide_1_title_text"/>
          <p:cNvSpPr>
            <a:spLocks noGrp="1"/>
          </p:cNvSpPr>
          <p:nvPr>
            <p:ph type="body" sz="quarter" idx="32" hasCustomPrompt="1"/>
          </p:nvPr>
        </p:nvSpPr>
        <p:spPr>
          <a:xfrm>
            <a:off x="349719" y="468771"/>
            <a:ext cx="9291637" cy="410221"/>
          </a:xfrm>
        </p:spPr>
        <p:txBody>
          <a:bodyPr/>
          <a:lstStyle/>
          <a:p>
            <a:r>
              <a:rPr lang="en-US" dirty="0"/>
              <a:t>[Submarket Name]</a:t>
            </a:r>
            <a:r>
              <a:rPr dirty="0"/>
              <a:t> Submarket Snapshot</a:t>
            </a:r>
          </a:p>
        </p:txBody>
      </p:sp>
      <p:sp>
        <p:nvSpPr>
          <p:cNvPr id="111" name="slide_1_source_text">
            <a:extLst>
              <a:ext uri="{FF2B5EF4-FFF2-40B4-BE49-F238E27FC236}">
                <a16:creationId xmlns:a16="http://schemas.microsoft.com/office/drawing/2014/main" id="{378C8DA4-9E70-0C0A-E0E5-B59320C26D56}"/>
              </a:ext>
            </a:extLst>
          </p:cNvPr>
          <p:cNvSpPr txBox="1">
            <a:spLocks/>
          </p:cNvSpPr>
          <p:nvPr/>
        </p:nvSpPr>
        <p:spPr>
          <a:xfrm>
            <a:off x="481584" y="6574822"/>
            <a:ext cx="1752600" cy="206116"/>
          </a:xfrm>
          <a:prstGeom prst="rect">
            <a:avLst/>
          </a:prstGeom>
        </p:spPr>
        <p:txBody>
          <a:bodyPr vert="horz" wrap="square" lIns="0" tIns="0" rIns="0" bIns="0" rtlCol="0" anchor="t" anchorCtr="0">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1200"/>
              </a:spcAft>
              <a:buClrTx/>
              <a:buSzTx/>
              <a:buFontTx/>
              <a:buNone/>
              <a:tabLst/>
              <a:defRPr/>
            </a:pPr>
            <a:r>
              <a:rPr kumimoji="0" lang="en-US" sz="900" b="0" i="0" u="none" strike="noStrike" kern="1200" cap="none" spc="0" normalizeH="0" baseline="0" noProof="0" dirty="0">
                <a:ln>
                  <a:noFill/>
                </a:ln>
                <a:solidFill>
                  <a:srgbClr val="435254"/>
                </a:solidFill>
                <a:effectLst/>
                <a:uLnTx/>
                <a:uFillTx/>
                <a:latin typeface="Calibre"/>
                <a:ea typeface="+mj-ea"/>
                <a:cs typeface="+mj-cs"/>
              </a:rPr>
              <a:t>Source: CBRE Research, Q3 2023</a:t>
            </a:r>
          </a:p>
        </p:txBody>
      </p:sp>
      <p:pic>
        <p:nvPicPr>
          <p:cNvPr id="4" name="up_arrow_picture">
            <a:extLst>
              <a:ext uri="{FF2B5EF4-FFF2-40B4-BE49-F238E27FC236}">
                <a16:creationId xmlns:a16="http://schemas.microsoft.com/office/drawing/2014/main" id="{8721ED68-B735-E897-5C3B-15BBB7E33C68}"/>
              </a:ext>
            </a:extLst>
          </p:cNvPr>
          <p:cNvPicPr>
            <a:picLocks noGrp="1" noChangeAspect="1"/>
          </p:cNvPicPr>
          <p:nvPr/>
        </p:nvPicPr>
        <p:blipFill>
          <a:blip r:embed="rId2"/>
          <a:srcRect l="450" r="450"/>
          <a:stretch>
            <a:fillRect/>
          </a:stretch>
        </p:blipFill>
        <p:spPr>
          <a:xfrm>
            <a:off x="-1890347" y="1169459"/>
            <a:ext cx="165100" cy="165100"/>
          </a:xfrm>
          <a:prstGeom prst="rect">
            <a:avLst/>
          </a:prstGeom>
        </p:spPr>
      </p:pic>
      <p:pic>
        <p:nvPicPr>
          <p:cNvPr id="5" name="neutral_arrow_picture">
            <a:extLst>
              <a:ext uri="{FF2B5EF4-FFF2-40B4-BE49-F238E27FC236}">
                <a16:creationId xmlns:a16="http://schemas.microsoft.com/office/drawing/2014/main" id="{CEBCEC19-0D13-60EF-4517-BFD5CA884A0E}"/>
              </a:ext>
            </a:extLst>
          </p:cNvPr>
          <p:cNvPicPr>
            <a:picLocks noGrp="1" noChangeAspect="1"/>
          </p:cNvPicPr>
          <p:nvPr/>
        </p:nvPicPr>
        <p:blipFill>
          <a:blip r:embed="rId4"/>
          <a:srcRect l="481" r="481"/>
          <a:stretch>
            <a:fillRect/>
          </a:stretch>
        </p:blipFill>
        <p:spPr>
          <a:xfrm>
            <a:off x="-1663555" y="1169226"/>
            <a:ext cx="163513" cy="165100"/>
          </a:xfrm>
          <a:prstGeom prst="rect">
            <a:avLst/>
          </a:prstGeom>
        </p:spPr>
      </p:pic>
      <p:pic>
        <p:nvPicPr>
          <p:cNvPr id="7" name="down_arrow_picture">
            <a:extLst>
              <a:ext uri="{FF2B5EF4-FFF2-40B4-BE49-F238E27FC236}">
                <a16:creationId xmlns:a16="http://schemas.microsoft.com/office/drawing/2014/main" id="{99665B18-D4D3-A47C-D762-B3F6EA2241F2}"/>
              </a:ext>
            </a:extLst>
          </p:cNvPr>
          <p:cNvPicPr>
            <a:picLocks noGrp="1" noChangeAspect="1"/>
          </p:cNvPicPr>
          <p:nvPr/>
        </p:nvPicPr>
        <p:blipFill>
          <a:blip r:embed="rId3"/>
          <a:srcRect l="481" r="481"/>
          <a:stretch>
            <a:fillRect/>
          </a:stretch>
        </p:blipFill>
        <p:spPr>
          <a:xfrm>
            <a:off x="-1404899" y="1166955"/>
            <a:ext cx="163513" cy="165100"/>
          </a:xfrm>
          <a:prstGeom prst="rect">
            <a:avLst/>
          </a:prstGeom>
        </p:spPr>
      </p:pic>
    </p:spTree>
  </p:cSld>
  <p:clrMapOvr>
    <a:masterClrMapping/>
  </p:clrMapOvr>
</p:sld>
</file>

<file path=ppt/theme/theme1.xml><?xml version="1.0" encoding="utf-8"?>
<a:theme xmlns:a="http://schemas.openxmlformats.org/drawingml/2006/main" name="Figures Master - 20210903">
  <a:themeElements>
    <a:clrScheme name="CBRE Emerald">
      <a:dk1>
        <a:srgbClr val="435254"/>
      </a:dk1>
      <a:lt1>
        <a:srgbClr val="FFFFFF"/>
      </a:lt1>
      <a:dk2>
        <a:srgbClr val="DBD99A"/>
      </a:dk2>
      <a:lt2>
        <a:srgbClr val="80BBAD"/>
      </a:lt2>
      <a:accent1>
        <a:srgbClr val="1F3765"/>
      </a:accent1>
      <a:accent2>
        <a:srgbClr val="3E7CA6"/>
      </a:accent2>
      <a:accent3>
        <a:srgbClr val="CAD1D3"/>
      </a:accent3>
      <a:accent4>
        <a:srgbClr val="96B3B6"/>
      </a:accent4>
      <a:accent5>
        <a:srgbClr val="7F8481"/>
      </a:accent5>
      <a:accent6>
        <a:srgbClr val="003F2D"/>
      </a:accent6>
      <a:hlink>
        <a:srgbClr val="80BBAD"/>
      </a:hlink>
      <a:folHlink>
        <a:srgbClr val="D1D1D3"/>
      </a:folHlink>
    </a:clrScheme>
    <a:fontScheme name="CBRE">
      <a:majorFont>
        <a:latin typeface="Financier Display"/>
        <a:ea typeface=""/>
        <a:cs typeface=""/>
      </a:majorFont>
      <a:minorFont>
        <a:latin typeface="Calibr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6"/>
        </a:solidFill>
        <a:ln w="12700">
          <a:solidFill>
            <a:schemeClr val="accent3"/>
          </a:solidFill>
        </a:ln>
      </a:spPr>
      <a:bodyPr lIns="45720" tIns="0" rIns="45720" bIns="0" rtlCol="0" anchor="ctr"/>
      <a:lstStyle>
        <a:defPPr algn="ctr">
          <a:spcAft>
            <a:spcPts val="300"/>
          </a:spcAft>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noAutofit/>
      </a:bodyPr>
      <a:lstStyle>
        <a:defPPr algn="l">
          <a:defRPr dirty="0" smtClean="0"/>
        </a:defPPr>
      </a:lstStyle>
    </a:txDef>
  </a:objectDefaults>
  <a:extraClrSchemeLst/>
  <a:custClrLst>
    <a:custClr name="Celadon (Data Viz 1)">
      <a:srgbClr val="80BBAD"/>
    </a:custClr>
    <a:custClr name="Dark Grey (Data Viz 2)">
      <a:srgbClr val="435254"/>
    </a:custClr>
    <a:custClr name="Accent Green (Data Viz 3)">
      <a:srgbClr val="17E88F"/>
    </a:custClr>
    <a:custClr name="Wheat (Data Viz 4)">
      <a:srgbClr val="DBD99A"/>
    </a:custClr>
    <a:custClr name="Data Orange (Data Viz 5)">
      <a:srgbClr val="D2785A"/>
    </a:custClr>
    <a:custClr name="Data Purple (Data Viz 6)">
      <a:srgbClr val="885073"/>
    </a:custClr>
    <a:custClr name="Data Lt. Purple (Data Viz 7)">
      <a:srgbClr val="A388BF"/>
    </a:custClr>
    <a:custClr name="Data Blue (Data Viz 8)">
      <a:srgbClr val="1F3765"/>
    </a:custClr>
    <a:custClr name="Data Lt. Blue (Data Viz 9)">
      <a:srgbClr val="3E7CA6"/>
    </a:custClr>
    <a:custClr name="Light Grey (Data Viz 10)">
      <a:srgbClr val="CAD1D3"/>
    </a:custClr>
    <a:custClr name="Negative Value Red">
      <a:srgbClr val="AD2A2A"/>
    </a:custClr>
    <a:custClr name="DataViz Background (20% Lt. Grey)">
      <a:srgbClr val="F6F6F6"/>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Primary Green (Primary)">
      <a:srgbClr val="003F2D"/>
    </a:custClr>
    <a:custClr name="Accent Green (Primary)">
      <a:srgbClr val="17E88F"/>
    </a:custClr>
    <a:custClr name="Dark Green (Primary)">
      <a:srgbClr val="012A2D"/>
    </a:custClr>
    <a:custClr name="Dark Grey (Primary)">
      <a:srgbClr val="435254"/>
    </a:custClr>
    <a:custClr name="Light Grey (Primary)">
      <a:srgbClr val="CAD1D3"/>
    </a:custClr>
    <a:custClr name="Midnight (Secondary)">
      <a:srgbClr val="032842"/>
    </a:custClr>
    <a:custClr name="Sage (Secondary)">
      <a:srgbClr val="538184"/>
    </a:custClr>
    <a:custClr name="Celadon (Secondary)">
      <a:srgbClr val="80BBAD"/>
    </a:custClr>
    <a:custClr name="Wheat (Secondary)">
      <a:srgbClr val="DBD99A"/>
    </a:custClr>
    <a:custClr name="Cement (Secondary)">
      <a:srgbClr val="7F8480"/>
    </a:custClr>
    <a:custClr name=" ">
      <a:srgbClr val="FFFFFF"/>
    </a:custClr>
    <a:custClr name=" ">
      <a:srgbClr val="FFFFFF"/>
    </a:custClr>
    <a:custClr name=" ">
      <a:srgbClr val="FFFFFF"/>
    </a:custClr>
    <a:custClr name=" ">
      <a:srgbClr val="FFFFFF"/>
    </a:custClr>
    <a:custClr name=" ">
      <a:srgbClr val="FFFFFF"/>
    </a:custClr>
    <a:custClr name="Midnight Tint (Secondary)">
      <a:srgbClr val="778F9C"/>
    </a:custClr>
    <a:custClr name="Sage Tint (Secondary)">
      <a:srgbClr val="96B3B6"/>
    </a:custClr>
    <a:custClr name="Celadon Tint (Secondary)">
      <a:srgbClr val="C0D4CB"/>
    </a:custClr>
    <a:custClr name="Wheat Tint (Secondary)">
      <a:srgbClr val="EFECD2"/>
    </a:custClr>
    <a:custClr name="Cement Tint (Secondary)">
      <a:srgbClr val="CBCDCB"/>
    </a:custClr>
  </a:custClrLst>
  <a:extLst>
    <a:ext uri="{05A4C25C-085E-4340-85A3-A5531E510DB2}">
      <thm15:themeFamily xmlns:thm15="http://schemas.microsoft.com/office/thememl/2012/main" name="Presentation12" id="{92FA7603-310F-7243-8FB6-1CEAC1B140A9}" vid="{6A0DAA89-57D0-0441-84C3-D0FFC1D25F5B}"/>
    </a:ext>
  </a:extLst>
</a:theme>
</file>

<file path=docMetadata/LabelInfo.xml><?xml version="1.0" encoding="utf-8"?>
<clbl:labelList xmlns:clbl="http://schemas.microsoft.com/office/2020/mipLabelMetadata">
  <clbl:label id="{9e767a3e-36d8-4341-a9b3-8a01d66037db}" enabled="1" method="Privileged" siteId="{0159e9d0-09a0-4edf-96ba-a3deea363c28}" contentBits="0" removed="0"/>
</clbl:labelList>
</file>

<file path=docProps/app.xml><?xml version="1.0" encoding="utf-8"?>
<Properties xmlns="http://schemas.openxmlformats.org/officeDocument/2006/extended-properties" xmlns:vt="http://schemas.openxmlformats.org/officeDocument/2006/docPropsVTypes">
  <TotalTime>20</TotalTime>
  <Words>48</Words>
  <Application>Microsoft Macintosh PowerPoint</Application>
  <PresentationFormat>Widescreen</PresentationFormat>
  <Paragraphs>13</Paragraphs>
  <Slides>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vt:i4>
      </vt:variant>
    </vt:vector>
  </HeadingPairs>
  <TitlesOfParts>
    <vt:vector size="11" baseType="lpstr">
      <vt:lpstr>Arial</vt:lpstr>
      <vt:lpstr>Arial Narrow</vt:lpstr>
      <vt:lpstr>Barlow Condensed Light</vt:lpstr>
      <vt:lpstr>Barlow Condensed Thin</vt:lpstr>
      <vt:lpstr>Calibre</vt:lpstr>
      <vt:lpstr>Calibre Light</vt:lpstr>
      <vt:lpstr>Calibre Medium</vt:lpstr>
      <vt:lpstr>Calibre Semibold</vt:lpstr>
      <vt:lpstr>SwissReSansOTLight</vt:lpstr>
      <vt:lpstr>Figures Master - 20210903</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Kalwakurthy, Akhil @ Global D&amp;T Contractor</dc:creator>
  <cp:lastModifiedBy>Jain Prateek</cp:lastModifiedBy>
  <cp:revision>14</cp:revision>
  <dcterms:created xsi:type="dcterms:W3CDTF">2025-11-11T11:26:51Z</dcterms:created>
  <dcterms:modified xsi:type="dcterms:W3CDTF">2026-01-20T08:19:41Z</dcterms:modified>
</cp:coreProperties>
</file>