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9"/>
  </p:notesMasterIdLst>
  <p:handoutMasterIdLst>
    <p:handoutMasterId r:id="rId30"/>
  </p:handoutMasterIdLst>
  <p:sldIdLst>
    <p:sldId id="2076137655" r:id="rId21"/>
    <p:sldId id="2076137654" r:id="rId22"/>
    <p:sldId id="2076137665" r:id="rId23"/>
    <p:sldId id="2076137648" r:id="rId24"/>
    <p:sldId id="2076137650" r:id="rId25"/>
    <p:sldId id="2076137666" r:id="rId26"/>
    <p:sldId id="2076137667" r:id="rId27"/>
    <p:sldId id="2076137662" r:id="rId28"/>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327" autoAdjust="0"/>
  </p:normalViewPr>
  <p:slideViewPr>
    <p:cSldViewPr showGuides="1">
      <p:cViewPr varScale="1">
        <p:scale>
          <a:sx n="87" d="100"/>
          <a:sy n="87" d="100"/>
        </p:scale>
        <p:origin x="1332" y="1554"/>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6.xml"/><Relationship Id="rId3" Type="http://schemas.openxmlformats.org/officeDocument/2006/relationships/customXml" Target="../customXml/item3.xml"/><Relationship Id="rId21" Type="http://schemas.openxmlformats.org/officeDocument/2006/relationships/slide" Target="slides/slide1.xml"/><Relationship Id="rId34" Type="http://schemas.openxmlformats.org/officeDocument/2006/relationships/tableStyles" Target="tableStyles.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5.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4.xml"/><Relationship Id="rId32"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3.xml"/><Relationship Id="rId28" Type="http://schemas.openxmlformats.org/officeDocument/2006/relationships/slide" Target="slides/slide8.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ming, Chris @ CBRE Research" userId="41be4c9d-571a-4efe-84e0-d63b4221eede" providerId="ADAL" clId="{740802C5-7380-4965-B1F1-61AF3D2270BA}"/>
    <pc:docChg chg="custSel modSld">
      <pc:chgData name="Hemming, Chris @ CBRE Research" userId="41be4c9d-571a-4efe-84e0-d63b4221eede" providerId="ADAL" clId="{740802C5-7380-4965-B1F1-61AF3D2270BA}" dt="2024-11-12T14:57:40.899" v="237" actId="113"/>
      <pc:docMkLst>
        <pc:docMk/>
      </pc:docMkLst>
      <pc:sldChg chg="modSp mod">
        <pc:chgData name="Hemming, Chris @ CBRE Research" userId="41be4c9d-571a-4efe-84e0-d63b4221eede" providerId="ADAL" clId="{740802C5-7380-4965-B1F1-61AF3D2270BA}" dt="2024-11-12T14:55:35.367" v="235"/>
        <pc:sldMkLst>
          <pc:docMk/>
          <pc:sldMk cId="167935546" sldId="2076137650"/>
        </pc:sldMkLst>
      </pc:sldChg>
      <pc:sldChg chg="modSp mod">
        <pc:chgData name="Hemming, Chris @ CBRE Research" userId="41be4c9d-571a-4efe-84e0-d63b4221eede" providerId="ADAL" clId="{740802C5-7380-4965-B1F1-61AF3D2270BA}" dt="2024-10-29T14:06:14.524" v="39" actId="15"/>
        <pc:sldMkLst>
          <pc:docMk/>
          <pc:sldMk cId="2896402138" sldId="2076137654"/>
        </pc:sldMkLst>
      </pc:sldChg>
      <pc:sldChg chg="modSp mod">
        <pc:chgData name="Hemming, Chris @ CBRE Research" userId="41be4c9d-571a-4efe-84e0-d63b4221eede" providerId="ADAL" clId="{740802C5-7380-4965-B1F1-61AF3D2270BA}" dt="2024-11-12T14:42:47.722" v="112" actId="20577"/>
        <pc:sldMkLst>
          <pc:docMk/>
          <pc:sldMk cId="3580095625" sldId="2076137655"/>
        </pc:sldMkLst>
      </pc:sldChg>
      <pc:sldChg chg="addSp delSp modSp mod">
        <pc:chgData name="Hemming, Chris @ CBRE Research" userId="41be4c9d-571a-4efe-84e0-d63b4221eede" providerId="ADAL" clId="{740802C5-7380-4965-B1F1-61AF3D2270BA}" dt="2024-11-01T17:07:00.102" v="105" actId="962"/>
        <pc:sldMkLst>
          <pc:docMk/>
          <pc:sldMk cId="3681101468" sldId="2076137662"/>
        </pc:sldMkLst>
      </pc:sldChg>
      <pc:sldChg chg="modSp mod">
        <pc:chgData name="Hemming, Chris @ CBRE Research" userId="41be4c9d-571a-4efe-84e0-d63b4221eede" providerId="ADAL" clId="{740802C5-7380-4965-B1F1-61AF3D2270BA}" dt="2024-11-12T14:57:40.899" v="237" actId="113"/>
        <pc:sldMkLst>
          <pc:docMk/>
          <pc:sldMk cId="4113535129" sldId="2076137666"/>
        </pc:sldMkLst>
      </pc:sldChg>
    </pc:docChg>
  </pc:docChgLst>
  <pc:docChgLst>
    <pc:chgData name="Hemming, Chris @ CBRE Research" userId="41be4c9d-571a-4efe-84e0-d63b4221eede" providerId="ADAL" clId="{EB450024-E6F4-4B5F-B49F-4191FE1C6405}"/>
    <pc:docChg chg="modSld modMainMaster">
      <pc:chgData name="Hemming, Chris @ CBRE Research" userId="41be4c9d-571a-4efe-84e0-d63b4221eede" providerId="ADAL" clId="{EB450024-E6F4-4B5F-B49F-4191FE1C6405}" dt="2025-03-31T18:19:33.329" v="2" actId="207"/>
      <pc:docMkLst>
        <pc:docMk/>
      </pc:docMkLst>
      <pc:sldChg chg="addSp modSp">
        <pc:chgData name="Hemming, Chris @ CBRE Research" userId="41be4c9d-571a-4efe-84e0-d63b4221eede" providerId="ADAL" clId="{EB450024-E6F4-4B5F-B49F-4191FE1C6405}" dt="2025-03-31T18:19:24.364" v="1"/>
        <pc:sldMkLst>
          <pc:docMk/>
          <pc:sldMk cId="3681101468" sldId="2076137662"/>
        </pc:sldMkLst>
        <pc:spChg chg="add mod">
          <ac:chgData name="Hemming, Chris @ CBRE Research" userId="41be4c9d-571a-4efe-84e0-d63b4221eede" providerId="ADAL" clId="{EB450024-E6F4-4B5F-B49F-4191FE1C6405}" dt="2025-03-31T18:19:24.364" v="1"/>
          <ac:spMkLst>
            <pc:docMk/>
            <pc:sldMk cId="3681101468" sldId="2076137662"/>
            <ac:spMk id="2" creationId="{84995BF5-1748-874A-22B0-0EAD4E0B4F15}"/>
          </ac:spMkLst>
        </pc:spChg>
      </pc:sldChg>
      <pc:sldMasterChg chg="modSldLayout">
        <pc:chgData name="Hemming, Chris @ CBRE Research" userId="41be4c9d-571a-4efe-84e0-d63b4221eede" providerId="ADAL" clId="{EB450024-E6F4-4B5F-B49F-4191FE1C6405}" dt="2025-03-31T18:19:33.329" v="2" actId="207"/>
        <pc:sldMasterMkLst>
          <pc:docMk/>
          <pc:sldMasterMk cId="201101775" sldId="2147484491"/>
        </pc:sldMasterMkLst>
        <pc:sldLayoutChg chg="modSp mod">
          <pc:chgData name="Hemming, Chris @ CBRE Research" userId="41be4c9d-571a-4efe-84e0-d63b4221eede" providerId="ADAL" clId="{EB450024-E6F4-4B5F-B49F-4191FE1C6405}" dt="2025-03-31T18:19:33.329" v="2" actId="207"/>
          <pc:sldLayoutMkLst>
            <pc:docMk/>
            <pc:sldMasterMk cId="201101775" sldId="2147484491"/>
            <pc:sldLayoutMk cId="557618379" sldId="2147484578"/>
          </pc:sldLayoutMkLst>
          <pc:spChg chg="mod">
            <ac:chgData name="Hemming, Chris @ CBRE Research" userId="41be4c9d-571a-4efe-84e0-d63b4221eede" providerId="ADAL" clId="{EB450024-E6F4-4B5F-B49F-4191FE1C6405}" dt="2025-03-31T18:19:33.329" v="2" actId="207"/>
            <ac:spMkLst>
              <pc:docMk/>
              <pc:sldMasterMk cId="201101775" sldId="2147484491"/>
              <pc:sldLayoutMk cId="557618379" sldId="2147484578"/>
              <ac:spMk id="26" creationId="{F56DEEE1-982D-0D4B-AF8C-986AE25CF035}"/>
            </ac:spMkLst>
          </pc:spChg>
        </pc:sldLayoutChg>
      </pc:sldMasterChg>
    </pc:docChg>
  </pc:docChgLst>
  <pc:docChgLst>
    <pc:chgData name="Askew, Dan @ CBRE Research" userId="34d7f703-648d-4de7-abba-b0fb10b2b09f" providerId="ADAL" clId="{262E3BF5-0AA3-479E-8EA5-57C4ED645AC8}"/>
    <pc:docChg chg="custSel addSld modSld">
      <pc:chgData name="Askew, Dan @ CBRE Research" userId="34d7f703-648d-4de7-abba-b0fb10b2b09f" providerId="ADAL" clId="{262E3BF5-0AA3-479E-8EA5-57C4ED645AC8}" dt="2025-03-25T16:24:45.723" v="244" actId="27918"/>
      <pc:docMkLst>
        <pc:docMk/>
      </pc:docMkLst>
      <pc:sldChg chg="modSp">
        <pc:chgData name="Askew, Dan @ CBRE Research" userId="34d7f703-648d-4de7-abba-b0fb10b2b09f" providerId="ADAL" clId="{262E3BF5-0AA3-479E-8EA5-57C4ED645AC8}" dt="2025-03-24T16:22:14.409" v="240" actId="20577"/>
        <pc:sldMkLst>
          <pc:docMk/>
          <pc:sldMk cId="3300803627" sldId="2076137648"/>
        </pc:sldMkLst>
      </pc:sldChg>
      <pc:sldChg chg="modSp mod">
        <pc:chgData name="Askew, Dan @ CBRE Research" userId="34d7f703-648d-4de7-abba-b0fb10b2b09f" providerId="ADAL" clId="{262E3BF5-0AA3-479E-8EA5-57C4ED645AC8}" dt="2025-03-25T16:24:45.723" v="244" actId="27918"/>
        <pc:sldMkLst>
          <pc:docMk/>
          <pc:sldMk cId="2896402138" sldId="2076137654"/>
        </pc:sldMkLst>
      </pc:sldChg>
      <pc:sldChg chg="modSp">
        <pc:chgData name="Askew, Dan @ CBRE Research" userId="34d7f703-648d-4de7-abba-b0fb10b2b09f" providerId="ADAL" clId="{262E3BF5-0AA3-479E-8EA5-57C4ED645AC8}" dt="2025-03-24T16:21:15.843" v="230" actId="6549"/>
        <pc:sldMkLst>
          <pc:docMk/>
          <pc:sldMk cId="3580095625" sldId="2076137655"/>
        </pc:sldMkLst>
      </pc:sldChg>
      <pc:sldChg chg="modSp">
        <pc:chgData name="Askew, Dan @ CBRE Research" userId="34d7f703-648d-4de7-abba-b0fb10b2b09f" providerId="ADAL" clId="{262E3BF5-0AA3-479E-8EA5-57C4ED645AC8}" dt="2025-03-24T16:21:32.702" v="232" actId="6549"/>
        <pc:sldMkLst>
          <pc:docMk/>
          <pc:sldMk cId="768152085" sldId="2076137665"/>
        </pc:sldMkLst>
      </pc:sldChg>
      <pc:sldChg chg="addSp delSp modSp new mod">
        <pc:chgData name="Askew, Dan @ CBRE Research" userId="34d7f703-648d-4de7-abba-b0fb10b2b09f" providerId="ADAL" clId="{262E3BF5-0AA3-479E-8EA5-57C4ED645AC8}" dt="2025-03-17T19:51:30.534" v="182" actId="1076"/>
        <pc:sldMkLst>
          <pc:docMk/>
          <pc:sldMk cId="152871194" sldId="2076137667"/>
        </pc:sldMkLst>
      </pc:sldChg>
    </pc:docChg>
  </pc:docChgLst>
  <pc:docChgLst>
    <pc:chgData name="Askew, Dan @ CBRE Research" userId="34d7f703-648d-4de7-abba-b0fb10b2b09f" providerId="ADAL" clId="{984BA562-CB4F-41A5-897C-E652EF909218}"/>
    <pc:docChg chg="undo custSel addSld modSld modMainMaster">
      <pc:chgData name="Askew, Dan @ CBRE Research" userId="34d7f703-648d-4de7-abba-b0fb10b2b09f" providerId="ADAL" clId="{984BA562-CB4F-41A5-897C-E652EF909218}" dt="2024-10-08T17:45:50.420" v="1499" actId="20577"/>
      <pc:docMkLst>
        <pc:docMk/>
      </pc:docMkLst>
      <pc:sldChg chg="addSp delSp modSp mod">
        <pc:chgData name="Askew, Dan @ CBRE Research" userId="34d7f703-648d-4de7-abba-b0fb10b2b09f" providerId="ADAL" clId="{984BA562-CB4F-41A5-897C-E652EF909218}" dt="2024-10-08T17:41:27.309" v="1489" actId="255"/>
        <pc:sldMkLst>
          <pc:docMk/>
          <pc:sldMk cId="3300803627" sldId="2076137648"/>
        </pc:sldMkLst>
      </pc:sldChg>
      <pc:sldChg chg="addSp delSp modSp mod">
        <pc:chgData name="Askew, Dan @ CBRE Research" userId="34d7f703-648d-4de7-abba-b0fb10b2b09f" providerId="ADAL" clId="{984BA562-CB4F-41A5-897C-E652EF909218}" dt="2024-10-08T17:39:10.199" v="1410" actId="20577"/>
        <pc:sldMkLst>
          <pc:docMk/>
          <pc:sldMk cId="167935546" sldId="2076137650"/>
        </pc:sldMkLst>
      </pc:sldChg>
      <pc:sldChg chg="addSp delSp modSp mod">
        <pc:chgData name="Askew, Dan @ CBRE Research" userId="34d7f703-648d-4de7-abba-b0fb10b2b09f" providerId="ADAL" clId="{984BA562-CB4F-41A5-897C-E652EF909218}" dt="2024-10-08T16:42:35.830" v="643" actId="20577"/>
        <pc:sldMkLst>
          <pc:docMk/>
          <pc:sldMk cId="2896402138" sldId="2076137654"/>
        </pc:sldMkLst>
      </pc:sldChg>
      <pc:sldChg chg="addSp delSp modSp mod">
        <pc:chgData name="Askew, Dan @ CBRE Research" userId="34d7f703-648d-4de7-abba-b0fb10b2b09f" providerId="ADAL" clId="{984BA562-CB4F-41A5-897C-E652EF909218}" dt="2024-10-08T17:45:20.994" v="1493" actId="20577"/>
        <pc:sldMkLst>
          <pc:docMk/>
          <pc:sldMk cId="3580095625" sldId="2076137655"/>
        </pc:sldMkLst>
      </pc:sldChg>
      <pc:sldChg chg="addSp delSp modSp mod">
        <pc:chgData name="Askew, Dan @ CBRE Research" userId="34d7f703-648d-4de7-abba-b0fb10b2b09f" providerId="ADAL" clId="{984BA562-CB4F-41A5-897C-E652EF909218}" dt="2024-10-08T16:51:46.591" v="813" actId="20577"/>
        <pc:sldMkLst>
          <pc:docMk/>
          <pc:sldMk cId="768152085" sldId="2076137665"/>
        </pc:sldMkLst>
      </pc:sldChg>
      <pc:sldChg chg="delSp modSp add mod">
        <pc:chgData name="Askew, Dan @ CBRE Research" userId="34d7f703-648d-4de7-abba-b0fb10b2b09f" providerId="ADAL" clId="{984BA562-CB4F-41A5-897C-E652EF909218}" dt="2024-10-08T17:39:16.692" v="1423" actId="20577"/>
        <pc:sldMkLst>
          <pc:docMk/>
          <pc:sldMk cId="4113535129" sldId="2076137666"/>
        </pc:sldMkLst>
      </pc:sldChg>
      <pc:sldMasterChg chg="modSp mod">
        <pc:chgData name="Askew, Dan @ CBRE Research" userId="34d7f703-648d-4de7-abba-b0fb10b2b09f" providerId="ADAL" clId="{984BA562-CB4F-41A5-897C-E652EF909218}" dt="2024-10-08T17:45:50.420" v="1499" actId="20577"/>
        <pc:sldMasterMkLst>
          <pc:docMk/>
          <pc:sldMasterMk cId="201101775" sldId="2147484491"/>
        </pc:sldMasterMkLst>
      </pc:sldMasterChg>
    </pc:docChg>
  </pc:docChgLst>
  <pc:docChgLst>
    <pc:chgData name="Hemming, Chris @ CBRE Research" userId="41be4c9d-571a-4efe-84e0-d63b4221eede" providerId="ADAL" clId="{7AE9C633-8C14-4147-9363-6F8018EB64EC}"/>
    <pc:docChg chg="undo custSel modSld modMainMaster">
      <pc:chgData name="Hemming, Chris @ CBRE Research" userId="41be4c9d-571a-4efe-84e0-d63b4221eede" providerId="ADAL" clId="{7AE9C633-8C14-4147-9363-6F8018EB64EC}" dt="2024-10-25T14:50:11.981" v="327" actId="2711"/>
      <pc:docMkLst>
        <pc:docMk/>
      </pc:docMkLst>
      <pc:sldChg chg="addSp modSp mod">
        <pc:chgData name="Hemming, Chris @ CBRE Research" userId="41be4c9d-571a-4efe-84e0-d63b4221eede" providerId="ADAL" clId="{7AE9C633-8C14-4147-9363-6F8018EB64EC}" dt="2024-10-24T23:32:58.236" v="325" actId="962"/>
        <pc:sldMkLst>
          <pc:docMk/>
          <pc:sldMk cId="3300803627" sldId="2076137648"/>
        </pc:sldMkLst>
      </pc:sldChg>
      <pc:sldChg chg="modSp">
        <pc:chgData name="Hemming, Chris @ CBRE Research" userId="41be4c9d-571a-4efe-84e0-d63b4221eede" providerId="ADAL" clId="{7AE9C633-8C14-4147-9363-6F8018EB64EC}" dt="2024-10-17T15:36:42.173" v="285" actId="962"/>
        <pc:sldMkLst>
          <pc:docMk/>
          <pc:sldMk cId="167935546" sldId="2076137650"/>
        </pc:sldMkLst>
      </pc:sldChg>
      <pc:sldChg chg="addSp modSp mod">
        <pc:chgData name="Hemming, Chris @ CBRE Research" userId="41be4c9d-571a-4efe-84e0-d63b4221eede" providerId="ADAL" clId="{7AE9C633-8C14-4147-9363-6F8018EB64EC}" dt="2024-10-25T14:50:11.981" v="327" actId="2711"/>
        <pc:sldMkLst>
          <pc:docMk/>
          <pc:sldMk cId="2896402138" sldId="2076137654"/>
        </pc:sldMkLst>
      </pc:sldChg>
      <pc:sldChg chg="addSp delSp modSp mod">
        <pc:chgData name="Hemming, Chris @ CBRE Research" userId="41be4c9d-571a-4efe-84e0-d63b4221eede" providerId="ADAL" clId="{7AE9C633-8C14-4147-9363-6F8018EB64EC}" dt="2024-10-17T16:02:03.435" v="322" actId="20577"/>
        <pc:sldMkLst>
          <pc:docMk/>
          <pc:sldMk cId="3580095625" sldId="2076137655"/>
        </pc:sldMkLst>
      </pc:sldChg>
      <pc:sldChg chg="addSp modSp mod">
        <pc:chgData name="Hemming, Chris @ CBRE Research" userId="41be4c9d-571a-4efe-84e0-d63b4221eede" providerId="ADAL" clId="{7AE9C633-8C14-4147-9363-6F8018EB64EC}" dt="2024-10-17T15:33:22.002" v="262" actId="962"/>
        <pc:sldMkLst>
          <pc:docMk/>
          <pc:sldMk cId="768152085" sldId="2076137665"/>
        </pc:sldMkLst>
      </pc:sldChg>
      <pc:sldChg chg="modSp">
        <pc:chgData name="Hemming, Chris @ CBRE Research" userId="41be4c9d-571a-4efe-84e0-d63b4221eede" providerId="ADAL" clId="{7AE9C633-8C14-4147-9363-6F8018EB64EC}" dt="2024-10-17T15:37:02.086" v="287" actId="962"/>
        <pc:sldMkLst>
          <pc:docMk/>
          <pc:sldMk cId="4113535129" sldId="2076137666"/>
        </pc:sldMkLst>
      </pc:sldChg>
      <pc:sldMasterChg chg="modSp">
        <pc:chgData name="Hemming, Chris @ CBRE Research" userId="41be4c9d-571a-4efe-84e0-d63b4221eede" providerId="ADAL" clId="{7AE9C633-8C14-4147-9363-6F8018EB64EC}" dt="2024-10-21T20:12:36.604" v="324" actId="962"/>
        <pc:sldMasterMkLst>
          <pc:docMk/>
          <pc:sldMasterMk cId="201101775" sldId="2147484491"/>
        </pc:sldMasterMkLst>
      </pc:sldMasterChg>
    </pc:docChg>
  </pc:docChgLst>
  <pc:docChgLst>
    <pc:chgData name="Askew, Dan @ CBRE Research" userId="34d7f703-648d-4de7-abba-b0fb10b2b09f" providerId="ADAL" clId="{C06DD342-B54A-43E3-97BF-955055CF6DB0}"/>
    <pc:docChg chg="custSel modSld">
      <pc:chgData name="Askew, Dan @ CBRE Research" userId="34d7f703-648d-4de7-abba-b0fb10b2b09f" providerId="ADAL" clId="{C06DD342-B54A-43E3-97BF-955055CF6DB0}" dt="2024-12-13T17:28:08.218" v="147" actId="14100"/>
      <pc:docMkLst>
        <pc:docMk/>
      </pc:docMkLst>
      <pc:sldChg chg="modSp mod">
        <pc:chgData name="Askew, Dan @ CBRE Research" userId="34d7f703-648d-4de7-abba-b0fb10b2b09f" providerId="ADAL" clId="{C06DD342-B54A-43E3-97BF-955055CF6DB0}" dt="2024-12-13T17:28:08.218" v="147" actId="14100"/>
        <pc:sldMkLst>
          <pc:docMk/>
          <pc:sldMk cId="3681101468" sldId="2076137662"/>
        </pc:sldMkLst>
      </pc:sldChg>
    </pc:docChg>
  </pc:docChgLst>
  <pc:docChgLst>
    <pc:chgData name="Askew, Dan @ CBRE Research" userId="34d7f703-648d-4de7-abba-b0fb10b2b09f" providerId="ADAL" clId="{3BBFA970-DA22-4CCC-9C10-052757A6F727}"/>
    <pc:docChg chg="undo redo custSel modSld modMainMaster">
      <pc:chgData name="Askew, Dan @ CBRE Research" userId="34d7f703-648d-4de7-abba-b0fb10b2b09f" providerId="ADAL" clId="{3BBFA970-DA22-4CCC-9C10-052757A6F727}" dt="2024-10-08T21:59:32.926" v="746" actId="20577"/>
      <pc:docMkLst>
        <pc:docMk/>
      </pc:docMkLst>
      <pc:sldChg chg="delSp modSp mod">
        <pc:chgData name="Askew, Dan @ CBRE Research" userId="34d7f703-648d-4de7-abba-b0fb10b2b09f" providerId="ADAL" clId="{3BBFA970-DA22-4CCC-9C10-052757A6F727}" dt="2024-10-08T21:59:32.926" v="746" actId="20577"/>
        <pc:sldMkLst>
          <pc:docMk/>
          <pc:sldMk cId="3300803627" sldId="2076137648"/>
        </pc:sldMkLst>
      </pc:sldChg>
      <pc:sldChg chg="addSp delSp modSp mod">
        <pc:chgData name="Askew, Dan @ CBRE Research" userId="34d7f703-648d-4de7-abba-b0fb10b2b09f" providerId="ADAL" clId="{3BBFA970-DA22-4CCC-9C10-052757A6F727}" dt="2024-10-08T20:41:39.642" v="720"/>
        <pc:sldMkLst>
          <pc:docMk/>
          <pc:sldMk cId="167935546" sldId="2076137650"/>
        </pc:sldMkLst>
      </pc:sldChg>
      <pc:sldChg chg="addSp delSp modSp mod">
        <pc:chgData name="Askew, Dan @ CBRE Research" userId="34d7f703-648d-4de7-abba-b0fb10b2b09f" providerId="ADAL" clId="{3BBFA970-DA22-4CCC-9C10-052757A6F727}" dt="2024-10-08T21:59:15.118" v="736" actId="20577"/>
        <pc:sldMkLst>
          <pc:docMk/>
          <pc:sldMk cId="2896402138" sldId="2076137654"/>
        </pc:sldMkLst>
      </pc:sldChg>
      <pc:sldChg chg="modSp mod">
        <pc:chgData name="Askew, Dan @ CBRE Research" userId="34d7f703-648d-4de7-abba-b0fb10b2b09f" providerId="ADAL" clId="{3BBFA970-DA22-4CCC-9C10-052757A6F727}" dt="2024-10-08T21:59:06.409" v="732" actId="20577"/>
        <pc:sldMkLst>
          <pc:docMk/>
          <pc:sldMk cId="3580095625" sldId="2076137655"/>
        </pc:sldMkLst>
      </pc:sldChg>
      <pc:sldChg chg="modSp mod">
        <pc:chgData name="Askew, Dan @ CBRE Research" userId="34d7f703-648d-4de7-abba-b0fb10b2b09f" providerId="ADAL" clId="{3BBFA970-DA22-4CCC-9C10-052757A6F727}" dt="2024-10-08T21:59:23.558" v="740" actId="20577"/>
        <pc:sldMkLst>
          <pc:docMk/>
          <pc:sldMk cId="768152085" sldId="2076137665"/>
        </pc:sldMkLst>
      </pc:sldChg>
      <pc:sldChg chg="modSp mod">
        <pc:chgData name="Askew, Dan @ CBRE Research" userId="34d7f703-648d-4de7-abba-b0fb10b2b09f" providerId="ADAL" clId="{3BBFA970-DA22-4CCC-9C10-052757A6F727}" dt="2024-10-08T20:42:29.962" v="725" actId="20577"/>
        <pc:sldMkLst>
          <pc:docMk/>
          <pc:sldMk cId="4113535129" sldId="2076137666"/>
        </pc:sldMkLst>
      </pc:sldChg>
      <pc:sldMasterChg chg="modSldLayout">
        <pc:chgData name="Askew, Dan @ CBRE Research" userId="34d7f703-648d-4de7-abba-b0fb10b2b09f" providerId="ADAL" clId="{3BBFA970-DA22-4CCC-9C10-052757A6F727}" dt="2024-10-08T21:50:18.644" v="730"/>
        <pc:sldMasterMkLst>
          <pc:docMk/>
          <pc:sldMasterMk cId="201101775" sldId="2147484491"/>
        </pc:sldMasterMkLst>
        <pc:sldLayoutChg chg="modSp mod">
          <pc:chgData name="Askew, Dan @ CBRE Research" userId="34d7f703-648d-4de7-abba-b0fb10b2b09f" providerId="ADAL" clId="{3BBFA970-DA22-4CCC-9C10-052757A6F727}" dt="2024-10-08T21:50:11.922" v="728" actId="14100"/>
          <pc:sldLayoutMkLst>
            <pc:docMk/>
            <pc:sldMasterMk cId="201101775" sldId="2147484491"/>
            <pc:sldLayoutMk cId="3192801712" sldId="2147484576"/>
          </pc:sldLayoutMkLst>
        </pc:sldLayoutChg>
        <pc:sldLayoutChg chg="modSp mod">
          <pc:chgData name="Askew, Dan @ CBRE Research" userId="34d7f703-648d-4de7-abba-b0fb10b2b09f" providerId="ADAL" clId="{3BBFA970-DA22-4CCC-9C10-052757A6F727}" dt="2024-10-08T21:50:18.644" v="730"/>
          <pc:sldLayoutMkLst>
            <pc:docMk/>
            <pc:sldMasterMk cId="201101775" sldId="2147484491"/>
            <pc:sldLayoutMk cId="3248283139" sldId="2147484577"/>
          </pc:sldLayoutMkLst>
        </pc:sldLayoutChg>
        <pc:sldLayoutChg chg="modSp mod">
          <pc:chgData name="Askew, Dan @ CBRE Research" userId="34d7f703-648d-4de7-abba-b0fb10b2b09f" providerId="ADAL" clId="{3BBFA970-DA22-4CCC-9C10-052757A6F727}" dt="2024-10-08T21:50:16.209" v="729"/>
          <pc:sldLayoutMkLst>
            <pc:docMk/>
            <pc:sldMasterMk cId="201101775" sldId="2147484491"/>
            <pc:sldLayoutMk cId="557618379" sldId="2147484578"/>
          </pc:sldLayoutMkLst>
        </pc:sldLayoutChg>
      </pc:sldMasterChg>
    </pc:docChg>
  </pc:docChgLst>
  <pc:docChgLst>
    <pc:chgData name="Askew, Dan @ CBRE Research" userId="34d7f703-648d-4de7-abba-b0fb10b2b09f" providerId="ADAL" clId="{5F078461-F61E-4C0A-8EBE-277B8A89E046}"/>
    <pc:docChg chg="modSld">
      <pc:chgData name="Askew, Dan @ CBRE Research" userId="34d7f703-648d-4de7-abba-b0fb10b2b09f" providerId="ADAL" clId="{5F078461-F61E-4C0A-8EBE-277B8A89E046}" dt="2025-06-24T16:22:48.895" v="5" actId="1076"/>
      <pc:docMkLst>
        <pc:docMk/>
      </pc:docMkLst>
      <pc:sldChg chg="modSp mod">
        <pc:chgData name="Askew, Dan @ CBRE Research" userId="34d7f703-648d-4de7-abba-b0fb10b2b09f" providerId="ADAL" clId="{5F078461-F61E-4C0A-8EBE-277B8A89E046}" dt="2025-06-24T16:22:48.895" v="5" actId="1076"/>
        <pc:sldMkLst>
          <pc:docMk/>
          <pc:sldMk cId="768152085" sldId="2076137665"/>
        </pc:sldMkLst>
        <pc:spChg chg="mod">
          <ac:chgData name="Askew, Dan @ CBRE Research" userId="34d7f703-648d-4de7-abba-b0fb10b2b09f" providerId="ADAL" clId="{5F078461-F61E-4C0A-8EBE-277B8A89E046}" dt="2025-06-24T16:22:48.895" v="5" actId="1076"/>
          <ac:spMkLst>
            <pc:docMk/>
            <pc:sldMk cId="768152085" sldId="2076137665"/>
            <ac:spMk id="4" creationId="{BB9DC703-A368-4A34-C09A-6FD1E0F84F16}"/>
          </ac:spMkLst>
        </pc:spChg>
        <pc:spChg chg="mod">
          <ac:chgData name="Askew, Dan @ CBRE Research" userId="34d7f703-648d-4de7-abba-b0fb10b2b09f" providerId="ADAL" clId="{5F078461-F61E-4C0A-8EBE-277B8A89E046}" dt="2025-06-24T16:22:42.078" v="4" actId="1076"/>
          <ac:spMkLst>
            <pc:docMk/>
            <pc:sldMk cId="768152085" sldId="2076137665"/>
            <ac:spMk id="8" creationId="{7A90F586-A5C2-454D-0729-E8B536723FFC}"/>
          </ac:spMkLst>
        </pc:spChg>
        <pc:spChg chg="mod">
          <ac:chgData name="Askew, Dan @ CBRE Research" userId="34d7f703-648d-4de7-abba-b0fb10b2b09f" providerId="ADAL" clId="{5F078461-F61E-4C0A-8EBE-277B8A89E046}" dt="2025-06-24T16:22:01.167" v="3" actId="179"/>
          <ac:spMkLst>
            <pc:docMk/>
            <pc:sldMk cId="768152085" sldId="2076137665"/>
            <ac:spMk id="11" creationId="{8FFEFE25-1167-4C8B-991D-D4B800FC5B6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36321274159195E-2"/>
          <c:y val="0.11545351954811119"/>
          <c:w val="0.91118750517454994"/>
          <c:h val="0.6213800432105665"/>
        </c:manualLayout>
      </c:layout>
      <c:barChart>
        <c:barDir val="col"/>
        <c:grouping val="clustered"/>
        <c:varyColors val="0"/>
        <c:ser>
          <c:idx val="0"/>
          <c:order val="0"/>
          <c:tx>
            <c:strRef>
              <c:f>Sheet1!$B$1</c:f>
              <c:strCache>
                <c:ptCount val="1"/>
                <c:pt idx="0">
                  <c:v>Net Absorption</c:v>
                </c:pt>
              </c:strCache>
            </c:strRef>
          </c:tx>
          <c:spPr>
            <a:solidFill>
              <a:schemeClr val="tx1"/>
            </a:solidFill>
            <a:ln>
              <a:noFill/>
            </a:ln>
            <a:effectLst/>
          </c:spPr>
          <c:invertIfNegative val="0"/>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General</c:formatCode>
                <c:ptCount val="19"/>
                <c:pt idx="0">
                  <c:v>1189309</c:v>
                </c:pt>
                <c:pt idx="1">
                  <c:v>818178</c:v>
                </c:pt>
                <c:pt idx="2">
                  <c:v>5826737</c:v>
                </c:pt>
                <c:pt idx="3">
                  <c:v>2422052</c:v>
                </c:pt>
                <c:pt idx="4">
                  <c:v>3974653</c:v>
                </c:pt>
                <c:pt idx="5">
                  <c:v>2171540</c:v>
                </c:pt>
                <c:pt idx="6">
                  <c:v>5259113</c:v>
                </c:pt>
                <c:pt idx="7">
                  <c:v>3031162</c:v>
                </c:pt>
                <c:pt idx="8">
                  <c:v>3054232</c:v>
                </c:pt>
                <c:pt idx="9">
                  <c:v>2650641</c:v>
                </c:pt>
                <c:pt idx="10">
                  <c:v>1300213</c:v>
                </c:pt>
                <c:pt idx="11">
                  <c:v>529376</c:v>
                </c:pt>
                <c:pt idx="12">
                  <c:v>1840255</c:v>
                </c:pt>
                <c:pt idx="13">
                  <c:v>2724274</c:v>
                </c:pt>
                <c:pt idx="14">
                  <c:v>696054</c:v>
                </c:pt>
                <c:pt idx="15">
                  <c:v>1736103</c:v>
                </c:pt>
                <c:pt idx="16">
                  <c:v>-547721</c:v>
                </c:pt>
                <c:pt idx="17">
                  <c:v>3342016</c:v>
                </c:pt>
                <c:pt idx="18">
                  <c:v>1406995</c:v>
                </c:pt>
              </c:numCache>
            </c:numRef>
          </c:val>
          <c:extLst>
            <c:ext xmlns:c16="http://schemas.microsoft.com/office/drawing/2014/chart" uri="{C3380CC4-5D6E-409C-BE32-E72D297353CC}">
              <c16:uniqueId val="{00000000-F40F-4C00-A150-28BF5AD36956}"/>
            </c:ext>
          </c:extLst>
        </c:ser>
        <c:ser>
          <c:idx val="1"/>
          <c:order val="1"/>
          <c:tx>
            <c:strRef>
              <c:f>Sheet1!$C$1</c:f>
              <c:strCache>
                <c:ptCount val="1"/>
                <c:pt idx="0">
                  <c:v>Deliveries</c:v>
                </c:pt>
              </c:strCache>
            </c:strRef>
          </c:tx>
          <c:spPr>
            <a:solidFill>
              <a:schemeClr val="bg2"/>
            </a:solidFill>
            <a:ln>
              <a:noFill/>
            </a:ln>
            <a:effectLst/>
          </c:spPr>
          <c:invertIfNegative val="0"/>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Sheet1!$C$2:$C$20</c:f>
              <c:numCache>
                <c:formatCode>General</c:formatCode>
                <c:ptCount val="19"/>
                <c:pt idx="0">
                  <c:v>2037649</c:v>
                </c:pt>
                <c:pt idx="1">
                  <c:v>2880952</c:v>
                </c:pt>
                <c:pt idx="2">
                  <c:v>5549857</c:v>
                </c:pt>
                <c:pt idx="3">
                  <c:v>654372</c:v>
                </c:pt>
                <c:pt idx="4">
                  <c:v>2701850</c:v>
                </c:pt>
                <c:pt idx="5">
                  <c:v>1714387</c:v>
                </c:pt>
                <c:pt idx="6">
                  <c:v>3266304</c:v>
                </c:pt>
                <c:pt idx="7">
                  <c:v>1028935</c:v>
                </c:pt>
                <c:pt idx="8">
                  <c:v>1399785</c:v>
                </c:pt>
                <c:pt idx="9">
                  <c:v>3954277</c:v>
                </c:pt>
                <c:pt idx="10">
                  <c:v>2728151</c:v>
                </c:pt>
                <c:pt idx="11">
                  <c:v>4842416</c:v>
                </c:pt>
                <c:pt idx="12">
                  <c:v>5687063</c:v>
                </c:pt>
                <c:pt idx="13">
                  <c:v>3081153</c:v>
                </c:pt>
                <c:pt idx="14">
                  <c:v>3971440</c:v>
                </c:pt>
                <c:pt idx="15">
                  <c:v>4320415</c:v>
                </c:pt>
                <c:pt idx="16">
                  <c:v>1513432</c:v>
                </c:pt>
                <c:pt idx="17">
                  <c:v>2526058</c:v>
                </c:pt>
                <c:pt idx="18">
                  <c:v>1969484</c:v>
                </c:pt>
              </c:numCache>
            </c:numRef>
          </c:val>
          <c:extLst>
            <c:ext xmlns:c16="http://schemas.microsoft.com/office/drawing/2014/chart" uri="{C3380CC4-5D6E-409C-BE32-E72D297353CC}">
              <c16:uniqueId val="{00000001-F40F-4C00-A150-28BF5AD36956}"/>
            </c:ext>
          </c:extLst>
        </c:ser>
        <c:dLbls>
          <c:showLegendKey val="0"/>
          <c:showVal val="0"/>
          <c:showCatName val="0"/>
          <c:showSerName val="0"/>
          <c:showPercent val="0"/>
          <c:showBubbleSize val="0"/>
        </c:dLbls>
        <c:gapWidth val="100"/>
        <c:axId val="1551401488"/>
        <c:axId val="1551401848"/>
      </c:barChart>
      <c:lineChart>
        <c:grouping val="standard"/>
        <c:varyColors val="0"/>
        <c:ser>
          <c:idx val="2"/>
          <c:order val="2"/>
          <c:tx>
            <c:strRef>
              <c:f>Sheet1!$D$1</c:f>
              <c:strCache>
                <c:ptCount val="1"/>
                <c:pt idx="0">
                  <c:v>Vacancy Rate</c:v>
                </c:pt>
              </c:strCache>
            </c:strRef>
          </c:tx>
          <c:spPr>
            <a:ln w="28575" cap="rnd">
              <a:solidFill>
                <a:srgbClr val="17E88F"/>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Sheet1!$D$2:$D$20</c:f>
              <c:numCache>
                <c:formatCode>General</c:formatCode>
                <c:ptCount val="19"/>
                <c:pt idx="0">
                  <c:v>5.77</c:v>
                </c:pt>
                <c:pt idx="1">
                  <c:v>6.1</c:v>
                </c:pt>
                <c:pt idx="2">
                  <c:v>7.81</c:v>
                </c:pt>
                <c:pt idx="3">
                  <c:v>6.09</c:v>
                </c:pt>
                <c:pt idx="4">
                  <c:v>5.13</c:v>
                </c:pt>
                <c:pt idx="5">
                  <c:v>5.93</c:v>
                </c:pt>
                <c:pt idx="6">
                  <c:v>5.03</c:v>
                </c:pt>
                <c:pt idx="7">
                  <c:v>3.67</c:v>
                </c:pt>
                <c:pt idx="8">
                  <c:v>2.09</c:v>
                </c:pt>
                <c:pt idx="9">
                  <c:v>2.21</c:v>
                </c:pt>
                <c:pt idx="10">
                  <c:v>1.75</c:v>
                </c:pt>
                <c:pt idx="11">
                  <c:v>3.18</c:v>
                </c:pt>
                <c:pt idx="12">
                  <c:v>5.1100000000000003</c:v>
                </c:pt>
                <c:pt idx="13">
                  <c:v>5.21</c:v>
                </c:pt>
                <c:pt idx="14">
                  <c:v>6.17</c:v>
                </c:pt>
                <c:pt idx="15">
                  <c:v>7.2</c:v>
                </c:pt>
                <c:pt idx="16">
                  <c:v>7.88</c:v>
                </c:pt>
                <c:pt idx="17">
                  <c:v>7.54</c:v>
                </c:pt>
                <c:pt idx="18">
                  <c:v>7.79</c:v>
                </c:pt>
              </c:numCache>
            </c:numRef>
          </c:val>
          <c:smooth val="0"/>
          <c:extLst>
            <c:ext xmlns:c16="http://schemas.microsoft.com/office/drawing/2014/chart" uri="{C3380CC4-5D6E-409C-BE32-E72D297353CC}">
              <c16:uniqueId val="{00000002-F40F-4C00-A150-28BF5AD36956}"/>
            </c:ext>
          </c:extLst>
        </c:ser>
        <c:dLbls>
          <c:showLegendKey val="0"/>
          <c:showVal val="0"/>
          <c:showCatName val="0"/>
          <c:showSerName val="0"/>
          <c:showPercent val="0"/>
          <c:showBubbleSize val="0"/>
        </c:dLbls>
        <c:marker val="1"/>
        <c:smooth val="0"/>
        <c:axId val="1551359728"/>
        <c:axId val="1551345688"/>
      </c:lineChart>
      <c:catAx>
        <c:axId val="155140148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551401848"/>
        <c:crosses val="autoZero"/>
        <c:auto val="1"/>
        <c:lblAlgn val="ctr"/>
        <c:lblOffset val="100"/>
        <c:noMultiLvlLbl val="0"/>
      </c:catAx>
      <c:valAx>
        <c:axId val="15514018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Sq. Ft.</a:t>
                </a:r>
                <a:r>
                  <a:rPr lang="en-US" baseline="0" dirty="0"/>
                  <a:t> millions</a:t>
                </a:r>
                <a:endParaRPr lang="en-US" dirty="0"/>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0.0_);\(#,##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551401488"/>
        <c:crosses val="autoZero"/>
        <c:crossBetween val="between"/>
        <c:dispUnits>
          <c:builtInUnit val="millions"/>
        </c:dispUnits>
      </c:valAx>
      <c:valAx>
        <c:axId val="1551345688"/>
        <c:scaling>
          <c:orientation val="minMax"/>
        </c:scaling>
        <c:delete val="0"/>
        <c:axPos val="r"/>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a:t>Vacancy %</a:t>
                </a:r>
              </a:p>
            </c:rich>
          </c:tx>
          <c:layout>
            <c:manualLayout>
              <c:xMode val="edge"/>
              <c:yMode val="edge"/>
              <c:x val="0.89644654039665805"/>
              <c:y val="0"/>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551359728"/>
        <c:crosses val="max"/>
        <c:crossBetween val="between"/>
      </c:valAx>
      <c:catAx>
        <c:axId val="1551359728"/>
        <c:scaling>
          <c:orientation val="minMax"/>
        </c:scaling>
        <c:delete val="1"/>
        <c:axPos val="b"/>
        <c:numFmt formatCode="General" sourceLinked="1"/>
        <c:majorTickMark val="out"/>
        <c:minorTickMark val="none"/>
        <c:tickLblPos val="nextTo"/>
        <c:crossAx val="1551345688"/>
        <c:crosses val="autoZero"/>
        <c:auto val="1"/>
        <c:lblAlgn val="ctr"/>
        <c:lblOffset val="100"/>
        <c:noMultiLvlLbl val="0"/>
      </c:catAx>
      <c:spPr>
        <a:noFill/>
        <a:ln>
          <a:noFill/>
        </a:ln>
        <a:effectLst/>
      </c:spPr>
    </c:plotArea>
    <c:legend>
      <c:legendPos val="b"/>
      <c:layout>
        <c:manualLayout>
          <c:xMode val="edge"/>
          <c:yMode val="edge"/>
          <c:x val="0.20822810222053217"/>
          <c:y val="0.92339885864081184"/>
          <c:w val="0.60260500581381293"/>
          <c:h val="7.6601141359188218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374353868145507E-2"/>
          <c:y val="9.9347378874937914E-2"/>
          <c:w val="0.94562564613185451"/>
          <c:h val="0.64452458645372035"/>
        </c:manualLayout>
      </c:layout>
      <c:lineChart>
        <c:grouping val="standard"/>
        <c:varyColors val="0"/>
        <c:ser>
          <c:idx val="0"/>
          <c:order val="0"/>
          <c:tx>
            <c:strRef>
              <c:f>Sheet1!$B$1</c:f>
              <c:strCache>
                <c:ptCount val="1"/>
                <c:pt idx="0">
                  <c:v>Overall</c:v>
                </c:pt>
              </c:strCache>
            </c:strRef>
          </c:tx>
          <c:spPr>
            <a:ln w="28575" cap="rnd">
              <a:solidFill>
                <a:srgbClr val="435254"/>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General</c:formatCode>
                <c:ptCount val="19"/>
                <c:pt idx="0">
                  <c:v>5.77</c:v>
                </c:pt>
                <c:pt idx="1">
                  <c:v>6.1</c:v>
                </c:pt>
                <c:pt idx="2">
                  <c:v>7.81</c:v>
                </c:pt>
                <c:pt idx="3">
                  <c:v>6.09</c:v>
                </c:pt>
                <c:pt idx="4">
                  <c:v>5.13</c:v>
                </c:pt>
                <c:pt idx="5">
                  <c:v>5.93</c:v>
                </c:pt>
                <c:pt idx="6">
                  <c:v>5.03</c:v>
                </c:pt>
                <c:pt idx="7">
                  <c:v>3.67</c:v>
                </c:pt>
                <c:pt idx="8">
                  <c:v>2.09</c:v>
                </c:pt>
                <c:pt idx="9">
                  <c:v>2.21</c:v>
                </c:pt>
                <c:pt idx="10">
                  <c:v>1.75</c:v>
                </c:pt>
                <c:pt idx="11">
                  <c:v>3.18</c:v>
                </c:pt>
                <c:pt idx="12">
                  <c:v>5.1100000000000003</c:v>
                </c:pt>
                <c:pt idx="13">
                  <c:v>5.21</c:v>
                </c:pt>
                <c:pt idx="14">
                  <c:v>6.17</c:v>
                </c:pt>
                <c:pt idx="15">
                  <c:v>7.2</c:v>
                </c:pt>
                <c:pt idx="16">
                  <c:v>7.88</c:v>
                </c:pt>
                <c:pt idx="17">
                  <c:v>7.54</c:v>
                </c:pt>
                <c:pt idx="18">
                  <c:v>7.79</c:v>
                </c:pt>
              </c:numCache>
            </c:numRef>
          </c:val>
          <c:smooth val="0"/>
          <c:extLst>
            <c:ext xmlns:c16="http://schemas.microsoft.com/office/drawing/2014/chart" uri="{C3380CC4-5D6E-409C-BE32-E72D297353CC}">
              <c16:uniqueId val="{00000000-D2C0-40EB-9A9A-D863D625FEDE}"/>
            </c:ext>
          </c:extLst>
        </c:ser>
        <c:ser>
          <c:idx val="1"/>
          <c:order val="1"/>
          <c:tx>
            <c:strRef>
              <c:f>Sheet1!$C$1</c:f>
              <c:strCache>
                <c:ptCount val="1"/>
                <c:pt idx="0">
                  <c:v>Direct</c:v>
                </c:pt>
              </c:strCache>
            </c:strRef>
          </c:tx>
          <c:spPr>
            <a:ln w="28575" cap="rnd">
              <a:solidFill>
                <a:schemeClr val="bg2"/>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Sheet1!$C$2:$C$20</c:f>
              <c:numCache>
                <c:formatCode>General</c:formatCode>
                <c:ptCount val="19"/>
                <c:pt idx="0">
                  <c:v>5.52</c:v>
                </c:pt>
                <c:pt idx="1">
                  <c:v>5.86</c:v>
                </c:pt>
                <c:pt idx="2">
                  <c:v>7.22</c:v>
                </c:pt>
                <c:pt idx="3">
                  <c:v>5.49</c:v>
                </c:pt>
                <c:pt idx="4">
                  <c:v>4.79</c:v>
                </c:pt>
                <c:pt idx="5">
                  <c:v>5.54</c:v>
                </c:pt>
                <c:pt idx="6">
                  <c:v>4.5999999999999996</c:v>
                </c:pt>
                <c:pt idx="7">
                  <c:v>3.38</c:v>
                </c:pt>
                <c:pt idx="8">
                  <c:v>1.91</c:v>
                </c:pt>
                <c:pt idx="9">
                  <c:v>1.99</c:v>
                </c:pt>
                <c:pt idx="10">
                  <c:v>1.58</c:v>
                </c:pt>
                <c:pt idx="11">
                  <c:v>2.94</c:v>
                </c:pt>
                <c:pt idx="12">
                  <c:v>4.16</c:v>
                </c:pt>
                <c:pt idx="13">
                  <c:v>4.12</c:v>
                </c:pt>
                <c:pt idx="14">
                  <c:v>5.16</c:v>
                </c:pt>
                <c:pt idx="15">
                  <c:v>6.47</c:v>
                </c:pt>
                <c:pt idx="16">
                  <c:v>6.55</c:v>
                </c:pt>
                <c:pt idx="17">
                  <c:v>6.82</c:v>
                </c:pt>
                <c:pt idx="18">
                  <c:v>7.27</c:v>
                </c:pt>
              </c:numCache>
            </c:numRef>
          </c:val>
          <c:smooth val="0"/>
          <c:extLst>
            <c:ext xmlns:c16="http://schemas.microsoft.com/office/drawing/2014/chart" uri="{C3380CC4-5D6E-409C-BE32-E72D297353CC}">
              <c16:uniqueId val="{00000001-D2C0-40EB-9A9A-D863D625FEDE}"/>
            </c:ext>
          </c:extLst>
        </c:ser>
        <c:ser>
          <c:idx val="2"/>
          <c:order val="2"/>
          <c:tx>
            <c:strRef>
              <c:f>Sheet1!$D$1</c:f>
              <c:strCache>
                <c:ptCount val="1"/>
                <c:pt idx="0">
                  <c:v>Sublease</c:v>
                </c:pt>
              </c:strCache>
            </c:strRef>
          </c:tx>
          <c:spPr>
            <a:ln w="28575" cap="rnd">
              <a:solidFill>
                <a:schemeClr val="tx2"/>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Sheet1!$D$2:$D$20</c:f>
              <c:numCache>
                <c:formatCode>#,##0.00</c:formatCode>
                <c:ptCount val="19"/>
                <c:pt idx="0">
                  <c:v>0.24</c:v>
                </c:pt>
                <c:pt idx="1">
                  <c:v>0.24</c:v>
                </c:pt>
                <c:pt idx="2">
                  <c:v>0.59</c:v>
                </c:pt>
                <c:pt idx="3">
                  <c:v>0.59</c:v>
                </c:pt>
                <c:pt idx="4">
                  <c:v>0.34</c:v>
                </c:pt>
                <c:pt idx="5">
                  <c:v>0.39</c:v>
                </c:pt>
                <c:pt idx="6">
                  <c:v>0.43</c:v>
                </c:pt>
                <c:pt idx="7">
                  <c:v>0.28999999999999998</c:v>
                </c:pt>
                <c:pt idx="8">
                  <c:v>0.18</c:v>
                </c:pt>
                <c:pt idx="9">
                  <c:v>0.22</c:v>
                </c:pt>
                <c:pt idx="10">
                  <c:v>0.17</c:v>
                </c:pt>
                <c:pt idx="11">
                  <c:v>0.23</c:v>
                </c:pt>
                <c:pt idx="12">
                  <c:v>0.95</c:v>
                </c:pt>
                <c:pt idx="13">
                  <c:v>1.0900000000000001</c:v>
                </c:pt>
                <c:pt idx="14">
                  <c:v>1.02</c:v>
                </c:pt>
                <c:pt idx="15">
                  <c:v>0.73</c:v>
                </c:pt>
                <c:pt idx="16">
                  <c:v>1.33</c:v>
                </c:pt>
                <c:pt idx="17">
                  <c:v>0.72</c:v>
                </c:pt>
                <c:pt idx="18">
                  <c:v>0.52</c:v>
                </c:pt>
              </c:numCache>
            </c:numRef>
          </c:val>
          <c:smooth val="0"/>
          <c:extLst>
            <c:ext xmlns:c16="http://schemas.microsoft.com/office/drawing/2014/chart" uri="{C3380CC4-5D6E-409C-BE32-E72D297353CC}">
              <c16:uniqueId val="{00000002-D2C0-40EB-9A9A-D863D625FEDE}"/>
            </c:ext>
          </c:extLst>
        </c:ser>
        <c:dLbls>
          <c:showLegendKey val="0"/>
          <c:showVal val="0"/>
          <c:showCatName val="0"/>
          <c:showSerName val="0"/>
          <c:showPercent val="0"/>
          <c:showBubbleSize val="0"/>
        </c:dLbls>
        <c:smooth val="0"/>
        <c:axId val="1259348136"/>
        <c:axId val="1259346336"/>
      </c:lineChart>
      <c:catAx>
        <c:axId val="1259348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259346336"/>
        <c:crosses val="autoZero"/>
        <c:auto val="1"/>
        <c:lblAlgn val="ctr"/>
        <c:lblOffset val="100"/>
        <c:noMultiLvlLbl val="0"/>
      </c:catAx>
      <c:valAx>
        <c:axId val="1259346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Availability Rate (%)</a:t>
                </a:r>
              </a:p>
            </c:rich>
          </c:tx>
          <c:layout>
            <c:manualLayout>
              <c:xMode val="edge"/>
              <c:yMode val="edge"/>
              <c:x val="0"/>
              <c:y val="1.1953271132715813E-3"/>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259348136"/>
        <c:crosses val="autoZero"/>
        <c:crossBetween val="between"/>
      </c:valAx>
      <c:spPr>
        <a:noFill/>
        <a:ln>
          <a:noFill/>
        </a:ln>
        <a:effectLst/>
      </c:spPr>
    </c:plotArea>
    <c:legend>
      <c:legendPos val="b"/>
      <c:layout>
        <c:manualLayout>
          <c:xMode val="edge"/>
          <c:yMode val="edge"/>
          <c:x val="0.29333708465307251"/>
          <c:y val="0.91034733033904192"/>
          <c:w val="0.41632670331530208"/>
          <c:h val="8.2064878608923891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181184347325315E-2"/>
          <c:y val="9.6136249918190086E-2"/>
          <c:w val="0.90422997934576099"/>
          <c:h val="0.71505239001053489"/>
        </c:manualLayout>
      </c:layout>
      <c:lineChart>
        <c:grouping val="standard"/>
        <c:varyColors val="0"/>
        <c:ser>
          <c:idx val="0"/>
          <c:order val="0"/>
          <c:tx>
            <c:strRef>
              <c:f>Sheet1!$B$1</c:f>
              <c:strCache>
                <c:ptCount val="1"/>
                <c:pt idx="0">
                  <c:v>Series 1</c:v>
                </c:pt>
              </c:strCache>
            </c:strRef>
          </c:tx>
          <c:spPr>
            <a:ln w="28575" cap="rnd">
              <a:solidFill>
                <a:schemeClr val="tx1"/>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#,##0.00</c:formatCode>
                <c:ptCount val="19"/>
                <c:pt idx="0">
                  <c:v>4</c:v>
                </c:pt>
                <c:pt idx="1">
                  <c:v>4.05</c:v>
                </c:pt>
                <c:pt idx="2">
                  <c:v>4.07</c:v>
                </c:pt>
                <c:pt idx="3">
                  <c:v>4.08</c:v>
                </c:pt>
                <c:pt idx="4">
                  <c:v>4.28</c:v>
                </c:pt>
                <c:pt idx="5">
                  <c:v>4.37</c:v>
                </c:pt>
                <c:pt idx="6">
                  <c:v>4.5599999999999996</c:v>
                </c:pt>
                <c:pt idx="7">
                  <c:v>4.6500000000000004</c:v>
                </c:pt>
                <c:pt idx="8">
                  <c:v>5.5</c:v>
                </c:pt>
                <c:pt idx="9">
                  <c:v>5.89</c:v>
                </c:pt>
                <c:pt idx="10">
                  <c:v>6.41</c:v>
                </c:pt>
                <c:pt idx="11">
                  <c:v>5.97</c:v>
                </c:pt>
                <c:pt idx="12">
                  <c:v>5.8</c:v>
                </c:pt>
                <c:pt idx="13">
                  <c:v>5.97</c:v>
                </c:pt>
                <c:pt idx="14">
                  <c:v>6.04</c:v>
                </c:pt>
                <c:pt idx="15">
                  <c:v>6.06</c:v>
                </c:pt>
                <c:pt idx="16">
                  <c:v>6.12</c:v>
                </c:pt>
                <c:pt idx="17">
                  <c:v>6.21</c:v>
                </c:pt>
                <c:pt idx="18">
                  <c:v>6.1</c:v>
                </c:pt>
              </c:numCache>
            </c:numRef>
          </c:val>
          <c:smooth val="0"/>
          <c:extLst>
            <c:ext xmlns:c16="http://schemas.microsoft.com/office/drawing/2014/chart" uri="{C3380CC4-5D6E-409C-BE32-E72D297353CC}">
              <c16:uniqueId val="{00000000-CB9C-486D-BADB-467E7FBDAC79}"/>
            </c:ext>
          </c:extLst>
        </c:ser>
        <c:dLbls>
          <c:showLegendKey val="0"/>
          <c:showVal val="0"/>
          <c:showCatName val="0"/>
          <c:showSerName val="0"/>
          <c:showPercent val="0"/>
          <c:showBubbleSize val="0"/>
        </c:dLbls>
        <c:smooth val="0"/>
        <c:axId val="1000829608"/>
        <c:axId val="1000826008"/>
      </c:lineChart>
      <c:catAx>
        <c:axId val="1000829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000826008"/>
        <c:crosses val="autoZero"/>
        <c:auto val="1"/>
        <c:lblAlgn val="ctr"/>
        <c:lblOffset val="100"/>
        <c:noMultiLvlLbl val="0"/>
      </c:catAx>
      <c:valAx>
        <c:axId val="10008260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 / SF</a:t>
                </a:r>
              </a:p>
            </c:rich>
          </c:tx>
          <c:layout>
            <c:manualLayout>
              <c:xMode val="edge"/>
              <c:yMode val="edge"/>
              <c:x val="6.9787735382491741E-3"/>
              <c:y val="0"/>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quot;$&quot;#,##0.00_);\(&quot;$&quot;#,##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0008296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36321274159195E-2"/>
          <c:y val="0.13970139223350994"/>
          <c:w val="0.93730790055778901"/>
          <c:h val="0.57744111289076061"/>
        </c:manualLayout>
      </c:layout>
      <c:barChart>
        <c:barDir val="col"/>
        <c:grouping val="stacked"/>
        <c:varyColors val="0"/>
        <c:ser>
          <c:idx val="0"/>
          <c:order val="0"/>
          <c:tx>
            <c:strRef>
              <c:f>Sheet1!$B$1</c:f>
              <c:strCache>
                <c:ptCount val="1"/>
                <c:pt idx="0">
                  <c:v>Net Absorption</c:v>
                </c:pt>
              </c:strCache>
            </c:strRef>
          </c:tx>
          <c:spPr>
            <a:solidFill>
              <a:schemeClr val="tx1"/>
            </a:solidFill>
            <a:ln>
              <a:noFill/>
            </a:ln>
            <a:effectLst/>
          </c:spPr>
          <c:invertIfNegative val="0"/>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#,##0</c:formatCode>
                <c:ptCount val="19"/>
                <c:pt idx="0">
                  <c:v>1189309</c:v>
                </c:pt>
                <c:pt idx="1">
                  <c:v>818178</c:v>
                </c:pt>
                <c:pt idx="2">
                  <c:v>5826737</c:v>
                </c:pt>
                <c:pt idx="3">
                  <c:v>2422052</c:v>
                </c:pt>
                <c:pt idx="4">
                  <c:v>3974653</c:v>
                </c:pt>
                <c:pt idx="5">
                  <c:v>2171540</c:v>
                </c:pt>
                <c:pt idx="6">
                  <c:v>5259113</c:v>
                </c:pt>
                <c:pt idx="7">
                  <c:v>3031162</c:v>
                </c:pt>
                <c:pt idx="8">
                  <c:v>3054232</c:v>
                </c:pt>
                <c:pt idx="9">
                  <c:v>2650641</c:v>
                </c:pt>
                <c:pt idx="10">
                  <c:v>1300213</c:v>
                </c:pt>
                <c:pt idx="11">
                  <c:v>529376</c:v>
                </c:pt>
                <c:pt idx="12">
                  <c:v>1840255</c:v>
                </c:pt>
                <c:pt idx="13">
                  <c:v>2724274</c:v>
                </c:pt>
                <c:pt idx="14">
                  <c:v>696054</c:v>
                </c:pt>
                <c:pt idx="15">
                  <c:v>1736103</c:v>
                </c:pt>
                <c:pt idx="16">
                  <c:v>-547721</c:v>
                </c:pt>
                <c:pt idx="17">
                  <c:v>3342016</c:v>
                </c:pt>
                <c:pt idx="18">
                  <c:v>1406995</c:v>
                </c:pt>
              </c:numCache>
            </c:numRef>
          </c:val>
          <c:extLst>
            <c:ext xmlns:c16="http://schemas.microsoft.com/office/drawing/2014/chart" uri="{C3380CC4-5D6E-409C-BE32-E72D297353CC}">
              <c16:uniqueId val="{00000000-8219-4E36-BBA3-15D4CEC31078}"/>
            </c:ext>
          </c:extLst>
        </c:ser>
        <c:dLbls>
          <c:showLegendKey val="0"/>
          <c:showVal val="0"/>
          <c:showCatName val="0"/>
          <c:showSerName val="0"/>
          <c:showPercent val="0"/>
          <c:showBubbleSize val="0"/>
        </c:dLbls>
        <c:gapWidth val="100"/>
        <c:overlap val="100"/>
        <c:axId val="1177617352"/>
        <c:axId val="1177618072"/>
      </c:barChart>
      <c:lineChart>
        <c:grouping val="standard"/>
        <c:varyColors val="0"/>
        <c:ser>
          <c:idx val="1"/>
          <c:order val="1"/>
          <c:tx>
            <c:strRef>
              <c:f>Sheet1!$C$1</c:f>
              <c:strCache>
                <c:ptCount val="1"/>
                <c:pt idx="0">
                  <c:v>Rolling 4Q Avg</c:v>
                </c:pt>
              </c:strCache>
            </c:strRef>
          </c:tx>
          <c:spPr>
            <a:ln w="28575" cap="rnd">
              <a:solidFill>
                <a:srgbClr val="DBD99A"/>
              </a:solidFill>
              <a:round/>
            </a:ln>
            <a:effectLst/>
          </c:spPr>
          <c:marker>
            <c:symbol val="none"/>
          </c:marke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Sheet1!$C$2:$C$20</c:f>
              <c:numCache>
                <c:formatCode>General</c:formatCode>
                <c:ptCount val="19"/>
                <c:pt idx="2">
                  <c:v>2611408</c:v>
                </c:pt>
                <c:pt idx="3">
                  <c:v>2564069</c:v>
                </c:pt>
                <c:pt idx="4">
                  <c:v>3260405</c:v>
                </c:pt>
                <c:pt idx="5">
                  <c:v>3598745.5</c:v>
                </c:pt>
                <c:pt idx="6">
                  <c:v>3456839.5</c:v>
                </c:pt>
                <c:pt idx="7">
                  <c:v>3609117</c:v>
                </c:pt>
                <c:pt idx="8">
                  <c:v>3379011.75</c:v>
                </c:pt>
                <c:pt idx="9">
                  <c:v>3498787</c:v>
                </c:pt>
                <c:pt idx="10">
                  <c:v>2509062</c:v>
                </c:pt>
                <c:pt idx="11">
                  <c:v>1883615.5</c:v>
                </c:pt>
                <c:pt idx="12">
                  <c:v>1580121.25</c:v>
                </c:pt>
                <c:pt idx="13">
                  <c:v>1598529.5</c:v>
                </c:pt>
                <c:pt idx="14">
                  <c:v>1447489.75</c:v>
                </c:pt>
                <c:pt idx="15">
                  <c:v>1749171.5</c:v>
                </c:pt>
                <c:pt idx="16">
                  <c:v>1152177.5</c:v>
                </c:pt>
                <c:pt idx="17">
                  <c:v>1306613</c:v>
                </c:pt>
                <c:pt idx="18">
                  <c:v>1484348.25</c:v>
                </c:pt>
              </c:numCache>
            </c:numRef>
          </c:val>
          <c:smooth val="0"/>
          <c:extLst>
            <c:ext xmlns:c16="http://schemas.microsoft.com/office/drawing/2014/chart" uri="{C3380CC4-5D6E-409C-BE32-E72D297353CC}">
              <c16:uniqueId val="{00000001-8219-4E36-BBA3-15D4CEC31078}"/>
            </c:ext>
          </c:extLst>
        </c:ser>
        <c:dLbls>
          <c:showLegendKey val="0"/>
          <c:showVal val="0"/>
          <c:showCatName val="0"/>
          <c:showSerName val="0"/>
          <c:showPercent val="0"/>
          <c:showBubbleSize val="0"/>
        </c:dLbls>
        <c:marker val="1"/>
        <c:smooth val="0"/>
        <c:axId val="1177617352"/>
        <c:axId val="1177618072"/>
      </c:lineChart>
      <c:catAx>
        <c:axId val="117761735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177618072"/>
        <c:crosses val="autoZero"/>
        <c:auto val="1"/>
        <c:lblAlgn val="ctr"/>
        <c:lblOffset val="100"/>
        <c:noMultiLvlLbl val="0"/>
      </c:catAx>
      <c:valAx>
        <c:axId val="1177618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Sq. Ft.</a:t>
                </a:r>
                <a:r>
                  <a:rPr lang="en-US" baseline="0" dirty="0"/>
                  <a:t> millions</a:t>
                </a:r>
                <a:endParaRPr lang="en-US" dirty="0"/>
              </a:p>
            </c:rich>
          </c:tx>
          <c:layout>
            <c:manualLayout>
              <c:xMode val="edge"/>
              <c:yMode val="edge"/>
              <c:x val="2.3262578460830582E-3"/>
              <c:y val="1.1451484638388899E-2"/>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0.0_);\(#,##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177617352"/>
        <c:crosses val="autoZero"/>
        <c:crossBetween val="between"/>
        <c:dispUnits>
          <c:builtInUnit val="millions"/>
        </c:dispUnits>
      </c:valAx>
      <c:spPr>
        <a:noFill/>
        <a:ln>
          <a:noFill/>
        </a:ln>
        <a:effectLst/>
      </c:spPr>
    </c:plotArea>
    <c:legend>
      <c:legendPos val="b"/>
      <c:layout>
        <c:manualLayout>
          <c:xMode val="edge"/>
          <c:yMode val="edge"/>
          <c:x val="0.28416631681214022"/>
          <c:y val="0.91034733033904192"/>
          <c:w val="0.42799499286736375"/>
          <c:h val="8.4494083509831536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05783479979161E-2"/>
          <c:y val="0.11387897803032408"/>
          <c:w val="0.92164211090864734"/>
          <c:h val="0.61818159554380026"/>
        </c:manualLayout>
      </c:layout>
      <c:areaChart>
        <c:grouping val="standard"/>
        <c:varyColors val="0"/>
        <c:ser>
          <c:idx val="0"/>
          <c:order val="0"/>
          <c:tx>
            <c:strRef>
              <c:f>Sheet1!$B$1</c:f>
              <c:strCache>
                <c:ptCount val="1"/>
                <c:pt idx="0">
                  <c:v>Under Construction </c:v>
                </c:pt>
              </c:strCache>
            </c:strRef>
          </c:tx>
          <c:spPr>
            <a:solidFill>
              <a:schemeClr val="tx1"/>
            </a:solidFill>
            <a:ln>
              <a:noFill/>
            </a:ln>
            <a:effectLst/>
          </c:spPr>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#,##0</c:formatCode>
                <c:ptCount val="19"/>
                <c:pt idx="0">
                  <c:v>10683851</c:v>
                </c:pt>
                <c:pt idx="1">
                  <c:v>10884303</c:v>
                </c:pt>
                <c:pt idx="2">
                  <c:v>8482539</c:v>
                </c:pt>
                <c:pt idx="3">
                  <c:v>8773976</c:v>
                </c:pt>
                <c:pt idx="4">
                  <c:v>7037126</c:v>
                </c:pt>
                <c:pt idx="5">
                  <c:v>9258927</c:v>
                </c:pt>
                <c:pt idx="6">
                  <c:v>11225928</c:v>
                </c:pt>
                <c:pt idx="7">
                  <c:v>16325142</c:v>
                </c:pt>
                <c:pt idx="8">
                  <c:v>16225357</c:v>
                </c:pt>
                <c:pt idx="9">
                  <c:v>16445275</c:v>
                </c:pt>
                <c:pt idx="10">
                  <c:v>19082520</c:v>
                </c:pt>
                <c:pt idx="11">
                  <c:v>16972938</c:v>
                </c:pt>
                <c:pt idx="12">
                  <c:v>11841658</c:v>
                </c:pt>
                <c:pt idx="13">
                  <c:v>10869287</c:v>
                </c:pt>
                <c:pt idx="14">
                  <c:v>9225117</c:v>
                </c:pt>
                <c:pt idx="15">
                  <c:v>6813060</c:v>
                </c:pt>
                <c:pt idx="16">
                  <c:v>6399489</c:v>
                </c:pt>
                <c:pt idx="17">
                  <c:v>4401431</c:v>
                </c:pt>
                <c:pt idx="18">
                  <c:v>2647947</c:v>
                </c:pt>
              </c:numCache>
            </c:numRef>
          </c:val>
          <c:extLst>
            <c:ext xmlns:c16="http://schemas.microsoft.com/office/drawing/2014/chart" uri="{C3380CC4-5D6E-409C-BE32-E72D297353CC}">
              <c16:uniqueId val="{00000000-FBA4-41B1-A69E-8C34EF5608B5}"/>
            </c:ext>
          </c:extLst>
        </c:ser>
        <c:dLbls>
          <c:showLegendKey val="0"/>
          <c:showVal val="0"/>
          <c:showCatName val="0"/>
          <c:showSerName val="0"/>
          <c:showPercent val="0"/>
          <c:showBubbleSize val="0"/>
        </c:dLbls>
        <c:axId val="577006648"/>
        <c:axId val="1550376192"/>
      </c:areaChart>
      <c:barChart>
        <c:barDir val="col"/>
        <c:grouping val="clustered"/>
        <c:varyColors val="0"/>
        <c:ser>
          <c:idx val="1"/>
          <c:order val="1"/>
          <c:tx>
            <c:strRef>
              <c:f>Sheet1!$C$1</c:f>
              <c:strCache>
                <c:ptCount val="1"/>
                <c:pt idx="0">
                  <c:v>Deliveries</c:v>
                </c:pt>
              </c:strCache>
            </c:strRef>
          </c:tx>
          <c:spPr>
            <a:solidFill>
              <a:schemeClr val="bg2"/>
            </a:solidFill>
            <a:ln>
              <a:noFill/>
            </a:ln>
            <a:effectLst/>
          </c:spPr>
          <c:invertIfNegative val="0"/>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Sheet1!$C$2:$C$20</c:f>
              <c:numCache>
                <c:formatCode>#,##0</c:formatCode>
                <c:ptCount val="19"/>
                <c:pt idx="0">
                  <c:v>2037649</c:v>
                </c:pt>
                <c:pt idx="1">
                  <c:v>2880952</c:v>
                </c:pt>
                <c:pt idx="2">
                  <c:v>5549857</c:v>
                </c:pt>
                <c:pt idx="3">
                  <c:v>654372</c:v>
                </c:pt>
                <c:pt idx="4">
                  <c:v>2701850</c:v>
                </c:pt>
                <c:pt idx="5">
                  <c:v>1714387</c:v>
                </c:pt>
                <c:pt idx="6">
                  <c:v>3266304</c:v>
                </c:pt>
                <c:pt idx="7">
                  <c:v>1028935</c:v>
                </c:pt>
                <c:pt idx="8">
                  <c:v>1399785</c:v>
                </c:pt>
                <c:pt idx="9">
                  <c:v>3954277</c:v>
                </c:pt>
                <c:pt idx="10">
                  <c:v>2728151</c:v>
                </c:pt>
                <c:pt idx="11">
                  <c:v>4842416</c:v>
                </c:pt>
                <c:pt idx="12">
                  <c:v>5687063</c:v>
                </c:pt>
                <c:pt idx="13">
                  <c:v>3081153</c:v>
                </c:pt>
                <c:pt idx="14">
                  <c:v>3971440</c:v>
                </c:pt>
                <c:pt idx="15">
                  <c:v>4320415</c:v>
                </c:pt>
                <c:pt idx="16">
                  <c:v>1513432</c:v>
                </c:pt>
                <c:pt idx="17">
                  <c:v>2526058</c:v>
                </c:pt>
                <c:pt idx="18">
                  <c:v>1969484</c:v>
                </c:pt>
              </c:numCache>
            </c:numRef>
          </c:val>
          <c:extLst>
            <c:ext xmlns:c16="http://schemas.microsoft.com/office/drawing/2014/chart" uri="{C3380CC4-5D6E-409C-BE32-E72D297353CC}">
              <c16:uniqueId val="{00000001-FBA4-41B1-A69E-8C34EF5608B5}"/>
            </c:ext>
          </c:extLst>
        </c:ser>
        <c:dLbls>
          <c:showLegendKey val="0"/>
          <c:showVal val="0"/>
          <c:showCatName val="0"/>
          <c:showSerName val="0"/>
          <c:showPercent val="0"/>
          <c:showBubbleSize val="0"/>
        </c:dLbls>
        <c:gapWidth val="219"/>
        <c:overlap val="-27"/>
        <c:axId val="577006648"/>
        <c:axId val="1550376192"/>
      </c:barChart>
      <c:catAx>
        <c:axId val="577006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550376192"/>
        <c:crosses val="autoZero"/>
        <c:auto val="1"/>
        <c:lblAlgn val="ctr"/>
        <c:lblOffset val="100"/>
        <c:noMultiLvlLbl val="0"/>
      </c:catAx>
      <c:valAx>
        <c:axId val="15503761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Sq. Ft.</a:t>
                </a:r>
                <a:r>
                  <a:rPr lang="en-US" baseline="0" dirty="0"/>
                  <a:t> millions</a:t>
                </a:r>
                <a:endParaRPr lang="en-US" dirty="0"/>
              </a:p>
            </c:rich>
          </c:tx>
          <c:layout>
            <c:manualLayout>
              <c:xMode val="edge"/>
              <c:yMode val="edge"/>
              <c:x val="0"/>
              <c:y val="8.4019371979852302E-4"/>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0.0_);\(#,##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577006648"/>
        <c:crosses val="autoZero"/>
        <c:crossBetween val="between"/>
        <c:dispUnits>
          <c:builtInUnit val="millions"/>
        </c:dispUnits>
      </c:valAx>
      <c:spPr>
        <a:noFill/>
        <a:ln>
          <a:noFill/>
        </a:ln>
        <a:effectLst/>
      </c:spPr>
    </c:plotArea>
    <c:legend>
      <c:legendPos val="b"/>
      <c:layout>
        <c:manualLayout>
          <c:xMode val="edge"/>
          <c:yMode val="edge"/>
          <c:x val="0.32897865191342951"/>
          <c:y val="0.91028354072159834"/>
          <c:w val="0.34204251300323185"/>
          <c:h val="8.9716459278401814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784557018228343E-2"/>
          <c:y val="0.10187667560321716"/>
          <c:w val="0.93421544298177162"/>
          <c:h val="0.70316806724524727"/>
        </c:manualLayout>
      </c:layout>
      <c:barChart>
        <c:barDir val="col"/>
        <c:grouping val="stacked"/>
        <c:varyColors val="0"/>
        <c:ser>
          <c:idx val="0"/>
          <c:order val="0"/>
          <c:tx>
            <c:strRef>
              <c:f>Sheet1!$B$1</c:f>
              <c:strCache>
                <c:ptCount val="1"/>
                <c:pt idx="0">
                  <c:v>Overall</c:v>
                </c:pt>
              </c:strCache>
            </c:strRef>
          </c:tx>
          <c:spPr>
            <a:solidFill>
              <a:schemeClr val="tx1"/>
            </a:solidFill>
            <a:ln>
              <a:noFill/>
            </a:ln>
            <a:effectLst/>
          </c:spPr>
          <c:invertIfNegative val="0"/>
          <c:cat>
            <c:strRef>
              <c:f>Sheet1!$A$2:$A$20</c:f>
              <c:strCache>
                <c:ptCount val="19"/>
                <c:pt idx="0">
                  <c:v>Q1 2020</c:v>
                </c:pt>
                <c:pt idx="1">
                  <c:v>Q2 2020</c:v>
                </c:pt>
                <c:pt idx="2">
                  <c:v>Q3 2020</c:v>
                </c:pt>
                <c:pt idx="3">
                  <c:v>Q4 2020</c:v>
                </c:pt>
                <c:pt idx="4">
                  <c:v>Q1 2021</c:v>
                </c:pt>
                <c:pt idx="5">
                  <c:v>Q2 2021</c:v>
                </c:pt>
                <c:pt idx="6">
                  <c:v>Q3 2021</c:v>
                </c:pt>
                <c:pt idx="7">
                  <c:v>Q4 2021</c:v>
                </c:pt>
                <c:pt idx="8">
                  <c:v>Q1 2022</c:v>
                </c:pt>
                <c:pt idx="9">
                  <c:v>Q2 2022</c:v>
                </c:pt>
                <c:pt idx="10">
                  <c:v>Q3 2022</c:v>
                </c:pt>
                <c:pt idx="11">
                  <c:v>Q4 2022</c:v>
                </c:pt>
                <c:pt idx="12">
                  <c:v>Q1 2023</c:v>
                </c:pt>
                <c:pt idx="13">
                  <c:v>Q2 2023</c:v>
                </c:pt>
                <c:pt idx="14">
                  <c:v>Q3 2023</c:v>
                </c:pt>
                <c:pt idx="15">
                  <c:v>Q4 2023</c:v>
                </c:pt>
                <c:pt idx="16">
                  <c:v>Q1 2024</c:v>
                </c:pt>
                <c:pt idx="17">
                  <c:v>Q2 2024</c:v>
                </c:pt>
                <c:pt idx="18">
                  <c:v>Q3 2024</c:v>
                </c:pt>
              </c:strCache>
            </c:strRef>
          </c:cat>
          <c:val>
            <c:numRef>
              <c:f>Sheet1!$B$2:$B$20</c:f>
              <c:numCache>
                <c:formatCode>#,##0</c:formatCode>
                <c:ptCount val="19"/>
                <c:pt idx="0">
                  <c:v>2092522</c:v>
                </c:pt>
                <c:pt idx="1">
                  <c:v>4777077</c:v>
                </c:pt>
                <c:pt idx="2">
                  <c:v>4457508</c:v>
                </c:pt>
                <c:pt idx="3">
                  <c:v>5503656</c:v>
                </c:pt>
                <c:pt idx="4">
                  <c:v>7792381</c:v>
                </c:pt>
                <c:pt idx="5">
                  <c:v>9412478</c:v>
                </c:pt>
                <c:pt idx="6">
                  <c:v>6224787</c:v>
                </c:pt>
                <c:pt idx="7">
                  <c:v>7499978</c:v>
                </c:pt>
                <c:pt idx="8">
                  <c:v>9001547</c:v>
                </c:pt>
                <c:pt idx="9">
                  <c:v>5291616</c:v>
                </c:pt>
                <c:pt idx="10">
                  <c:v>2838776</c:v>
                </c:pt>
                <c:pt idx="11">
                  <c:v>4180651</c:v>
                </c:pt>
                <c:pt idx="12">
                  <c:v>1217145</c:v>
                </c:pt>
                <c:pt idx="13">
                  <c:v>7703111</c:v>
                </c:pt>
                <c:pt idx="14">
                  <c:v>2957858</c:v>
                </c:pt>
                <c:pt idx="15">
                  <c:v>4365820</c:v>
                </c:pt>
                <c:pt idx="16">
                  <c:v>3171942</c:v>
                </c:pt>
                <c:pt idx="17">
                  <c:v>5355542</c:v>
                </c:pt>
                <c:pt idx="18">
                  <c:v>4731569</c:v>
                </c:pt>
              </c:numCache>
            </c:numRef>
          </c:val>
          <c:extLst>
            <c:ext xmlns:c16="http://schemas.microsoft.com/office/drawing/2014/chart" uri="{C3380CC4-5D6E-409C-BE32-E72D297353CC}">
              <c16:uniqueId val="{00000000-ABB8-4CAF-8C8A-51D5D15E0104}"/>
            </c:ext>
          </c:extLst>
        </c:ser>
        <c:dLbls>
          <c:showLegendKey val="0"/>
          <c:showVal val="0"/>
          <c:showCatName val="0"/>
          <c:showSerName val="0"/>
          <c:showPercent val="0"/>
          <c:showBubbleSize val="0"/>
        </c:dLbls>
        <c:gapWidth val="150"/>
        <c:overlap val="100"/>
        <c:axId val="1738293936"/>
        <c:axId val="1738299696"/>
      </c:barChart>
      <c:catAx>
        <c:axId val="1738293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crossAx val="1738299696"/>
        <c:crosses val="autoZero"/>
        <c:auto val="1"/>
        <c:lblAlgn val="ctr"/>
        <c:lblOffset val="100"/>
        <c:noMultiLvlLbl val="0"/>
      </c:catAx>
      <c:valAx>
        <c:axId val="1738299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rgbClr val="012A2D"/>
                    </a:solidFill>
                    <a:latin typeface="+mn-lt"/>
                    <a:ea typeface="+mn-ea"/>
                    <a:cs typeface="+mn-cs"/>
                  </a:defRPr>
                </a:pPr>
                <a:r>
                  <a:rPr lang="en-US" dirty="0"/>
                  <a:t>Sq. Ft. millions</a:t>
                </a:r>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900" b="0" i="0" u="none" strike="noStrike" kern="1200" baseline="0">
                  <a:solidFill>
                    <a:srgbClr val="012A2D"/>
                  </a:solidFill>
                  <a:latin typeface="+mn-lt"/>
                  <a:ea typeface="+mn-ea"/>
                  <a:cs typeface="+mn-cs"/>
                </a:defRPr>
              </a:pPr>
              <a:endParaRPr lang="en-US"/>
            </a:p>
          </c:txPr>
        </c:title>
        <c:numFmt formatCode="#,##0.0_);\(#,##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12A2D"/>
                </a:solidFill>
                <a:latin typeface="+mn-lt"/>
                <a:ea typeface="+mn-ea"/>
                <a:cs typeface="+mn-cs"/>
              </a:defRPr>
            </a:pPr>
            <a:endParaRPr lang="en-US"/>
          </a:p>
        </c:txPr>
        <c:crossAx val="1738293936"/>
        <c:crosses val="autoZero"/>
        <c:crossBetween val="between"/>
        <c:dispUnits>
          <c:builtInUnit val="millions"/>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rgbClr val="012A2D"/>
          </a:solidFill>
          <a:latin typeface="+mn-lt"/>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875E-2"/>
          <c:y val="2.4329785994209766E-2"/>
          <c:w val="0.7729790321854707"/>
          <c:h val="0.95422223782414806"/>
        </c:manualLayout>
      </c:layout>
      <c:barChart>
        <c:barDir val="bar"/>
        <c:grouping val="clustered"/>
        <c:varyColors val="0"/>
        <c:ser>
          <c:idx val="0"/>
          <c:order val="0"/>
          <c:tx>
            <c:strRef>
              <c:f>Sheet1!$B$1</c:f>
              <c:strCache>
                <c:ptCount val="1"/>
                <c:pt idx="0">
                  <c:v>Leasing Activity</c:v>
                </c:pt>
              </c:strCache>
            </c:strRef>
          </c:tx>
          <c:spPr>
            <a:solidFill>
              <a:schemeClr val="bg2"/>
            </a:solidFill>
            <a:ln w="19050">
              <a:noFill/>
            </a:ln>
            <a:effectLst/>
            <a:sp3d prstMaterial="flat"/>
            <a:extLst>
              <a:ext uri="{91240B29-F687-4F45-9708-019B960494DF}">
                <a14:hiddenLine xmlns:a14="http://schemas.microsoft.com/office/drawing/2010/main" w="19050">
                  <a:solidFill>
                    <a:srgbClr val="FFFFFF"/>
                  </a:solidFill>
                </a14:hiddenLine>
              </a:ext>
            </a:extLst>
          </c:spPr>
          <c:invertIfNegative val="0"/>
          <c:dPt>
            <c:idx val="1"/>
            <c:invertIfNegative val="0"/>
            <c:bubble3D val="0"/>
            <c:spPr>
              <a:solidFill>
                <a:schemeClr val="bg2"/>
              </a:solidFill>
              <a:ln w="19050">
                <a:noFill/>
              </a:ln>
              <a:effectLst/>
              <a:sp3d prstMaterial="flat"/>
              <a:extLst>
                <a:ext uri="{91240B29-F687-4F45-9708-019B960494DF}">
                  <a14:hiddenLine xmlns:a14="http://schemas.microsoft.com/office/drawing/2010/main" w="19050">
                    <a:solidFill>
                      <a:srgbClr val="FFFFFF"/>
                    </a:solidFill>
                  </a14:hiddenLine>
                </a:ext>
              </a:extLst>
            </c:spPr>
            <c:extLst>
              <c:ext xmlns:c16="http://schemas.microsoft.com/office/drawing/2014/chart" uri="{C3380CC4-5D6E-409C-BE32-E72D297353CC}">
                <c16:uniqueId val="{00000002-A87A-47B2-AFCD-7F8BBA459296}"/>
              </c:ext>
            </c:extLst>
          </c:dPt>
          <c:dPt>
            <c:idx val="6"/>
            <c:invertIfNegative val="0"/>
            <c:bubble3D val="0"/>
            <c:spPr>
              <a:solidFill>
                <a:schemeClr val="bg2"/>
              </a:solidFill>
              <a:ln w="19050">
                <a:noFill/>
              </a:ln>
              <a:effectLst/>
              <a:sp3d prstMaterial="flat"/>
              <a:extLst>
                <a:ext uri="{91240B29-F687-4F45-9708-019B960494DF}">
                  <a14:hiddenLine xmlns:a14="http://schemas.microsoft.com/office/drawing/2010/main" w="19050">
                    <a:solidFill>
                      <a:srgbClr val="FFFFFF"/>
                    </a:solidFill>
                  </a14:hiddenLine>
                </a:ext>
              </a:extLst>
            </c:spPr>
            <c:extLst>
              <c:ext xmlns:c16="http://schemas.microsoft.com/office/drawing/2014/chart" uri="{C3380CC4-5D6E-409C-BE32-E72D297353CC}">
                <c16:uniqueId val="{00000003-1EEF-4959-818E-651B7D4F7D08}"/>
              </c:ext>
            </c:extLst>
          </c:dPt>
          <c:dPt>
            <c:idx val="9"/>
            <c:invertIfNegative val="0"/>
            <c:bubble3D val="0"/>
            <c:spPr>
              <a:solidFill>
                <a:schemeClr val="bg2"/>
              </a:solidFill>
              <a:ln w="19050">
                <a:noFill/>
              </a:ln>
              <a:effectLst/>
              <a:sp3d prstMaterial="flat"/>
              <a:extLst>
                <a:ext uri="{91240B29-F687-4F45-9708-019B960494DF}">
                  <a14:hiddenLine xmlns:a14="http://schemas.microsoft.com/office/drawing/2010/main" w="19050">
                    <a:solidFill>
                      <a:srgbClr val="FFFFFF"/>
                    </a:solidFill>
                  </a14:hiddenLine>
                </a:ext>
              </a:extLst>
            </c:spPr>
            <c:extLst>
              <c:ext xmlns:c16="http://schemas.microsoft.com/office/drawing/2014/chart" uri="{C3380CC4-5D6E-409C-BE32-E72D297353CC}">
                <c16:uniqueId val="{00000005-1EEF-4959-818E-651B7D4F7D08}"/>
              </c:ext>
            </c:extLst>
          </c:dPt>
          <c:dPt>
            <c:idx val="11"/>
            <c:invertIfNegative val="0"/>
            <c:bubble3D val="0"/>
            <c:spPr>
              <a:solidFill>
                <a:schemeClr val="bg2"/>
              </a:solidFill>
              <a:ln w="19050">
                <a:noFill/>
              </a:ln>
              <a:effectLst/>
              <a:sp3d prstMaterial="flat"/>
              <a:extLst>
                <a:ext uri="{91240B29-F687-4F45-9708-019B960494DF}">
                  <a14:hiddenLine xmlns:a14="http://schemas.microsoft.com/office/drawing/2010/main" w="19050">
                    <a:solidFill>
                      <a:srgbClr val="FFFFFF"/>
                    </a:solidFill>
                  </a14:hiddenLine>
                </a:ext>
              </a:extLst>
            </c:spPr>
            <c:extLst>
              <c:ext xmlns:c16="http://schemas.microsoft.com/office/drawing/2014/chart" uri="{C3380CC4-5D6E-409C-BE32-E72D297353CC}">
                <c16:uniqueId val="{00000007-1EEF-4959-818E-651B7D4F7D08}"/>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435254"/>
                    </a:solidFill>
                    <a:latin typeface="Calibre Regular"/>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Madison County</c:v>
                </c:pt>
                <c:pt idx="1">
                  <c:v>East</c:v>
                </c:pt>
                <c:pt idx="2">
                  <c:v>Licking County</c:v>
                </c:pt>
                <c:pt idx="3">
                  <c:v>Southeast</c:v>
                </c:pt>
                <c:pt idx="4">
                  <c:v>West</c:v>
                </c:pt>
                <c:pt idx="5">
                  <c:v>Southwest</c:v>
                </c:pt>
                <c:pt idx="6">
                  <c:v>Delaware County</c:v>
                </c:pt>
                <c:pt idx="7">
                  <c:v>Northeast</c:v>
                </c:pt>
                <c:pt idx="8">
                  <c:v>Pickaway County</c:v>
                </c:pt>
                <c:pt idx="9">
                  <c:v>Central</c:v>
                </c:pt>
                <c:pt idx="10">
                  <c:v>Union County</c:v>
                </c:pt>
                <c:pt idx="11">
                  <c:v>Fairfield County</c:v>
                </c:pt>
                <c:pt idx="12">
                  <c:v>Northwest</c:v>
                </c:pt>
              </c:strCache>
            </c:strRef>
          </c:cat>
          <c:val>
            <c:numRef>
              <c:f>Sheet1!$B$2:$B$14</c:f>
              <c:numCache>
                <c:formatCode>#,##0</c:formatCode>
                <c:ptCount val="13"/>
                <c:pt idx="0">
                  <c:v>1355350</c:v>
                </c:pt>
                <c:pt idx="1">
                  <c:v>874813</c:v>
                </c:pt>
                <c:pt idx="2">
                  <c:v>859231</c:v>
                </c:pt>
                <c:pt idx="3">
                  <c:v>645520</c:v>
                </c:pt>
                <c:pt idx="4">
                  <c:v>607907</c:v>
                </c:pt>
                <c:pt idx="5">
                  <c:v>140394</c:v>
                </c:pt>
                <c:pt idx="6">
                  <c:v>77271</c:v>
                </c:pt>
                <c:pt idx="7">
                  <c:v>70767</c:v>
                </c:pt>
                <c:pt idx="8">
                  <c:v>57279</c:v>
                </c:pt>
                <c:pt idx="9">
                  <c:v>37037</c:v>
                </c:pt>
                <c:pt idx="10">
                  <c:v>6000</c:v>
                </c:pt>
              </c:numCache>
            </c:numRef>
          </c:val>
          <c:extLst>
            <c:ext xmlns:c16="http://schemas.microsoft.com/office/drawing/2014/chart" uri="{C3380CC4-5D6E-409C-BE32-E72D297353CC}">
              <c16:uniqueId val="{00000000-A87A-47B2-AFCD-7F8BBA459296}"/>
            </c:ext>
          </c:extLst>
        </c:ser>
        <c:dLbls>
          <c:showLegendKey val="0"/>
          <c:showVal val="0"/>
          <c:showCatName val="0"/>
          <c:showSerName val="0"/>
          <c:showPercent val="0"/>
          <c:showBubbleSize val="0"/>
        </c:dLbls>
        <c:gapWidth val="50"/>
        <c:axId val="1161928176"/>
        <c:axId val="1161928536"/>
      </c:barChart>
      <c:valAx>
        <c:axId val="1161928536"/>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161928176"/>
        <c:crosses val="autoZero"/>
        <c:crossBetween val="between"/>
      </c:valAx>
      <c:catAx>
        <c:axId val="116192817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435254"/>
                </a:solidFill>
                <a:latin typeface="Calibre Regular"/>
                <a:ea typeface="+mn-ea"/>
                <a:cs typeface="+mn-cs"/>
              </a:defRPr>
            </a:pPr>
            <a:endParaRPr lang="en-US"/>
          </a:p>
        </c:txPr>
        <c:crossAx val="1161928536"/>
        <c:crosses val="autoZero"/>
        <c:auto val="1"/>
        <c:lblAlgn val="ctr"/>
        <c:lblOffset val="100"/>
        <c:noMultiLvlLbl val="0"/>
      </c:catAx>
      <c:spPr>
        <a:noFill/>
        <a:ln>
          <a:noFill/>
        </a:ln>
        <a:effectLst>
          <a:outerShdw blurRad="63500" dist="37357" dir="2700000" sx="0" sy="0" rotWithShape="0">
            <a:scrgbClr r="0" g="0" b="0">
              <a:alpha val="0"/>
            </a:scrgbClr>
          </a:outerShdw>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outerShdw blurRad="63500" dist="37357" dir="2700000" sx="0" sy="0" rotWithShape="0">
        <a:scrgbClr r="0" g="0" b="0">
          <a:alpha val="0"/>
        </a:scrgbClr>
      </a:outerShdw>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sz="900">
          <a:solidFill>
            <a:srgbClr val="435254"/>
          </a:solidFill>
          <a:latin typeface="Calibre Regula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24/06/2025</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24/06/2025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a:p>
        </p:txBody>
      </p:sp>
    </p:spTree>
    <p:extLst>
      <p:ext uri="{BB962C8B-B14F-4D97-AF65-F5344CB8AC3E}">
        <p14:creationId xmlns:p14="http://schemas.microsoft.com/office/powerpoint/2010/main" val="291037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2</a:t>
            </a:fld>
            <a:endParaRPr lang="en-GB"/>
          </a:p>
        </p:txBody>
      </p:sp>
    </p:spTree>
    <p:extLst>
      <p:ext uri="{BB962C8B-B14F-4D97-AF65-F5344CB8AC3E}">
        <p14:creationId xmlns:p14="http://schemas.microsoft.com/office/powerpoint/2010/main" val="3723210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3</a:t>
            </a:fld>
            <a:endParaRPr lang="en-GB"/>
          </a:p>
        </p:txBody>
      </p:sp>
    </p:spTree>
    <p:extLst>
      <p:ext uri="{BB962C8B-B14F-4D97-AF65-F5344CB8AC3E}">
        <p14:creationId xmlns:p14="http://schemas.microsoft.com/office/powerpoint/2010/main" val="635615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4</a:t>
            </a:fld>
            <a:endParaRPr lang="en-GB"/>
          </a:p>
        </p:txBody>
      </p:sp>
    </p:spTree>
    <p:extLst>
      <p:ext uri="{BB962C8B-B14F-4D97-AF65-F5344CB8AC3E}">
        <p14:creationId xmlns:p14="http://schemas.microsoft.com/office/powerpoint/2010/main" val="2622807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5</a:t>
            </a:fld>
            <a:endParaRPr lang="en-GB"/>
          </a:p>
        </p:txBody>
      </p:sp>
    </p:spTree>
    <p:extLst>
      <p:ext uri="{BB962C8B-B14F-4D97-AF65-F5344CB8AC3E}">
        <p14:creationId xmlns:p14="http://schemas.microsoft.com/office/powerpoint/2010/main" val="2843708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6</a:t>
            </a:fld>
            <a:endParaRPr lang="en-GB"/>
          </a:p>
        </p:txBody>
      </p:sp>
    </p:spTree>
    <p:extLst>
      <p:ext uri="{BB962C8B-B14F-4D97-AF65-F5344CB8AC3E}">
        <p14:creationId xmlns:p14="http://schemas.microsoft.com/office/powerpoint/2010/main" val="4291168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2024 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slideLayout" Target="../slideLayouts/slideLayout2.xml"/><Relationship Id="rId7" Type="http://schemas.openxmlformats.org/officeDocument/2006/relationships/image" Target="../media/image3.wmf"/><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image" Target="../media/image2.wmf"/><Relationship Id="rId5" Type="http://schemas.openxmlformats.org/officeDocument/2006/relationships/image" Target="../media/image1.wm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9.xml"/><Relationship Id="rId1" Type="http://schemas.openxmlformats.org/officeDocument/2006/relationships/customXml" Target="../../customXml/item8.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11.xml"/><Relationship Id="rId1" Type="http://schemas.openxmlformats.org/officeDocument/2006/relationships/customXml" Target="../../customXml/item10.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3.xml"/><Relationship Id="rId1" Type="http://schemas.openxmlformats.org/officeDocument/2006/relationships/customXml" Target="../../customXml/item1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ustomXml" Target="../../customXml/item15.xml"/><Relationship Id="rId1" Type="http://schemas.openxmlformats.org/officeDocument/2006/relationships/customXml" Target="../../customXml/item1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ustomXml" Target="../../customXml/item17.xml"/><Relationship Id="rId1" Type="http://schemas.openxmlformats.org/officeDocument/2006/relationships/customXml" Target="../../customXml/item1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customXml" Target="../../customXml/item19.xml"/><Relationship Id="rId1" Type="http://schemas.openxmlformats.org/officeDocument/2006/relationships/customXml" Target="../../customXml/item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lide_1_summary_text">
            <a:extLst>
              <a:ext uri="{FF2B5EF4-FFF2-40B4-BE49-F238E27FC236}">
                <a16:creationId xmlns:a16="http://schemas.microsoft.com/office/drawing/2014/main" id="{E5C44F4B-FCB5-423A-BDD1-7139F04D9DEF}"/>
              </a:ext>
            </a:extLst>
          </p:cNvPr>
          <p:cNvSpPr>
            <a:spLocks noGrp="1"/>
          </p:cNvSpPr>
          <p:nvPr>
            <p:ph sz="quarter" idx="10"/>
          </p:nvPr>
        </p:nvSpPr>
        <p:spPr>
          <a:xfrm>
            <a:off x="768096" y="3636076"/>
            <a:ext cx="5029200" cy="2650423"/>
          </a:xfrm>
        </p:spPr>
        <p:txBody>
          <a:bodyPr/>
          <a:lstStyle/>
          <a:p>
            <a:pPr lvl="3"/>
            <a:r>
              <a:rPr lang="en-US" dirty="0"/>
              <a:t>Columbus (OH) Industrial market experienced a significant increase in leasing activity in Q3 2024, with 1,325,905 sq. ft. leased, up from 829,198 sq. ft. in Q2 2024.The under-construction area decreased to 2,647,947 sq. ft. in Q3 2024 from 4,401,431 sq. ft. in Q2 2024, indicating a slowdown in new </a:t>
            </a:r>
            <a:r>
              <a:rPr lang="en-US" dirty="0" err="1"/>
              <a:t>development.Vacancy</a:t>
            </a:r>
            <a:r>
              <a:rPr lang="en-US" dirty="0"/>
              <a:t> rates slightly increased to 7.05% in Q3 2024 compared to 6.91% in Q2 2024, reflecting a minor rise in available </a:t>
            </a:r>
            <a:r>
              <a:rPr lang="en-US" dirty="0" err="1"/>
              <a:t>space.The</a:t>
            </a:r>
            <a:r>
              <a:rPr lang="en-US" dirty="0"/>
              <a:t> average yearly direct lease rate remained stable at $6.12 per sq. ft. in Q3 2024, showing market consistency in rental </a:t>
            </a:r>
            <a:r>
              <a:rPr lang="en-US" dirty="0" err="1"/>
              <a:t>pricing.Net</a:t>
            </a:r>
            <a:r>
              <a:rPr lang="en-US" dirty="0"/>
              <a:t> absorption saw a notable decline to 1,406,995 sq. ft. in Q3 2024 from 3,342,016 sq. ft. in Q2 2024, suggesting a slower pace of space occupation.</a:t>
            </a:r>
          </a:p>
        </p:txBody>
      </p:sp>
      <p:sp>
        <p:nvSpPr>
          <p:cNvPr id="19" name="slide_1_title_text">
            <a:extLst>
              <a:ext uri="{FF2B5EF4-FFF2-40B4-BE49-F238E27FC236}">
                <a16:creationId xmlns:a16="http://schemas.microsoft.com/office/drawing/2014/main" id="{C5388F5D-F830-44A8-A03F-385A1A7045A1}"/>
              </a:ext>
            </a:extLst>
          </p:cNvPr>
          <p:cNvSpPr>
            <a:spLocks noGrp="1"/>
          </p:cNvSpPr>
          <p:nvPr>
            <p:ph type="body" sz="quarter" idx="12"/>
          </p:nvPr>
        </p:nvSpPr>
        <p:spPr>
          <a:xfrm>
            <a:off x="768096" y="964405"/>
            <a:ext cx="9303004" cy="1257301"/>
          </a:xfrm>
        </p:spPr>
        <p:txBody>
          <a:bodyPr/>
          <a:lstStyle/>
          <a:p>
            <a:pPr lvl="1"/>
            <a:r>
              <a:rPr lang="en-US" dirty="0"/>
              <a:t>Document title goes here</a:t>
            </a:r>
            <a:br>
              <a:rPr lang="en-US" dirty="0"/>
            </a:br>
            <a:r>
              <a:rPr lang="en-US" dirty="0"/>
              <a:t>lorem ipsum dolor sit </a:t>
            </a:r>
            <a:r>
              <a:rPr lang="en-US" dirty="0" err="1"/>
              <a:t>amet</a:t>
            </a:r>
            <a:endParaRPr lang="en-US" dirty="0"/>
          </a:p>
        </p:txBody>
      </p:sp>
      <p:sp>
        <p:nvSpPr>
          <p:cNvPr id="24" name="slide_1_ticker_1_text">
            <a:extLst>
              <a:ext uri="{FF2B5EF4-FFF2-40B4-BE49-F238E27FC236}">
                <a16:creationId xmlns:a16="http://schemas.microsoft.com/office/drawing/2014/main" id="{C1D238A5-FDDA-42AC-9258-362A780BE547}"/>
              </a:ext>
            </a:extLst>
          </p:cNvPr>
          <p:cNvSpPr>
            <a:spLocks noGrp="1"/>
          </p:cNvSpPr>
          <p:nvPr>
            <p:ph type="body" sz="quarter" idx="14"/>
          </p:nvPr>
        </p:nvSpPr>
        <p:spPr>
          <a:xfrm>
            <a:off x="987552" y="2395728"/>
            <a:ext cx="1295400" cy="423672"/>
          </a:xfrm>
        </p:spPr>
        <p:txBody>
          <a:bodyPr/>
          <a:lstStyle/>
          <a:p>
            <a:r>
              <a:rPr lang="en-US" dirty="0"/>
              <a:t>X.X%</a:t>
            </a:r>
          </a:p>
          <a:p>
            <a:endParaRPr lang="en-US" dirty="0"/>
          </a:p>
        </p:txBody>
      </p:sp>
      <p:sp>
        <p:nvSpPr>
          <p:cNvPr id="25" name="slide_1_ticker_2_text">
            <a:extLst>
              <a:ext uri="{FF2B5EF4-FFF2-40B4-BE49-F238E27FC236}">
                <a16:creationId xmlns:a16="http://schemas.microsoft.com/office/drawing/2014/main" id="{22A74990-575E-4071-A4F1-729D27CBE184}"/>
              </a:ext>
            </a:extLst>
          </p:cNvPr>
          <p:cNvSpPr>
            <a:spLocks noGrp="1"/>
          </p:cNvSpPr>
          <p:nvPr>
            <p:ph type="body" sz="quarter" idx="16"/>
          </p:nvPr>
        </p:nvSpPr>
        <p:spPr>
          <a:xfrm>
            <a:off x="2847927" y="2395728"/>
            <a:ext cx="1261872" cy="439388"/>
          </a:xfrm>
        </p:spPr>
        <p:txBody>
          <a:bodyPr/>
          <a:lstStyle/>
          <a:p>
            <a:r>
              <a:rPr lang="en-US" dirty="0"/>
              <a:t>XXM</a:t>
            </a:r>
          </a:p>
        </p:txBody>
      </p:sp>
      <p:sp>
        <p:nvSpPr>
          <p:cNvPr id="26" name="slide_1_ticker_3_text">
            <a:extLst>
              <a:ext uri="{FF2B5EF4-FFF2-40B4-BE49-F238E27FC236}">
                <a16:creationId xmlns:a16="http://schemas.microsoft.com/office/drawing/2014/main" id="{8EB38D33-A0BD-4CC0-A581-44EB9A4593F7}"/>
              </a:ext>
            </a:extLst>
          </p:cNvPr>
          <p:cNvSpPr>
            <a:spLocks noGrp="1"/>
          </p:cNvSpPr>
          <p:nvPr>
            <p:ph type="body" sz="quarter" idx="18"/>
          </p:nvPr>
        </p:nvSpPr>
        <p:spPr>
          <a:xfrm>
            <a:off x="4708302" y="2395728"/>
            <a:ext cx="1261872" cy="423672"/>
          </a:xfrm>
        </p:spPr>
        <p:txBody>
          <a:bodyPr/>
          <a:lstStyle/>
          <a:p>
            <a:r>
              <a:rPr lang="en-US" dirty="0"/>
              <a:t>XXM</a:t>
            </a:r>
          </a:p>
        </p:txBody>
      </p:sp>
      <p:sp>
        <p:nvSpPr>
          <p:cNvPr id="44" name="slide_1_ticker_4_text">
            <a:extLst>
              <a:ext uri="{FF2B5EF4-FFF2-40B4-BE49-F238E27FC236}">
                <a16:creationId xmlns:a16="http://schemas.microsoft.com/office/drawing/2014/main" id="{FF173344-A294-4063-ADB8-13819E1DDEB7}"/>
              </a:ext>
            </a:extLst>
          </p:cNvPr>
          <p:cNvSpPr>
            <a:spLocks noGrp="1"/>
          </p:cNvSpPr>
          <p:nvPr>
            <p:ph type="body" sz="quarter" idx="20"/>
          </p:nvPr>
        </p:nvSpPr>
        <p:spPr>
          <a:xfrm>
            <a:off x="6568678" y="2395728"/>
            <a:ext cx="1261872" cy="439388"/>
          </a:xfrm>
        </p:spPr>
        <p:txBody>
          <a:bodyPr/>
          <a:lstStyle/>
          <a:p>
            <a:r>
              <a:rPr lang="en-US" dirty="0"/>
              <a:t>XXM</a:t>
            </a:r>
          </a:p>
        </p:txBody>
      </p:sp>
      <p:sp>
        <p:nvSpPr>
          <p:cNvPr id="5" name="slide_1_chart_title_text">
            <a:extLst>
              <a:ext uri="{FF2B5EF4-FFF2-40B4-BE49-F238E27FC236}">
                <a16:creationId xmlns:a16="http://schemas.microsoft.com/office/drawing/2014/main" id="{D43E5522-EF46-4A9C-AEB5-5B6804740192}"/>
              </a:ext>
            </a:extLst>
          </p:cNvPr>
          <p:cNvSpPr>
            <a:spLocks noGrp="1"/>
          </p:cNvSpPr>
          <p:nvPr>
            <p:ph type="body" sz="quarter" idx="23"/>
          </p:nvPr>
        </p:nvSpPr>
        <p:spPr>
          <a:xfrm>
            <a:off x="6348413" y="3453766"/>
            <a:ext cx="5458968" cy="182880"/>
          </a:xfrm>
        </p:spPr>
        <p:txBody>
          <a:bodyPr/>
          <a:lstStyle/>
          <a:p>
            <a:r>
              <a:rPr lang="en-US" dirty="0"/>
              <a:t>FIGURE 1: Historical Absorption, Deliveries, and Vacancy</a:t>
            </a:r>
          </a:p>
        </p:txBody>
      </p:sp>
      <p:sp>
        <p:nvSpPr>
          <p:cNvPr id="3" name="slide_1_source_text">
            <a:extLst>
              <a:ext uri="{FF2B5EF4-FFF2-40B4-BE49-F238E27FC236}">
                <a16:creationId xmlns:a16="http://schemas.microsoft.com/office/drawing/2014/main" id="{8FD3769E-6F39-4516-8D12-B7EBEA454B90}"/>
              </a:ext>
            </a:extLst>
          </p:cNvPr>
          <p:cNvSpPr>
            <a:spLocks noGrp="1"/>
          </p:cNvSpPr>
          <p:nvPr>
            <p:ph type="body" sz="quarter" idx="25"/>
          </p:nvPr>
        </p:nvSpPr>
        <p:spPr>
          <a:xfrm>
            <a:off x="6348413" y="6286499"/>
            <a:ext cx="5458968" cy="118872"/>
          </a:xfrm>
        </p:spPr>
        <p:txBody>
          <a:bodyPr/>
          <a:lstStyle/>
          <a:p>
            <a:r>
              <a:rPr lang="en-US" dirty="0"/>
              <a:t>Source: CBRE Research, Q3 2024</a:t>
            </a:r>
          </a:p>
        </p:txBody>
      </p:sp>
      <p:grpSp>
        <p:nvGrpSpPr>
          <p:cNvPr id="20" name="Group 19">
            <a:extLst>
              <a:ext uri="{FF2B5EF4-FFF2-40B4-BE49-F238E27FC236}">
                <a16:creationId xmlns:a16="http://schemas.microsoft.com/office/drawing/2014/main" id="{C62FD356-E81D-4DF4-BF75-3B3C7734FD50}"/>
              </a:ext>
            </a:extLst>
          </p:cNvPr>
          <p:cNvGrpSpPr/>
          <p:nvPr/>
        </p:nvGrpSpPr>
        <p:grpSpPr>
          <a:xfrm>
            <a:off x="-1447800" y="2270918"/>
            <a:ext cx="1295400" cy="1662113"/>
            <a:chOff x="-1447800" y="2270918"/>
            <a:chExt cx="1295400" cy="1662113"/>
          </a:xfrm>
        </p:grpSpPr>
        <p:sp>
          <p:nvSpPr>
            <p:cNvPr id="21" name="Rectangle 20">
              <a:extLst>
                <a:ext uri="{FF2B5EF4-FFF2-40B4-BE49-F238E27FC236}">
                  <a16:creationId xmlns:a16="http://schemas.microsoft.com/office/drawing/2014/main" id="{5C19B3A4-B4CA-45A2-AFDF-DD2E8EC1FFB4}"/>
                </a:ext>
              </a:extLst>
            </p:cNvPr>
            <p:cNvSpPr/>
            <p:nvPr/>
          </p:nvSpPr>
          <p:spPr>
            <a:xfrm>
              <a:off x="-1447800" y="2270918"/>
              <a:ext cx="1295400" cy="16621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050" dirty="0">
                  <a:solidFill>
                    <a:schemeClr val="bg1"/>
                  </a:solidFill>
                </a:rPr>
                <a:t>Copy and paste one of these arrows into the “add arrow” picture boxes as needed. They are vector objects that will perfectly fill the space.</a:t>
              </a:r>
            </a:p>
            <a:p>
              <a:pPr algn="l">
                <a:spcAft>
                  <a:spcPts val="300"/>
                </a:spcAft>
              </a:pPr>
              <a:endParaRPr lang="en-US" sz="1050" dirty="0">
                <a:solidFill>
                  <a:schemeClr val="bg1"/>
                </a:solidFill>
              </a:endParaRPr>
            </a:p>
          </p:txBody>
        </p:sp>
        <p:sp>
          <p:nvSpPr>
            <p:cNvPr id="22" name="Rectangle 21">
              <a:extLst>
                <a:ext uri="{FF2B5EF4-FFF2-40B4-BE49-F238E27FC236}">
                  <a16:creationId xmlns:a16="http://schemas.microsoft.com/office/drawing/2014/main" id="{7FF38DDF-E48C-4F6B-9C2E-7468573C08E7}"/>
                </a:ext>
              </a:extLst>
            </p:cNvPr>
            <p:cNvSpPr/>
            <p:nvPr/>
          </p:nvSpPr>
          <p:spPr>
            <a:xfrm>
              <a:off x="-1369315" y="3636076"/>
              <a:ext cx="1140715" cy="16611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pic>
        <p:nvPicPr>
          <p:cNvPr id="23" name="up_arrow_picture">
            <a:extLst>
              <a:ext uri="{FF2B5EF4-FFF2-40B4-BE49-F238E27FC236}">
                <a16:creationId xmlns:a16="http://schemas.microsoft.com/office/drawing/2014/main" id="{637EE5F1-D9AE-423F-AFFA-2382C6203FEC}"/>
              </a:ext>
            </a:extLst>
          </p:cNvPr>
          <p:cNvPicPr>
            <a:picLocks noChangeAspect="1"/>
          </p:cNvPicPr>
          <p:nvPr/>
        </p:nvPicPr>
        <p:blipFill>
          <a:blip r:embed="rId5"/>
          <a:stretch>
            <a:fillRect/>
          </a:stretch>
        </p:blipFill>
        <p:spPr>
          <a:xfrm>
            <a:off x="-1354671" y="3638716"/>
            <a:ext cx="169164" cy="167640"/>
          </a:xfrm>
          <a:prstGeom prst="rect">
            <a:avLst/>
          </a:prstGeom>
        </p:spPr>
      </p:pic>
      <p:pic>
        <p:nvPicPr>
          <p:cNvPr id="28" name="down_arrow_picture">
            <a:extLst>
              <a:ext uri="{FF2B5EF4-FFF2-40B4-BE49-F238E27FC236}">
                <a16:creationId xmlns:a16="http://schemas.microsoft.com/office/drawing/2014/main" id="{4613C212-D3B2-431C-ABBE-B99FBB055811}"/>
              </a:ext>
            </a:extLst>
          </p:cNvPr>
          <p:cNvPicPr>
            <a:picLocks noChangeAspect="1"/>
          </p:cNvPicPr>
          <p:nvPr/>
        </p:nvPicPr>
        <p:blipFill>
          <a:blip r:embed="rId6"/>
          <a:stretch>
            <a:fillRect/>
          </a:stretch>
        </p:blipFill>
        <p:spPr>
          <a:xfrm>
            <a:off x="-829058" y="3636076"/>
            <a:ext cx="169164" cy="169164"/>
          </a:xfrm>
          <a:prstGeom prst="rect">
            <a:avLst/>
          </a:prstGeom>
        </p:spPr>
      </p:pic>
      <p:pic>
        <p:nvPicPr>
          <p:cNvPr id="29" name="neutral_arrow_picture">
            <a:extLst>
              <a:ext uri="{FF2B5EF4-FFF2-40B4-BE49-F238E27FC236}">
                <a16:creationId xmlns:a16="http://schemas.microsoft.com/office/drawing/2014/main" id="{E1369C33-F4BD-4F9C-86A3-6E83CCD55A9E}"/>
              </a:ext>
            </a:extLst>
          </p:cNvPr>
          <p:cNvPicPr>
            <a:picLocks noChangeAspect="1"/>
          </p:cNvPicPr>
          <p:nvPr/>
        </p:nvPicPr>
        <p:blipFill>
          <a:blip r:embed="rId7"/>
          <a:stretch>
            <a:fillRect/>
          </a:stretch>
        </p:blipFill>
        <p:spPr>
          <a:xfrm>
            <a:off x="-1086149" y="3636076"/>
            <a:ext cx="169164" cy="169164"/>
          </a:xfrm>
          <a:prstGeom prst="rect">
            <a:avLst/>
          </a:prstGeom>
        </p:spPr>
      </p:pic>
      <p:sp>
        <p:nvSpPr>
          <p:cNvPr id="2" name="slide_1_ticker_5_text">
            <a:extLst>
              <a:ext uri="{FF2B5EF4-FFF2-40B4-BE49-F238E27FC236}">
                <a16:creationId xmlns:a16="http://schemas.microsoft.com/office/drawing/2014/main" id="{B8660A7D-72C7-E113-7168-BA2B248429D8}"/>
              </a:ext>
            </a:extLst>
          </p:cNvPr>
          <p:cNvSpPr txBox="1">
            <a:spLocks/>
          </p:cNvSpPr>
          <p:nvPr/>
        </p:nvSpPr>
        <p:spPr>
          <a:xfrm>
            <a:off x="8429054" y="2395728"/>
            <a:ext cx="1261872" cy="453898"/>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$X.XX</a:t>
            </a:r>
          </a:p>
        </p:txBody>
      </p:sp>
      <p:graphicFrame>
        <p:nvGraphicFramePr>
          <p:cNvPr id="10" name="slide_1_chart_1">
            <a:extLst>
              <a:ext uri="{FF2B5EF4-FFF2-40B4-BE49-F238E27FC236}">
                <a16:creationId xmlns:a16="http://schemas.microsoft.com/office/drawing/2014/main" id="{FE3CE983-E753-2252-4B70-E1B3963EB7AE}"/>
              </a:ext>
            </a:extLst>
          </p:cNvPr>
          <p:cNvGraphicFramePr>
            <a:graphicFrameLocks noGrp="1"/>
          </p:cNvGraphicFramePr>
          <p:nvPr>
            <p:ph type="chart" sz="quarter" idx="24"/>
            <p:extLst>
              <p:ext uri="{D42A27DB-BD31-4B8C-83A1-F6EECF244321}">
                <p14:modId xmlns:p14="http://schemas.microsoft.com/office/powerpoint/2010/main" val="1537984111"/>
              </p:ext>
            </p:extLst>
          </p:nvPr>
        </p:nvGraphicFramePr>
        <p:xfrm>
          <a:off x="6348413" y="3636076"/>
          <a:ext cx="5459412" cy="2612324"/>
        </p:xfrm>
        <a:graphic>
          <a:graphicData uri="http://schemas.openxmlformats.org/drawingml/2006/chart">
            <c:chart xmlns:c="http://schemas.openxmlformats.org/drawingml/2006/chart" xmlns:r="http://schemas.openxmlformats.org/officeDocument/2006/relationships" r:id="rId8"/>
          </a:graphicData>
        </a:graphic>
      </p:graphicFrame>
      <p:sp>
        <p:nvSpPr>
          <p:cNvPr id="6" name="slide_1_market_sector_title_text">
            <a:extLst>
              <a:ext uri="{FF2B5EF4-FFF2-40B4-BE49-F238E27FC236}">
                <a16:creationId xmlns:a16="http://schemas.microsoft.com/office/drawing/2014/main" id="{0BDBB92D-53A0-8DE8-B08B-BCB6E89D9A27}"/>
              </a:ext>
            </a:extLst>
          </p:cNvPr>
          <p:cNvSpPr txBox="1">
            <a:spLocks/>
          </p:cNvSpPr>
          <p:nvPr/>
        </p:nvSpPr>
        <p:spPr>
          <a:xfrm>
            <a:off x="768096" y="790383"/>
            <a:ext cx="5327904" cy="164307"/>
          </a:xfrm>
          <a:prstGeom prst="rect">
            <a:avLst/>
          </a:prstGeom>
        </p:spPr>
        <p:txBody>
          <a:bodyPr vert="horz" lIns="0" tIns="0" rIns="72000" bIns="0" rtlCol="0" anchor="b" anchorCtr="0">
            <a:noAutofit/>
          </a:bodyPr>
          <a:lstStyle>
            <a:lvl1pPr marL="0" eaLnBrk="1" hangingPunct="1">
              <a:spcBef>
                <a:spcPts val="0"/>
              </a:spcBef>
              <a:spcAft>
                <a:spcPts val="600"/>
              </a:spcAft>
              <a:defRPr sz="1200" cap="all" baseline="0">
                <a:solidFill>
                  <a:schemeClr val="tx1"/>
                </a:solidFill>
                <a:latin typeface="+mn-lt"/>
                <a:ea typeface="+mn-ea"/>
                <a:cs typeface="+mn-cs"/>
              </a:defRPr>
            </a:lvl1pPr>
            <a:lvl2pPr marL="0" indent="0" eaLnBrk="1" hangingPunct="1">
              <a:lnSpc>
                <a:spcPct val="90000"/>
              </a:lnSpc>
              <a:spcBef>
                <a:spcPts val="0"/>
              </a:spcBef>
              <a:spcAft>
                <a:spcPts val="0"/>
              </a:spcAft>
              <a:buClr>
                <a:srgbClr val="17E88F"/>
              </a:buClr>
              <a:buFontTx/>
              <a:buNone/>
              <a:defRPr sz="4400" b="0">
                <a:solidFill>
                  <a:schemeClr val="accent6"/>
                </a:solidFill>
                <a:latin typeface="+mj-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Figures | [Market] [Sector] | [PERIOD ‘QQ YYYY’]</a:t>
            </a:r>
          </a:p>
        </p:txBody>
      </p:sp>
      <p:sp>
        <p:nvSpPr>
          <p:cNvPr id="7" name="slide_1_ticker_1_title_text">
            <a:extLst>
              <a:ext uri="{FF2B5EF4-FFF2-40B4-BE49-F238E27FC236}">
                <a16:creationId xmlns:a16="http://schemas.microsoft.com/office/drawing/2014/main" id="{E2DC5C2F-F8E7-7EAC-E8DE-DBD29FE004C2}"/>
              </a:ext>
            </a:extLst>
          </p:cNvPr>
          <p:cNvSpPr txBox="1">
            <a:spLocks/>
          </p:cNvSpPr>
          <p:nvPr/>
        </p:nvSpPr>
        <p:spPr>
          <a:xfrm>
            <a:off x="987552" y="2849626"/>
            <a:ext cx="765048"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Vacancy Rate</a:t>
            </a:r>
          </a:p>
          <a:p>
            <a:endParaRPr lang="en-US" dirty="0"/>
          </a:p>
        </p:txBody>
      </p:sp>
      <p:sp>
        <p:nvSpPr>
          <p:cNvPr id="8" name="slide_1_ticker_2_title_text">
            <a:extLst>
              <a:ext uri="{FF2B5EF4-FFF2-40B4-BE49-F238E27FC236}">
                <a16:creationId xmlns:a16="http://schemas.microsoft.com/office/drawing/2014/main" id="{6F0DAA68-ED80-AB62-2D4E-A373622BE52F}"/>
              </a:ext>
            </a:extLst>
          </p:cNvPr>
          <p:cNvSpPr txBox="1">
            <a:spLocks/>
          </p:cNvSpPr>
          <p:nvPr/>
        </p:nvSpPr>
        <p:spPr>
          <a:xfrm>
            <a:off x="2846869" y="2831892"/>
            <a:ext cx="1261697"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Net Absorption</a:t>
            </a:r>
          </a:p>
        </p:txBody>
      </p:sp>
      <p:sp>
        <p:nvSpPr>
          <p:cNvPr id="9" name="slide_1_ticker_3_title_text">
            <a:extLst>
              <a:ext uri="{FF2B5EF4-FFF2-40B4-BE49-F238E27FC236}">
                <a16:creationId xmlns:a16="http://schemas.microsoft.com/office/drawing/2014/main" id="{8E9BC0F8-3B42-E1AB-AC62-4DD364A48A0F}"/>
              </a:ext>
            </a:extLst>
          </p:cNvPr>
          <p:cNvSpPr txBox="1">
            <a:spLocks/>
          </p:cNvSpPr>
          <p:nvPr/>
        </p:nvSpPr>
        <p:spPr>
          <a:xfrm>
            <a:off x="4708127" y="2849626"/>
            <a:ext cx="1261872"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Construction Delivered</a:t>
            </a:r>
          </a:p>
        </p:txBody>
      </p:sp>
      <p:sp>
        <p:nvSpPr>
          <p:cNvPr id="11" name="slide_1_ticker_4_title_text">
            <a:extLst>
              <a:ext uri="{FF2B5EF4-FFF2-40B4-BE49-F238E27FC236}">
                <a16:creationId xmlns:a16="http://schemas.microsoft.com/office/drawing/2014/main" id="{EF5B4691-293D-D255-5331-6C9BAA0E7EC8}"/>
              </a:ext>
            </a:extLst>
          </p:cNvPr>
          <p:cNvSpPr txBox="1">
            <a:spLocks/>
          </p:cNvSpPr>
          <p:nvPr/>
        </p:nvSpPr>
        <p:spPr>
          <a:xfrm>
            <a:off x="6567621" y="2849626"/>
            <a:ext cx="1261872"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Under Construction</a:t>
            </a:r>
          </a:p>
        </p:txBody>
      </p:sp>
      <p:sp>
        <p:nvSpPr>
          <p:cNvPr id="12" name="slide_1_ticker_5_title_text">
            <a:extLst>
              <a:ext uri="{FF2B5EF4-FFF2-40B4-BE49-F238E27FC236}">
                <a16:creationId xmlns:a16="http://schemas.microsoft.com/office/drawing/2014/main" id="{9B54E906-E112-BDC1-3CBF-0D736FEC5179}"/>
              </a:ext>
            </a:extLst>
          </p:cNvPr>
          <p:cNvSpPr txBox="1">
            <a:spLocks/>
          </p:cNvSpPr>
          <p:nvPr/>
        </p:nvSpPr>
        <p:spPr>
          <a:xfrm>
            <a:off x="8429054" y="2854758"/>
            <a:ext cx="1261872" cy="18288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NNN / Lease Rate</a:t>
            </a:r>
          </a:p>
        </p:txBody>
      </p:sp>
      <p:sp>
        <p:nvSpPr>
          <p:cNvPr id="13" name="slide_1_summary_title_text">
            <a:extLst>
              <a:ext uri="{FF2B5EF4-FFF2-40B4-BE49-F238E27FC236}">
                <a16:creationId xmlns:a16="http://schemas.microsoft.com/office/drawing/2014/main" id="{71DE25C8-9049-ACFB-5C3B-8FDBFD7D663E}"/>
              </a:ext>
            </a:extLst>
          </p:cNvPr>
          <p:cNvSpPr txBox="1">
            <a:spLocks/>
          </p:cNvSpPr>
          <p:nvPr/>
        </p:nvSpPr>
        <p:spPr>
          <a:xfrm>
            <a:off x="767652" y="3432810"/>
            <a:ext cx="1289304" cy="182881"/>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2"/>
            <a:r>
              <a:rPr lang="en-US" dirty="0"/>
              <a:t>SUMMARY</a:t>
            </a:r>
          </a:p>
        </p:txBody>
      </p:sp>
      <p:pic>
        <p:nvPicPr>
          <p:cNvPr id="32" name="slide_1_arrow_2_picture">
            <a:extLst>
              <a:ext uri="{FF2B5EF4-FFF2-40B4-BE49-F238E27FC236}">
                <a16:creationId xmlns:a16="http://schemas.microsoft.com/office/drawing/2014/main" id="{1678FE0D-11B0-4B3F-9FEB-6D26F2E8CC98}"/>
              </a:ext>
            </a:extLst>
          </p:cNvPr>
          <p:cNvPicPr>
            <a:picLocks noChangeAspect="1"/>
          </p:cNvPicPr>
          <p:nvPr/>
        </p:nvPicPr>
        <p:blipFill>
          <a:blip r:embed="rId7"/>
          <a:stretch>
            <a:fillRect/>
          </a:stretch>
        </p:blipFill>
        <p:spPr>
          <a:xfrm>
            <a:off x="2626653" y="2575485"/>
            <a:ext cx="169164" cy="169164"/>
          </a:xfrm>
          <a:prstGeom prst="rect">
            <a:avLst/>
          </a:prstGeom>
        </p:spPr>
      </p:pic>
      <p:pic>
        <p:nvPicPr>
          <p:cNvPr id="33" name="slide_1_arrow_3_picture">
            <a:extLst>
              <a:ext uri="{FF2B5EF4-FFF2-40B4-BE49-F238E27FC236}">
                <a16:creationId xmlns:a16="http://schemas.microsoft.com/office/drawing/2014/main" id="{471D4747-F3BF-272F-4BEB-BC75DB1C83C0}"/>
              </a:ext>
            </a:extLst>
          </p:cNvPr>
          <p:cNvPicPr>
            <a:picLocks noChangeAspect="1"/>
          </p:cNvPicPr>
          <p:nvPr/>
        </p:nvPicPr>
        <p:blipFill>
          <a:blip r:embed="rId7"/>
          <a:stretch>
            <a:fillRect/>
          </a:stretch>
        </p:blipFill>
        <p:spPr>
          <a:xfrm>
            <a:off x="4489363" y="2571856"/>
            <a:ext cx="169164" cy="169164"/>
          </a:xfrm>
          <a:prstGeom prst="rect">
            <a:avLst/>
          </a:prstGeom>
        </p:spPr>
      </p:pic>
      <p:pic>
        <p:nvPicPr>
          <p:cNvPr id="34" name="slide_1_arrow_1_picture">
            <a:extLst>
              <a:ext uri="{FF2B5EF4-FFF2-40B4-BE49-F238E27FC236}">
                <a16:creationId xmlns:a16="http://schemas.microsoft.com/office/drawing/2014/main" id="{855834A6-8BA7-3772-17AD-CA7C1AC0723A}"/>
              </a:ext>
            </a:extLst>
          </p:cNvPr>
          <p:cNvPicPr>
            <a:picLocks noChangeAspect="1"/>
          </p:cNvPicPr>
          <p:nvPr/>
        </p:nvPicPr>
        <p:blipFill>
          <a:blip r:embed="rId7"/>
          <a:stretch>
            <a:fillRect/>
          </a:stretch>
        </p:blipFill>
        <p:spPr>
          <a:xfrm>
            <a:off x="805361" y="2571856"/>
            <a:ext cx="169164" cy="169164"/>
          </a:xfrm>
          <a:prstGeom prst="rect">
            <a:avLst/>
          </a:prstGeom>
        </p:spPr>
      </p:pic>
      <p:pic>
        <p:nvPicPr>
          <p:cNvPr id="35" name="slide_1_arrow_5_picture">
            <a:extLst>
              <a:ext uri="{FF2B5EF4-FFF2-40B4-BE49-F238E27FC236}">
                <a16:creationId xmlns:a16="http://schemas.microsoft.com/office/drawing/2014/main" id="{EA1F559E-45A6-7B70-CA22-829AFABFA9A9}"/>
              </a:ext>
            </a:extLst>
          </p:cNvPr>
          <p:cNvPicPr>
            <a:picLocks noChangeAspect="1"/>
          </p:cNvPicPr>
          <p:nvPr/>
        </p:nvPicPr>
        <p:blipFill>
          <a:blip r:embed="rId7"/>
          <a:stretch>
            <a:fillRect/>
          </a:stretch>
        </p:blipFill>
        <p:spPr>
          <a:xfrm>
            <a:off x="8229600" y="2574948"/>
            <a:ext cx="169164" cy="169164"/>
          </a:xfrm>
          <a:prstGeom prst="rect">
            <a:avLst/>
          </a:prstGeom>
        </p:spPr>
      </p:pic>
      <p:pic>
        <p:nvPicPr>
          <p:cNvPr id="36" name="slide_1_arrow_4_picture">
            <a:extLst>
              <a:ext uri="{FF2B5EF4-FFF2-40B4-BE49-F238E27FC236}">
                <a16:creationId xmlns:a16="http://schemas.microsoft.com/office/drawing/2014/main" id="{CC9A7599-891F-4CCC-52B4-07667B38FBD0}"/>
              </a:ext>
            </a:extLst>
          </p:cNvPr>
          <p:cNvPicPr>
            <a:picLocks noChangeAspect="1"/>
          </p:cNvPicPr>
          <p:nvPr/>
        </p:nvPicPr>
        <p:blipFill>
          <a:blip r:embed="rId7"/>
          <a:stretch>
            <a:fillRect/>
          </a:stretch>
        </p:blipFill>
        <p:spPr>
          <a:xfrm>
            <a:off x="6348413" y="2571856"/>
            <a:ext cx="169164" cy="169164"/>
          </a:xfrm>
          <a:prstGeom prst="rect">
            <a:avLst/>
          </a:prstGeom>
        </p:spPr>
      </p:pic>
    </p:spTree>
    <p:custDataLst>
      <p:custData r:id="rId1"/>
      <p:custData r:id="rId2"/>
    </p:custDataLst>
    <p:extLst>
      <p:ext uri="{BB962C8B-B14F-4D97-AF65-F5344CB8AC3E}">
        <p14:creationId xmlns:p14="http://schemas.microsoft.com/office/powerpoint/2010/main" val="3580095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_2_body_1_text">
            <a:extLst>
              <a:ext uri="{FF2B5EF4-FFF2-40B4-BE49-F238E27FC236}">
                <a16:creationId xmlns:a16="http://schemas.microsoft.com/office/drawing/2014/main" id="{8FFEFE25-1167-4C8B-991D-D4B800FC5B6C}"/>
              </a:ext>
            </a:extLst>
          </p:cNvPr>
          <p:cNvSpPr>
            <a:spLocks noGrp="1"/>
          </p:cNvSpPr>
          <p:nvPr>
            <p:ph sz="quarter" idx="10"/>
          </p:nvPr>
        </p:nvSpPr>
        <p:spPr>
          <a:xfrm>
            <a:off x="766763" y="1143000"/>
            <a:ext cx="5029200" cy="2400300"/>
          </a:xfrm>
        </p:spPr>
        <p:txBody>
          <a:bodyPr/>
          <a:lstStyle/>
          <a:p>
            <a:pPr lvl="3"/>
            <a:r>
              <a:rPr lang="en-US" b="0" i="0" dirty="0">
                <a:solidFill>
                  <a:srgbClr val="31333F"/>
                </a:solidFill>
                <a:effectLst/>
                <a:highlight>
                  <a:srgbClr val="FFFFFF"/>
                </a:highlight>
                <a:latin typeface="Calibre (Body)"/>
              </a:rPr>
              <a:t>The Columbus (OH) Industrial market's availability rate has shown significant fluctuations over the past five years, reflecting varying market conditions. As of 2024 Q3, the overall availability rate stands at 7.79%, a slight increase from 7.54% in the previous quarter (Q2 2024) and a noticeable rise from 7.20% in 2023 Q4. Year-over-year, the availability rate has increased from 6.17% in 2023 Q3, indicating a trend of rising availability. Over the past five years, the availability rate has oscillated, with a notable low of 1.75% in 2022 Q3 and a high of 7.81% in 2020 Q3. The submarkets with the highest availability rates in 2024 Q3 include Pickaway County at 20.30% and Madison County at 12.97%, while the lowest availability rates are observed in Union County at 1.64% and East at 2.29%. These trends highlight the dynamic nature of the Columbus industrial real estate market, influenced by varying levels of construction activity, leasing demand, and economic conditions.</a:t>
            </a:r>
            <a:endParaRPr lang="en-US" dirty="0">
              <a:latin typeface="Calibre (Body)"/>
            </a:endParaRPr>
          </a:p>
        </p:txBody>
      </p:sp>
      <p:sp>
        <p:nvSpPr>
          <p:cNvPr id="22" name="slide_2_chart_1_title_text">
            <a:extLst>
              <a:ext uri="{FF2B5EF4-FFF2-40B4-BE49-F238E27FC236}">
                <a16:creationId xmlns:a16="http://schemas.microsoft.com/office/drawing/2014/main" id="{7D98B377-6F3D-4E57-BFE2-8033F25CDF8D}"/>
              </a:ext>
            </a:extLst>
          </p:cNvPr>
          <p:cNvSpPr>
            <a:spLocks noGrp="1"/>
          </p:cNvSpPr>
          <p:nvPr>
            <p:ph type="body" sz="quarter" idx="11"/>
          </p:nvPr>
        </p:nvSpPr>
        <p:spPr>
          <a:xfrm>
            <a:off x="6348857" y="850392"/>
            <a:ext cx="5458968" cy="210312"/>
          </a:xfrm>
        </p:spPr>
        <p:txBody>
          <a:bodyPr/>
          <a:lstStyle/>
          <a:p>
            <a:r>
              <a:rPr lang="en-US" dirty="0"/>
              <a:t>FIGURE 2: Availability Rates</a:t>
            </a:r>
          </a:p>
        </p:txBody>
      </p:sp>
      <p:sp>
        <p:nvSpPr>
          <p:cNvPr id="23" name="slide_2_chart_1_source_text">
            <a:extLst>
              <a:ext uri="{FF2B5EF4-FFF2-40B4-BE49-F238E27FC236}">
                <a16:creationId xmlns:a16="http://schemas.microsoft.com/office/drawing/2014/main" id="{C86A492F-0DFC-48E2-8B01-763991D17FD9}"/>
              </a:ext>
            </a:extLst>
          </p:cNvPr>
          <p:cNvSpPr>
            <a:spLocks noGrp="1"/>
          </p:cNvSpPr>
          <p:nvPr>
            <p:ph type="body" sz="quarter" idx="13"/>
          </p:nvPr>
        </p:nvSpPr>
        <p:spPr>
          <a:xfrm>
            <a:off x="6348857" y="3314700"/>
            <a:ext cx="5458968" cy="228600"/>
          </a:xfrm>
        </p:spPr>
        <p:txBody>
          <a:bodyPr/>
          <a:lstStyle/>
          <a:p>
            <a:r>
              <a:rPr lang="en-US" dirty="0"/>
              <a:t>Source: CBRE Research, Q3 2024</a:t>
            </a:r>
          </a:p>
        </p:txBody>
      </p:sp>
      <p:sp>
        <p:nvSpPr>
          <p:cNvPr id="5" name="slide_2_chart_2_title_text">
            <a:extLst>
              <a:ext uri="{FF2B5EF4-FFF2-40B4-BE49-F238E27FC236}">
                <a16:creationId xmlns:a16="http://schemas.microsoft.com/office/drawing/2014/main" id="{43A25480-895F-45BA-B5B2-58CB050CC423}"/>
              </a:ext>
            </a:extLst>
          </p:cNvPr>
          <p:cNvSpPr>
            <a:spLocks noGrp="1"/>
          </p:cNvSpPr>
          <p:nvPr>
            <p:ph type="body" sz="quarter" idx="14"/>
          </p:nvPr>
        </p:nvSpPr>
        <p:spPr>
          <a:xfrm>
            <a:off x="6348857" y="3723355"/>
            <a:ext cx="5458968" cy="210312"/>
          </a:xfrm>
        </p:spPr>
        <p:txBody>
          <a:bodyPr/>
          <a:lstStyle/>
          <a:p>
            <a:r>
              <a:rPr lang="en-US" dirty="0"/>
              <a:t>FIGURE 3: Net Average Asking Rents</a:t>
            </a:r>
          </a:p>
        </p:txBody>
      </p:sp>
      <p:sp>
        <p:nvSpPr>
          <p:cNvPr id="3" name="slide_2_chart_2_source_text">
            <a:extLst>
              <a:ext uri="{FF2B5EF4-FFF2-40B4-BE49-F238E27FC236}">
                <a16:creationId xmlns:a16="http://schemas.microsoft.com/office/drawing/2014/main" id="{4AC5D1BE-4AE9-44F0-99CA-3157E0739A56}"/>
              </a:ext>
            </a:extLst>
          </p:cNvPr>
          <p:cNvSpPr>
            <a:spLocks noGrp="1"/>
          </p:cNvSpPr>
          <p:nvPr>
            <p:ph type="body" sz="quarter" idx="16"/>
          </p:nvPr>
        </p:nvSpPr>
        <p:spPr>
          <a:xfrm>
            <a:off x="6348857" y="6167438"/>
            <a:ext cx="5458968" cy="228600"/>
          </a:xfrm>
        </p:spPr>
        <p:txBody>
          <a:bodyPr/>
          <a:lstStyle/>
          <a:p>
            <a:r>
              <a:rPr lang="en-US" dirty="0"/>
              <a:t>Source: CBRE Research, Q3 2024</a:t>
            </a:r>
          </a:p>
        </p:txBody>
      </p:sp>
      <p:sp>
        <p:nvSpPr>
          <p:cNvPr id="2" name="slide_2_body_2_text">
            <a:extLst>
              <a:ext uri="{FF2B5EF4-FFF2-40B4-BE49-F238E27FC236}">
                <a16:creationId xmlns:a16="http://schemas.microsoft.com/office/drawing/2014/main" id="{6EF13593-4833-9965-77F8-22E1D7535AD9}"/>
              </a:ext>
            </a:extLst>
          </p:cNvPr>
          <p:cNvSpPr txBox="1">
            <a:spLocks/>
          </p:cNvSpPr>
          <p:nvPr/>
        </p:nvSpPr>
        <p:spPr>
          <a:xfrm>
            <a:off x="766763" y="4038599"/>
            <a:ext cx="5029200" cy="2360563"/>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3"/>
            <a:r>
              <a:rPr lang="en-US" dirty="0"/>
              <a:t>In Q3 2024, the Columbus (OH) Industrial market saw a mixed trend in average asking lease rates across its submarkets. The overall average yearly direct lease rate stood at $6.12 per sq. ft., reflecting a slight decrease from $6.14 in Q2 2024. The Northwest submarket commanded the highest lease rates, averaging $11.34 per sq. ft., which represents a decrease from $11.95 in the previous quarter, marking the highest drop in lease rates. Conversely, Fairfield County had the lowest lease rates at $5.26 per sq. ft., a slight increase from $5.07 in Q2 2024, indicating the highest quarter-over-quarter growth. The West submarket also experienced a notable increase, moving from $6.66 to $6.94 per sq. ft. These variations highlight the diverse economic dynamics and demand across different areas within the Columbus industrial market..</a:t>
            </a:r>
          </a:p>
        </p:txBody>
      </p:sp>
      <p:graphicFrame>
        <p:nvGraphicFramePr>
          <p:cNvPr id="14" name="slide_2_chart_1">
            <a:extLst>
              <a:ext uri="{FF2B5EF4-FFF2-40B4-BE49-F238E27FC236}">
                <a16:creationId xmlns:a16="http://schemas.microsoft.com/office/drawing/2014/main" id="{5C4EC5ED-3353-351E-5800-E0694556A4C2}"/>
              </a:ext>
            </a:extLst>
          </p:cNvPr>
          <p:cNvGraphicFramePr>
            <a:graphicFrameLocks/>
          </p:cNvGraphicFramePr>
          <p:nvPr>
            <p:extLst>
              <p:ext uri="{D42A27DB-BD31-4B8C-83A1-F6EECF244321}">
                <p14:modId xmlns:p14="http://schemas.microsoft.com/office/powerpoint/2010/main" val="3832099849"/>
              </p:ext>
            </p:extLst>
          </p:nvPr>
        </p:nvGraphicFramePr>
        <p:xfrm>
          <a:off x="6324600" y="990600"/>
          <a:ext cx="5459412" cy="24384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slide_2_chart_2">
            <a:extLst>
              <a:ext uri="{FF2B5EF4-FFF2-40B4-BE49-F238E27FC236}">
                <a16:creationId xmlns:a16="http://schemas.microsoft.com/office/drawing/2014/main" id="{363B7EFF-E64C-3852-566E-8B9944431703}"/>
              </a:ext>
            </a:extLst>
          </p:cNvPr>
          <p:cNvGraphicFramePr>
            <a:graphicFrameLocks noGrp="1"/>
          </p:cNvGraphicFramePr>
          <p:nvPr>
            <p:ph type="chart" sz="quarter" idx="12"/>
            <p:extLst>
              <p:ext uri="{D42A27DB-BD31-4B8C-83A1-F6EECF244321}">
                <p14:modId xmlns:p14="http://schemas.microsoft.com/office/powerpoint/2010/main" val="1595483090"/>
              </p:ext>
            </p:extLst>
          </p:nvPr>
        </p:nvGraphicFramePr>
        <p:xfrm>
          <a:off x="6310313" y="3880104"/>
          <a:ext cx="5459412" cy="2368295"/>
        </p:xfrm>
        <a:graphic>
          <a:graphicData uri="http://schemas.openxmlformats.org/drawingml/2006/chart">
            <c:chart xmlns:c="http://schemas.openxmlformats.org/drawingml/2006/chart" xmlns:r="http://schemas.openxmlformats.org/officeDocument/2006/relationships" r:id="rId6"/>
          </a:graphicData>
        </a:graphic>
      </p:graphicFrame>
      <p:sp>
        <p:nvSpPr>
          <p:cNvPr id="4" name="slide_2_body_1_title_text">
            <a:extLst>
              <a:ext uri="{FF2B5EF4-FFF2-40B4-BE49-F238E27FC236}">
                <a16:creationId xmlns:a16="http://schemas.microsoft.com/office/drawing/2014/main" id="{EBB9A501-7D78-1383-3C68-843D8F042C51}"/>
              </a:ext>
            </a:extLst>
          </p:cNvPr>
          <p:cNvSpPr txBox="1">
            <a:spLocks/>
          </p:cNvSpPr>
          <p:nvPr/>
        </p:nvSpPr>
        <p:spPr>
          <a:xfrm>
            <a:off x="766763" y="844296"/>
            <a:ext cx="5029200" cy="216408"/>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Availability Rate</a:t>
            </a:r>
          </a:p>
        </p:txBody>
      </p:sp>
      <p:sp>
        <p:nvSpPr>
          <p:cNvPr id="6" name="slide_2_body_2_title_text">
            <a:extLst>
              <a:ext uri="{FF2B5EF4-FFF2-40B4-BE49-F238E27FC236}">
                <a16:creationId xmlns:a16="http://schemas.microsoft.com/office/drawing/2014/main" id="{9479FE60-8B4B-85DF-07A0-B35944F5A6E0}"/>
              </a:ext>
            </a:extLst>
          </p:cNvPr>
          <p:cNvSpPr txBox="1">
            <a:spLocks/>
          </p:cNvSpPr>
          <p:nvPr/>
        </p:nvSpPr>
        <p:spPr>
          <a:xfrm>
            <a:off x="766763" y="3706255"/>
            <a:ext cx="5029200" cy="256145"/>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Asking Rent</a:t>
            </a:r>
          </a:p>
        </p:txBody>
      </p:sp>
    </p:spTree>
    <p:custDataLst>
      <p:custData r:id="rId1"/>
      <p:custData r:id="rId2"/>
    </p:custDataLst>
    <p:extLst>
      <p:ext uri="{BB962C8B-B14F-4D97-AF65-F5344CB8AC3E}">
        <p14:creationId xmlns:p14="http://schemas.microsoft.com/office/powerpoint/2010/main" val="2896402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_3_body_1_text">
            <a:extLst>
              <a:ext uri="{FF2B5EF4-FFF2-40B4-BE49-F238E27FC236}">
                <a16:creationId xmlns:a16="http://schemas.microsoft.com/office/drawing/2014/main" id="{8FFEFE25-1167-4C8B-991D-D4B800FC5B6C}"/>
              </a:ext>
            </a:extLst>
          </p:cNvPr>
          <p:cNvSpPr>
            <a:spLocks noGrp="1"/>
          </p:cNvSpPr>
          <p:nvPr>
            <p:ph sz="quarter" idx="10"/>
          </p:nvPr>
        </p:nvSpPr>
        <p:spPr>
          <a:xfrm>
            <a:off x="766763" y="1143000"/>
            <a:ext cx="5029200" cy="2400300"/>
          </a:xfrm>
        </p:spPr>
        <p:txBody>
          <a:bodyPr/>
          <a:lstStyle/>
          <a:p>
            <a:pPr lvl="3">
              <a:tabLst>
                <a:tab pos="1719263" algn="l"/>
              </a:tabLst>
            </a:pPr>
            <a:r>
              <a:rPr lang="en-US" dirty="0"/>
              <a:t>In Q3 2024, the Columbus (OH) Industrial market experienced a notable net absorption of 1,406,995 sq. ft., a significant decrease from the 3,342,016 sq. ft. recorded in Q2 2024. The top five submarkets with the highest year-to-date net absorption were Southeast with 1,457,640 sq. ft., followed closely by Licking County at 1,034,414 sq. ft., Fairfield County with 1,098,380 sq. ft., Delaware County at 460,415 sq. ft., and Union County with 329,358 sq. ft. Notably, the Southeast submarket demonstrated robust performance, contributing substantially to the overall positive absorption trend, while Licking County saw a significant increase due to new construction completions. These figures underscore the dynamic nature of the Columbus industrial market, driven by strong leasing activities and strategic construction deliveries.</a:t>
            </a:r>
          </a:p>
        </p:txBody>
      </p:sp>
      <p:sp>
        <p:nvSpPr>
          <p:cNvPr id="22" name="slide_3_chart_1_title_text">
            <a:extLst>
              <a:ext uri="{FF2B5EF4-FFF2-40B4-BE49-F238E27FC236}">
                <a16:creationId xmlns:a16="http://schemas.microsoft.com/office/drawing/2014/main" id="{7D98B377-6F3D-4E57-BFE2-8033F25CDF8D}"/>
              </a:ext>
            </a:extLst>
          </p:cNvPr>
          <p:cNvSpPr>
            <a:spLocks noGrp="1"/>
          </p:cNvSpPr>
          <p:nvPr>
            <p:ph type="body" sz="quarter" idx="11"/>
          </p:nvPr>
        </p:nvSpPr>
        <p:spPr>
          <a:xfrm>
            <a:off x="6348857" y="850392"/>
            <a:ext cx="5458968" cy="210312"/>
          </a:xfrm>
        </p:spPr>
        <p:txBody>
          <a:bodyPr/>
          <a:lstStyle/>
          <a:p>
            <a:r>
              <a:rPr lang="en-US" dirty="0"/>
              <a:t>FIGURE 4: Net Absorption Trend</a:t>
            </a:r>
          </a:p>
        </p:txBody>
      </p:sp>
      <p:sp>
        <p:nvSpPr>
          <p:cNvPr id="23" name="slide_3_chart_1_source_text">
            <a:extLst>
              <a:ext uri="{FF2B5EF4-FFF2-40B4-BE49-F238E27FC236}">
                <a16:creationId xmlns:a16="http://schemas.microsoft.com/office/drawing/2014/main" id="{C86A492F-0DFC-48E2-8B01-763991D17FD9}"/>
              </a:ext>
            </a:extLst>
          </p:cNvPr>
          <p:cNvSpPr>
            <a:spLocks noGrp="1"/>
          </p:cNvSpPr>
          <p:nvPr>
            <p:ph type="body" sz="quarter" idx="13"/>
          </p:nvPr>
        </p:nvSpPr>
        <p:spPr>
          <a:xfrm>
            <a:off x="6348857" y="3314700"/>
            <a:ext cx="5458968" cy="228600"/>
          </a:xfrm>
        </p:spPr>
        <p:txBody>
          <a:bodyPr/>
          <a:lstStyle/>
          <a:p>
            <a:r>
              <a:rPr lang="en-US" dirty="0"/>
              <a:t>Source: CBRE Research, Q3 2024</a:t>
            </a:r>
          </a:p>
        </p:txBody>
      </p:sp>
      <p:sp>
        <p:nvSpPr>
          <p:cNvPr id="5" name="slide_3_chart_2_title_text">
            <a:extLst>
              <a:ext uri="{FF2B5EF4-FFF2-40B4-BE49-F238E27FC236}">
                <a16:creationId xmlns:a16="http://schemas.microsoft.com/office/drawing/2014/main" id="{43A25480-895F-45BA-B5B2-58CB050CC423}"/>
              </a:ext>
            </a:extLst>
          </p:cNvPr>
          <p:cNvSpPr>
            <a:spLocks noGrp="1"/>
          </p:cNvSpPr>
          <p:nvPr>
            <p:ph type="body" sz="quarter" idx="14"/>
          </p:nvPr>
        </p:nvSpPr>
        <p:spPr>
          <a:xfrm>
            <a:off x="6348857" y="3723355"/>
            <a:ext cx="5458968" cy="210312"/>
          </a:xfrm>
        </p:spPr>
        <p:txBody>
          <a:bodyPr/>
          <a:lstStyle/>
          <a:p>
            <a:r>
              <a:rPr lang="en-US" dirty="0"/>
              <a:t>FIGURE 5: Construction Activity</a:t>
            </a:r>
          </a:p>
        </p:txBody>
      </p:sp>
      <p:sp>
        <p:nvSpPr>
          <p:cNvPr id="3" name="slide_3_chart_2_source_text">
            <a:extLst>
              <a:ext uri="{FF2B5EF4-FFF2-40B4-BE49-F238E27FC236}">
                <a16:creationId xmlns:a16="http://schemas.microsoft.com/office/drawing/2014/main" id="{4AC5D1BE-4AE9-44F0-99CA-3157E0739A56}"/>
              </a:ext>
            </a:extLst>
          </p:cNvPr>
          <p:cNvSpPr>
            <a:spLocks noGrp="1"/>
          </p:cNvSpPr>
          <p:nvPr>
            <p:ph type="body" sz="quarter" idx="16"/>
          </p:nvPr>
        </p:nvSpPr>
        <p:spPr>
          <a:xfrm>
            <a:off x="6348857" y="6167438"/>
            <a:ext cx="5458968" cy="228600"/>
          </a:xfrm>
        </p:spPr>
        <p:txBody>
          <a:bodyPr/>
          <a:lstStyle/>
          <a:p>
            <a:r>
              <a:rPr lang="en-US" dirty="0"/>
              <a:t>Source: CBRE Research, Q3 2024</a:t>
            </a:r>
          </a:p>
        </p:txBody>
      </p:sp>
      <p:graphicFrame>
        <p:nvGraphicFramePr>
          <p:cNvPr id="13" name="slide_3_chart_1">
            <a:extLst>
              <a:ext uri="{FF2B5EF4-FFF2-40B4-BE49-F238E27FC236}">
                <a16:creationId xmlns:a16="http://schemas.microsoft.com/office/drawing/2014/main" id="{70E05789-7712-A243-A5B5-104C219AFF75}"/>
              </a:ext>
            </a:extLst>
          </p:cNvPr>
          <p:cNvGraphicFramePr>
            <a:graphicFrameLocks noGrp="1"/>
          </p:cNvGraphicFramePr>
          <p:nvPr>
            <p:ph type="chart" sz="quarter" idx="12"/>
            <p:extLst>
              <p:ext uri="{D42A27DB-BD31-4B8C-83A1-F6EECF244321}">
                <p14:modId xmlns:p14="http://schemas.microsoft.com/office/powerpoint/2010/main" val="304235173"/>
              </p:ext>
            </p:extLst>
          </p:nvPr>
        </p:nvGraphicFramePr>
        <p:xfrm>
          <a:off x="6348413" y="1060704"/>
          <a:ext cx="5459412" cy="236829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slide_3_chart_2">
            <a:extLst>
              <a:ext uri="{FF2B5EF4-FFF2-40B4-BE49-F238E27FC236}">
                <a16:creationId xmlns:a16="http://schemas.microsoft.com/office/drawing/2014/main" id="{9A477229-4844-50AC-8C46-CB5C0A2D552F}"/>
              </a:ext>
            </a:extLst>
          </p:cNvPr>
          <p:cNvGraphicFramePr>
            <a:graphicFrameLocks noGrp="1"/>
          </p:cNvGraphicFramePr>
          <p:nvPr>
            <p:ph type="chart" sz="quarter" idx="15"/>
            <p:extLst>
              <p:ext uri="{D42A27DB-BD31-4B8C-83A1-F6EECF244321}">
                <p14:modId xmlns:p14="http://schemas.microsoft.com/office/powerpoint/2010/main" val="4053459493"/>
              </p:ext>
            </p:extLst>
          </p:nvPr>
        </p:nvGraphicFramePr>
        <p:xfrm>
          <a:off x="6348413" y="3932148"/>
          <a:ext cx="5459412" cy="2368296"/>
        </p:xfrm>
        <a:graphic>
          <a:graphicData uri="http://schemas.openxmlformats.org/drawingml/2006/chart">
            <c:chart xmlns:c="http://schemas.openxmlformats.org/drawingml/2006/chart" xmlns:r="http://schemas.openxmlformats.org/officeDocument/2006/relationships" r:id="rId6"/>
          </a:graphicData>
        </a:graphic>
      </p:graphicFrame>
      <p:sp>
        <p:nvSpPr>
          <p:cNvPr id="8" name="slide_3_body_2_text">
            <a:extLst>
              <a:ext uri="{FF2B5EF4-FFF2-40B4-BE49-F238E27FC236}">
                <a16:creationId xmlns:a16="http://schemas.microsoft.com/office/drawing/2014/main" id="{7A90F586-A5C2-454D-0729-E8B536723FFC}"/>
              </a:ext>
            </a:extLst>
          </p:cNvPr>
          <p:cNvSpPr txBox="1">
            <a:spLocks/>
          </p:cNvSpPr>
          <p:nvPr/>
        </p:nvSpPr>
        <p:spPr>
          <a:xfrm>
            <a:off x="768096" y="4027742"/>
            <a:ext cx="5029200" cy="2368296"/>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3"/>
            <a:r>
              <a:rPr lang="en-US" dirty="0"/>
              <a:t>Over the past three years, the Columbus (OH) Industrial market has experienced robust construction activity, with significant fluctuations in both under-construction and delivered spaces. As of 2024 Q3, there are 9 buildings under construction totaling 2.65 million sq. ft., down from 11 buildings and 4.40 million sq. ft. in 2024 Q2. Notably, the largest under-construction project this quarter is at 205 Clover Valley Rd, New Albany, OH, 43031 in Licking County, with a massive 1.20 million sq. ft. The trend of substantial deliveries continues, with 1.97 million sq. ft. completed in 2024 Q3, a slight decrease from 2.53 million sq. ft. in 2024 Q2. The largest delivery this quarter is the 946,400 sq. ft. facility at 7409 Mink St SW, Pataskala, OH, 43062, also in Licking County. This trend indicates a strong demand for industrial space, particularly in key submarkets like Licking County, which consistently sees significant construction and delivery volumes.</a:t>
            </a:r>
          </a:p>
        </p:txBody>
      </p:sp>
      <p:sp>
        <p:nvSpPr>
          <p:cNvPr id="2" name="slide_3_body_1_title_text">
            <a:extLst>
              <a:ext uri="{FF2B5EF4-FFF2-40B4-BE49-F238E27FC236}">
                <a16:creationId xmlns:a16="http://schemas.microsoft.com/office/drawing/2014/main" id="{CA530B57-1131-8069-72DB-68B25B35AA73}"/>
              </a:ext>
            </a:extLst>
          </p:cNvPr>
          <p:cNvSpPr txBox="1">
            <a:spLocks/>
          </p:cNvSpPr>
          <p:nvPr/>
        </p:nvSpPr>
        <p:spPr>
          <a:xfrm>
            <a:off x="766763" y="850392"/>
            <a:ext cx="5029200" cy="292608"/>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Net Absorption</a:t>
            </a:r>
          </a:p>
        </p:txBody>
      </p:sp>
      <p:sp>
        <p:nvSpPr>
          <p:cNvPr id="4" name="slide_3_body_2_title_text">
            <a:extLst>
              <a:ext uri="{FF2B5EF4-FFF2-40B4-BE49-F238E27FC236}">
                <a16:creationId xmlns:a16="http://schemas.microsoft.com/office/drawing/2014/main" id="{BB9DC703-A368-4A34-C09A-6FD1E0F84F16}"/>
              </a:ext>
            </a:extLst>
          </p:cNvPr>
          <p:cNvSpPr txBox="1">
            <a:spLocks/>
          </p:cNvSpPr>
          <p:nvPr/>
        </p:nvSpPr>
        <p:spPr>
          <a:xfrm>
            <a:off x="768096" y="3723355"/>
            <a:ext cx="5029200" cy="251840"/>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Construction Activity</a:t>
            </a:r>
          </a:p>
        </p:txBody>
      </p:sp>
    </p:spTree>
    <p:custDataLst>
      <p:custData r:id="rId1"/>
      <p:custData r:id="rId2"/>
    </p:custDataLst>
    <p:extLst>
      <p:ext uri="{BB962C8B-B14F-4D97-AF65-F5344CB8AC3E}">
        <p14:creationId xmlns:p14="http://schemas.microsoft.com/office/powerpoint/2010/main" val="768152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_4_chart_1_title_text">
            <a:extLst>
              <a:ext uri="{FF2B5EF4-FFF2-40B4-BE49-F238E27FC236}">
                <a16:creationId xmlns:a16="http://schemas.microsoft.com/office/drawing/2014/main" id="{872321C9-50BF-4D6E-8AAD-96F3209720DA}"/>
              </a:ext>
            </a:extLst>
          </p:cNvPr>
          <p:cNvSpPr>
            <a:spLocks noGrp="1"/>
          </p:cNvSpPr>
          <p:nvPr>
            <p:ph type="body" sz="quarter" idx="10"/>
          </p:nvPr>
        </p:nvSpPr>
        <p:spPr>
          <a:xfrm>
            <a:off x="6348414" y="850392"/>
            <a:ext cx="5458968" cy="210312"/>
          </a:xfrm>
        </p:spPr>
        <p:txBody>
          <a:bodyPr/>
          <a:lstStyle/>
          <a:p>
            <a:r>
              <a:rPr lang="en-US" dirty="0"/>
              <a:t>FIGURE 6: Leasing Activity Trend – 50,000 sq ft and up</a:t>
            </a:r>
          </a:p>
        </p:txBody>
      </p:sp>
      <p:sp>
        <p:nvSpPr>
          <p:cNvPr id="11" name="slide_4_body_1_text">
            <a:extLst>
              <a:ext uri="{FF2B5EF4-FFF2-40B4-BE49-F238E27FC236}">
                <a16:creationId xmlns:a16="http://schemas.microsoft.com/office/drawing/2014/main" id="{8FFEFE25-1167-4C8B-991D-D4B800FC5B6C}"/>
              </a:ext>
            </a:extLst>
          </p:cNvPr>
          <p:cNvSpPr>
            <a:spLocks noGrp="1"/>
          </p:cNvSpPr>
          <p:nvPr>
            <p:ph sz="quarter" idx="11"/>
          </p:nvPr>
        </p:nvSpPr>
        <p:spPr>
          <a:xfrm>
            <a:off x="766761" y="1143000"/>
            <a:ext cx="5029200" cy="2438400"/>
          </a:xfrm>
        </p:spPr>
        <p:txBody>
          <a:bodyPr/>
          <a:lstStyle/>
          <a:p>
            <a:pPr lvl="3"/>
            <a:r>
              <a:rPr lang="en-US" dirty="0"/>
              <a:t>Leasing activity in the Columbus (OH) Industrial market for Q3 2024 demonstrated robust demand, with a total of 4,731,569 sq. ft. leased across various submarkets. This quarter's largest lease was by TORRID LLC, renewing 743,600 sq. ft. at 150 Enterprise Pkwy in Madison County. Vantage Data Centers secured a new lease for 448,091 sq. ft. on Horizon Ct in Licking County, while Vista Packaging, Inc. took 383,000 sq. ft. at 1120 1122 Morrison Rd in the East submarket. </a:t>
            </a:r>
            <a:r>
              <a:rPr lang="en-US" dirty="0" err="1"/>
              <a:t>Kamps</a:t>
            </a:r>
            <a:r>
              <a:rPr lang="en-US" dirty="0"/>
              <a:t>, Inc. renewed 253,237 sq. ft. at 4300 </a:t>
            </a:r>
            <a:r>
              <a:rPr lang="en-US" dirty="0" err="1"/>
              <a:t>Janitrol</a:t>
            </a:r>
            <a:r>
              <a:rPr lang="en-US" dirty="0"/>
              <a:t> Rd in the West submarket. Restaurant Equippers Inc. signed a new lease for 225,504 sq. ft. at 5820 Opus Dr in the Southeast submarket, and RPM Developments LLC leased 215,016 sq. ft. at 2300 2340 </a:t>
            </a:r>
            <a:r>
              <a:rPr lang="en-US" dirty="0" err="1"/>
              <a:t>Mcgaw</a:t>
            </a:r>
            <a:r>
              <a:rPr lang="en-US" dirty="0"/>
              <a:t> Rd, also in the Southeast submarket. HOMAGE LLC entered into a new lease for 207,740 sq. ft. at 885 </a:t>
            </a:r>
            <a:r>
              <a:rPr lang="en-US" dirty="0" err="1"/>
              <a:t>Stelzer</a:t>
            </a:r>
            <a:r>
              <a:rPr lang="en-US" dirty="0"/>
              <a:t> Rd in the East submarket, and </a:t>
            </a:r>
            <a:r>
              <a:rPr lang="en-US" dirty="0" err="1"/>
              <a:t>Dismas</a:t>
            </a:r>
            <a:r>
              <a:rPr lang="en-US" dirty="0"/>
              <a:t> leased 119,660 sq. ft. at 444 446 </a:t>
            </a:r>
            <a:r>
              <a:rPr lang="en-US" dirty="0" err="1"/>
              <a:t>Mccormick</a:t>
            </a:r>
            <a:r>
              <a:rPr lang="en-US" dirty="0"/>
              <a:t> Blvd, further indicating strong leasing momentum in the East submarket. These significant transactions underscore the continued attractiveness of the Columbus industrial market for both new and renewing tenants.</a:t>
            </a:r>
          </a:p>
        </p:txBody>
      </p:sp>
      <p:sp>
        <p:nvSpPr>
          <p:cNvPr id="2" name="slide_4_table_1_source_text">
            <a:extLst>
              <a:ext uri="{FF2B5EF4-FFF2-40B4-BE49-F238E27FC236}">
                <a16:creationId xmlns:a16="http://schemas.microsoft.com/office/drawing/2014/main" id="{1A250B43-DE8B-485B-97FB-FAF9028635DB}"/>
              </a:ext>
            </a:extLst>
          </p:cNvPr>
          <p:cNvSpPr>
            <a:spLocks noGrp="1"/>
          </p:cNvSpPr>
          <p:nvPr>
            <p:ph type="body" sz="quarter" idx="13"/>
          </p:nvPr>
        </p:nvSpPr>
        <p:spPr>
          <a:xfrm>
            <a:off x="6348413" y="6176170"/>
            <a:ext cx="5458968" cy="211135"/>
          </a:xfrm>
        </p:spPr>
        <p:txBody>
          <a:bodyPr/>
          <a:lstStyle/>
          <a:p>
            <a:r>
              <a:rPr lang="en-US" dirty="0"/>
              <a:t>Source: CBRE Research, Q3 2024</a:t>
            </a:r>
          </a:p>
        </p:txBody>
      </p:sp>
      <p:graphicFrame>
        <p:nvGraphicFramePr>
          <p:cNvPr id="23" name="slide_4_table_1">
            <a:extLst>
              <a:ext uri="{FF2B5EF4-FFF2-40B4-BE49-F238E27FC236}">
                <a16:creationId xmlns:a16="http://schemas.microsoft.com/office/drawing/2014/main" id="{ABF5BDBF-A808-EB48-951F-ED37163FAF49}"/>
              </a:ext>
            </a:extLst>
          </p:cNvPr>
          <p:cNvGraphicFramePr>
            <a:graphicFrameLocks/>
          </p:cNvGraphicFramePr>
          <p:nvPr>
            <p:extLst>
              <p:ext uri="{D42A27DB-BD31-4B8C-83A1-F6EECF244321}">
                <p14:modId xmlns:p14="http://schemas.microsoft.com/office/powerpoint/2010/main" val="46961306"/>
              </p:ext>
            </p:extLst>
          </p:nvPr>
        </p:nvGraphicFramePr>
        <p:xfrm>
          <a:off x="6348413" y="3815995"/>
          <a:ext cx="5458970" cy="2383672"/>
        </p:xfrm>
        <a:graphic>
          <a:graphicData uri="http://schemas.openxmlformats.org/drawingml/2006/table">
            <a:tbl>
              <a:tblPr firstRow="1" bandRow="1">
                <a:tableStyleId>{5C22544A-7EE6-4342-B048-85BDC9FD1C3A}</a:tableStyleId>
              </a:tblPr>
              <a:tblGrid>
                <a:gridCol w="1091794">
                  <a:extLst>
                    <a:ext uri="{9D8B030D-6E8A-4147-A177-3AD203B41FA5}">
                      <a16:colId xmlns:a16="http://schemas.microsoft.com/office/drawing/2014/main" val="2595390030"/>
                    </a:ext>
                  </a:extLst>
                </a:gridCol>
                <a:gridCol w="1091794">
                  <a:extLst>
                    <a:ext uri="{9D8B030D-6E8A-4147-A177-3AD203B41FA5}">
                      <a16:colId xmlns:a16="http://schemas.microsoft.com/office/drawing/2014/main" val="536879813"/>
                    </a:ext>
                  </a:extLst>
                </a:gridCol>
                <a:gridCol w="840599">
                  <a:extLst>
                    <a:ext uri="{9D8B030D-6E8A-4147-A177-3AD203B41FA5}">
                      <a16:colId xmlns:a16="http://schemas.microsoft.com/office/drawing/2014/main" val="3824013521"/>
                    </a:ext>
                  </a:extLst>
                </a:gridCol>
                <a:gridCol w="1342989">
                  <a:extLst>
                    <a:ext uri="{9D8B030D-6E8A-4147-A177-3AD203B41FA5}">
                      <a16:colId xmlns:a16="http://schemas.microsoft.com/office/drawing/2014/main" val="1464754481"/>
                    </a:ext>
                  </a:extLst>
                </a:gridCol>
                <a:gridCol w="1091794">
                  <a:extLst>
                    <a:ext uri="{9D8B030D-6E8A-4147-A177-3AD203B41FA5}">
                      <a16:colId xmlns:a16="http://schemas.microsoft.com/office/drawing/2014/main" val="413872167"/>
                    </a:ext>
                  </a:extLst>
                </a:gridCol>
              </a:tblGrid>
              <a:tr h="290292">
                <a:tc>
                  <a:txBody>
                    <a:bodyPr/>
                    <a:lstStyle/>
                    <a:p>
                      <a:pPr algn="ctr"/>
                      <a:r>
                        <a:rPr lang="en-GB" sz="900" b="0" i="0" dirty="0">
                          <a:solidFill>
                            <a:srgbClr val="012A2D"/>
                          </a:solidFill>
                          <a:latin typeface="+mn-lt"/>
                        </a:rPr>
                        <a:t>Tenant</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rgbClr val="012A2D"/>
                          </a:solidFill>
                          <a:effectLst/>
                          <a:uLnTx/>
                          <a:uFillTx/>
                          <a:latin typeface="+mn-lt"/>
                          <a:ea typeface="+mn-ea"/>
                          <a:cs typeface="+mn-cs"/>
                        </a:rPr>
                        <a:t>Sq. Ft. Leased</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rgbClr val="012A2D"/>
                          </a:solidFill>
                          <a:effectLst/>
                          <a:uLnTx/>
                          <a:uFillTx/>
                          <a:latin typeface="+mn-lt"/>
                          <a:ea typeface="+mn-ea"/>
                          <a:cs typeface="+mn-cs"/>
                        </a:rPr>
                        <a:t>Transaction Type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rgbClr val="012A2D"/>
                          </a:solidFill>
                          <a:effectLst/>
                          <a:uLnTx/>
                          <a:uFillTx/>
                          <a:latin typeface="+mn-lt"/>
                          <a:ea typeface="+mn-ea"/>
                          <a:cs typeface="+mn-cs"/>
                        </a:rPr>
                        <a:t>Address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rgbClr val="012A2D"/>
                          </a:solidFill>
                          <a:effectLst/>
                          <a:uLnTx/>
                          <a:uFillTx/>
                          <a:latin typeface="+mn-lt"/>
                          <a:ea typeface="+mn-ea"/>
                          <a:cs typeface="+mn-cs"/>
                        </a:rPr>
                        <a:t>Submarket</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New Lease</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690213"/>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Renewal</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886605"/>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Renewal</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3570829"/>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Renewal</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00069"/>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Renewal</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8618934"/>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1,014</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987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New Lease</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992502"/>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sz="900" dirty="0">
                          <a:latin typeface="+mn-lt"/>
                        </a:rPr>
                        <a:t>New Lease</a:t>
                      </a: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81973"/>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sz="900" dirty="0">
                          <a:latin typeface="+mn-lt"/>
                        </a:rPr>
                        <a:t>New Lease</a:t>
                      </a: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8512871"/>
                  </a:ext>
                </a:extLst>
              </a:tr>
              <a:tr h="209338">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sz="900" dirty="0">
                          <a:latin typeface="+mn-lt"/>
                        </a:rPr>
                        <a:t>New Lease</a:t>
                      </a: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055350"/>
                  </a:ext>
                </a:extLst>
              </a:tr>
              <a:tr h="209338">
                <a:tc>
                  <a:txBody>
                    <a:bodyPr/>
                    <a:lstStyle/>
                    <a:p>
                      <a:pPr algn="ctr"/>
                      <a:r>
                        <a:rPr lang="en-GB" sz="900" dirty="0">
                          <a:solidFill>
                            <a:srgbClr val="435254"/>
                          </a:solidFill>
                          <a:latin typeface="+mn-lt"/>
                        </a:rPr>
                        <a:t>14.3%</a:t>
                      </a:r>
                    </a:p>
                  </a:txBody>
                  <a:tcPr marL="0" marR="0" marT="0" marB="0" anchor="ct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900" dirty="0">
                          <a:solidFill>
                            <a:srgbClr val="435254"/>
                          </a:solidFill>
                          <a:latin typeface="+mn-lt"/>
                        </a:rPr>
                        <a:t>13.6%</a:t>
                      </a:r>
                    </a:p>
                  </a:txBody>
                  <a:tcPr marL="0" marR="0" marT="0" marB="0" anchor="ct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900" dirty="0">
                          <a:solidFill>
                            <a:srgbClr val="435254"/>
                          </a:solidFill>
                          <a:latin typeface="+mn-lt"/>
                        </a:rPr>
                        <a:t>Expansion</a:t>
                      </a:r>
                    </a:p>
                  </a:txBody>
                  <a:tcPr marL="0" marR="0" marT="0" marB="0" anchor="ctr">
                    <a:lnR w="12700" cmpd="sng">
                      <a:noFill/>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900" dirty="0">
                          <a:solidFill>
                            <a:srgbClr val="435254"/>
                          </a:solidFill>
                          <a:latin typeface="+mn-lt"/>
                        </a:rPr>
                        <a:t>27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900" dirty="0">
                          <a:solidFill>
                            <a:srgbClr val="435254"/>
                          </a:solidFill>
                          <a:latin typeface="+mn-lt"/>
                        </a:rPr>
                        <a:t>0.8%</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047607"/>
                  </a:ext>
                </a:extLst>
              </a:tr>
            </a:tbl>
          </a:graphicData>
        </a:graphic>
      </p:graphicFrame>
      <p:graphicFrame>
        <p:nvGraphicFramePr>
          <p:cNvPr id="9" name="slide_4_chart_1">
            <a:extLst>
              <a:ext uri="{FF2B5EF4-FFF2-40B4-BE49-F238E27FC236}">
                <a16:creationId xmlns:a16="http://schemas.microsoft.com/office/drawing/2014/main" id="{42F7FE34-E32E-86D1-622A-B3606DB49E32}"/>
              </a:ext>
            </a:extLst>
          </p:cNvPr>
          <p:cNvGraphicFramePr>
            <a:graphicFrameLocks noGrp="1"/>
          </p:cNvGraphicFramePr>
          <p:nvPr>
            <p:ph type="chart" sz="quarter" idx="12"/>
            <p:extLst>
              <p:ext uri="{D42A27DB-BD31-4B8C-83A1-F6EECF244321}">
                <p14:modId xmlns:p14="http://schemas.microsoft.com/office/powerpoint/2010/main" val="181210790"/>
              </p:ext>
            </p:extLst>
          </p:nvPr>
        </p:nvGraphicFramePr>
        <p:xfrm>
          <a:off x="6348413" y="1060450"/>
          <a:ext cx="5459412" cy="2288935"/>
        </p:xfrm>
        <a:graphic>
          <a:graphicData uri="http://schemas.openxmlformats.org/drawingml/2006/chart">
            <c:chart xmlns:c="http://schemas.openxmlformats.org/drawingml/2006/chart" xmlns:r="http://schemas.openxmlformats.org/officeDocument/2006/relationships" r:id="rId5"/>
          </a:graphicData>
        </a:graphic>
      </p:graphicFrame>
      <p:sp>
        <p:nvSpPr>
          <p:cNvPr id="16" name="slide_4_chart_2_title_text">
            <a:extLst>
              <a:ext uri="{FF2B5EF4-FFF2-40B4-BE49-F238E27FC236}">
                <a16:creationId xmlns:a16="http://schemas.microsoft.com/office/drawing/2014/main" id="{B6F853A0-386E-AA3D-D1C7-2626CB6E18F1}"/>
              </a:ext>
            </a:extLst>
          </p:cNvPr>
          <p:cNvSpPr txBox="1">
            <a:spLocks/>
          </p:cNvSpPr>
          <p:nvPr/>
        </p:nvSpPr>
        <p:spPr>
          <a:xfrm>
            <a:off x="766761" y="3605682"/>
            <a:ext cx="5458968" cy="210312"/>
          </a:xfrm>
          <a:prstGeom prst="rect">
            <a:avLst/>
          </a:prstGeom>
        </p:spPr>
        <p:txBody>
          <a:bodyPr vert="horz" lIns="0" tIns="0" rIns="72000" bIns="0" rtlCol="0" anchor="t" anchorCtr="0">
            <a:noAutofit/>
          </a:bodyPr>
          <a:lstStyle>
            <a:lvl1pPr marL="0" eaLnBrk="1" hangingPunct="1">
              <a:spcBef>
                <a:spcPts val="1200"/>
              </a:spcBef>
              <a:spcAft>
                <a:spcPts val="600"/>
              </a:spcAft>
              <a:defRPr sz="900">
                <a:solidFill>
                  <a:schemeClr val="tx1"/>
                </a:solidFill>
                <a:latin typeface="+mn-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FIGURE 7: Leasing Activity by Submarket</a:t>
            </a:r>
          </a:p>
        </p:txBody>
      </p:sp>
      <p:sp>
        <p:nvSpPr>
          <p:cNvPr id="17" name="slide_4_chart_1_source_text">
            <a:extLst>
              <a:ext uri="{FF2B5EF4-FFF2-40B4-BE49-F238E27FC236}">
                <a16:creationId xmlns:a16="http://schemas.microsoft.com/office/drawing/2014/main" id="{12A1B973-8F65-0804-A719-CFBAD6E6216E}"/>
              </a:ext>
            </a:extLst>
          </p:cNvPr>
          <p:cNvSpPr txBox="1">
            <a:spLocks/>
          </p:cNvSpPr>
          <p:nvPr/>
        </p:nvSpPr>
        <p:spPr>
          <a:xfrm>
            <a:off x="6355186" y="3372881"/>
            <a:ext cx="5458968" cy="135736"/>
          </a:xfrm>
          <a:prstGeom prst="rect">
            <a:avLst/>
          </a:prstGeom>
          <a:noFill/>
        </p:spPr>
        <p:txBody>
          <a:bodyPr vert="horz" lIns="0" tIns="0" rIns="72000" bIns="0" rtlCol="0" anchor="b" anchorCtr="0">
            <a:noAutofit/>
          </a:bodyPr>
          <a:lstStyle>
            <a:lvl1pPr marL="0" eaLnBrk="1" hangingPunct="1">
              <a:spcBef>
                <a:spcPts val="1200"/>
              </a:spcBef>
              <a:spcAft>
                <a:spcPts val="600"/>
              </a:spcAft>
              <a:defRPr sz="800">
                <a:solidFill>
                  <a:schemeClr val="tx1"/>
                </a:solidFill>
                <a:latin typeface="Calibre Light" panose="020B0303030202060203" pitchFamily="34" charset="0"/>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Source: CBRE Research, Q3 2024</a:t>
            </a:r>
          </a:p>
        </p:txBody>
      </p:sp>
      <p:sp>
        <p:nvSpPr>
          <p:cNvPr id="18" name="slide_4_table_1_title_text">
            <a:extLst>
              <a:ext uri="{FF2B5EF4-FFF2-40B4-BE49-F238E27FC236}">
                <a16:creationId xmlns:a16="http://schemas.microsoft.com/office/drawing/2014/main" id="{94AB8BB5-E861-0D09-3DE2-A3F5B08DFF97}"/>
              </a:ext>
            </a:extLst>
          </p:cNvPr>
          <p:cNvSpPr txBox="1">
            <a:spLocks/>
          </p:cNvSpPr>
          <p:nvPr/>
        </p:nvSpPr>
        <p:spPr>
          <a:xfrm>
            <a:off x="6355186" y="3629965"/>
            <a:ext cx="5458968" cy="210312"/>
          </a:xfrm>
          <a:prstGeom prst="rect">
            <a:avLst/>
          </a:prstGeom>
        </p:spPr>
        <p:txBody>
          <a:bodyPr vert="horz" lIns="0" tIns="0" rIns="72000" bIns="0" rtlCol="0" anchor="t" anchorCtr="0">
            <a:noAutofit/>
          </a:bodyPr>
          <a:lstStyle>
            <a:lvl1pPr marL="0" eaLnBrk="1" hangingPunct="1">
              <a:spcBef>
                <a:spcPts val="1200"/>
              </a:spcBef>
              <a:spcAft>
                <a:spcPts val="600"/>
              </a:spcAft>
              <a:defRPr sz="900">
                <a:solidFill>
                  <a:schemeClr val="tx1"/>
                </a:solidFill>
                <a:latin typeface="+mn-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FIGURE 8: Key Lease Transactions</a:t>
            </a:r>
          </a:p>
        </p:txBody>
      </p:sp>
      <p:sp>
        <p:nvSpPr>
          <p:cNvPr id="19" name="slide_4_chart_2_source_text">
            <a:extLst>
              <a:ext uri="{FF2B5EF4-FFF2-40B4-BE49-F238E27FC236}">
                <a16:creationId xmlns:a16="http://schemas.microsoft.com/office/drawing/2014/main" id="{AF296708-50B4-7AC9-96DA-94A14C824117}"/>
              </a:ext>
            </a:extLst>
          </p:cNvPr>
          <p:cNvSpPr txBox="1">
            <a:spLocks/>
          </p:cNvSpPr>
          <p:nvPr/>
        </p:nvSpPr>
        <p:spPr>
          <a:xfrm>
            <a:off x="766761" y="6165239"/>
            <a:ext cx="5458968" cy="211135"/>
          </a:xfrm>
          <a:prstGeom prst="rect">
            <a:avLst/>
          </a:prstGeom>
          <a:noFill/>
        </p:spPr>
        <p:txBody>
          <a:bodyPr vert="horz" lIns="0" tIns="0" rIns="72000" bIns="0" rtlCol="0" anchor="b" anchorCtr="0">
            <a:noAutofit/>
          </a:bodyPr>
          <a:lstStyle>
            <a:lvl1pPr marL="0" eaLnBrk="1" hangingPunct="1">
              <a:spcBef>
                <a:spcPts val="1200"/>
              </a:spcBef>
              <a:spcAft>
                <a:spcPts val="600"/>
              </a:spcAft>
              <a:defRPr sz="800">
                <a:solidFill>
                  <a:schemeClr val="tx1"/>
                </a:solidFill>
                <a:latin typeface="Calibre Light" panose="020B0303030202060203" pitchFamily="34" charset="0"/>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a:t>Source: CBRE Research, Q3 2024</a:t>
            </a:r>
            <a:endParaRPr lang="en-US" dirty="0"/>
          </a:p>
        </p:txBody>
      </p:sp>
      <p:graphicFrame>
        <p:nvGraphicFramePr>
          <p:cNvPr id="3" name="slide_4_chart_2">
            <a:extLst>
              <a:ext uri="{FF2B5EF4-FFF2-40B4-BE49-F238E27FC236}">
                <a16:creationId xmlns:a16="http://schemas.microsoft.com/office/drawing/2014/main" id="{BAC24851-EB75-7603-76C2-C4A780058803}"/>
              </a:ext>
            </a:extLst>
          </p:cNvPr>
          <p:cNvGraphicFramePr/>
          <p:nvPr>
            <p:extLst>
              <p:ext uri="{D42A27DB-BD31-4B8C-83A1-F6EECF244321}">
                <p14:modId xmlns:p14="http://schemas.microsoft.com/office/powerpoint/2010/main" val="4242290563"/>
              </p:ext>
            </p:extLst>
          </p:nvPr>
        </p:nvGraphicFramePr>
        <p:xfrm>
          <a:off x="741363" y="3811730"/>
          <a:ext cx="5176839" cy="2383672"/>
        </p:xfrm>
        <a:graphic>
          <a:graphicData uri="http://schemas.openxmlformats.org/drawingml/2006/chart">
            <c:chart xmlns:c="http://schemas.openxmlformats.org/drawingml/2006/chart" xmlns:r="http://schemas.openxmlformats.org/officeDocument/2006/relationships" r:id="rId6"/>
          </a:graphicData>
        </a:graphic>
      </p:graphicFrame>
      <p:sp>
        <p:nvSpPr>
          <p:cNvPr id="4" name="slide_4_body_1_title_text">
            <a:extLst>
              <a:ext uri="{FF2B5EF4-FFF2-40B4-BE49-F238E27FC236}">
                <a16:creationId xmlns:a16="http://schemas.microsoft.com/office/drawing/2014/main" id="{0EDCB2F9-A8B9-E408-2F18-4B68D58AC0EB}"/>
              </a:ext>
            </a:extLst>
          </p:cNvPr>
          <p:cNvSpPr txBox="1">
            <a:spLocks/>
          </p:cNvSpPr>
          <p:nvPr/>
        </p:nvSpPr>
        <p:spPr>
          <a:xfrm>
            <a:off x="766761" y="850392"/>
            <a:ext cx="5029200" cy="292608"/>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Leasing Activity</a:t>
            </a:r>
          </a:p>
        </p:txBody>
      </p:sp>
    </p:spTree>
    <p:custDataLst>
      <p:custData r:id="rId1"/>
      <p:custData r:id="rId2"/>
    </p:custDataLst>
    <p:extLst>
      <p:ext uri="{BB962C8B-B14F-4D97-AF65-F5344CB8AC3E}">
        <p14:creationId xmlns:p14="http://schemas.microsoft.com/office/powerpoint/2010/main" val="3300803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lide_5_table_1">
            <a:extLst>
              <a:ext uri="{FF2B5EF4-FFF2-40B4-BE49-F238E27FC236}">
                <a16:creationId xmlns:a16="http://schemas.microsoft.com/office/drawing/2014/main" id="{DB9D68E8-7DA7-57D9-D105-E940096B76D4}"/>
              </a:ext>
            </a:extLst>
          </p:cNvPr>
          <p:cNvGraphicFramePr>
            <a:graphicFrameLocks/>
          </p:cNvGraphicFramePr>
          <p:nvPr>
            <p:extLst>
              <p:ext uri="{D42A27DB-BD31-4B8C-83A1-F6EECF244321}">
                <p14:modId xmlns:p14="http://schemas.microsoft.com/office/powerpoint/2010/main" val="2246441371"/>
              </p:ext>
            </p:extLst>
          </p:nvPr>
        </p:nvGraphicFramePr>
        <p:xfrm>
          <a:off x="762000" y="881219"/>
          <a:ext cx="11049004" cy="211842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50274">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52593">
                <a:tc>
                  <a:txBody>
                    <a:bodyPr/>
                    <a:lstStyle/>
                    <a:p>
                      <a:r>
                        <a:rPr lang="en-GB" sz="900" dirty="0">
                          <a:solidFill>
                            <a:srgbClr val="435254"/>
                          </a:solidFill>
                          <a:latin typeface="+mn-lt"/>
                        </a:rPr>
                        <a:t>Under 100,000 sq. ft.</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52593">
                <a:tc>
                  <a:txBody>
                    <a:bodyPr/>
                    <a:lstStyle/>
                    <a:p>
                      <a:r>
                        <a:rPr lang="en-GB" sz="900" dirty="0">
                          <a:solidFill>
                            <a:srgbClr val="435254"/>
                          </a:solidFill>
                          <a:latin typeface="+mn-lt"/>
                        </a:rPr>
                        <a:t>100,000 – 199,999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52593">
                <a:tc>
                  <a:txBody>
                    <a:bodyPr/>
                    <a:lstStyle/>
                    <a:p>
                      <a:r>
                        <a:rPr lang="en-GB" sz="900" dirty="0">
                          <a:solidFill>
                            <a:srgbClr val="435254"/>
                          </a:solidFill>
                          <a:latin typeface="+mn-lt"/>
                        </a:rPr>
                        <a:t>200,000 – 299,999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3570829"/>
                  </a:ext>
                </a:extLst>
              </a:tr>
              <a:tr h="252593">
                <a:tc>
                  <a:txBody>
                    <a:bodyPr/>
                    <a:lstStyle/>
                    <a:p>
                      <a:r>
                        <a:rPr lang="en-GB" sz="900" dirty="0">
                          <a:solidFill>
                            <a:srgbClr val="435254"/>
                          </a:solidFill>
                          <a:latin typeface="+mn-lt"/>
                        </a:rPr>
                        <a:t>300,000 – 499,999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9397803"/>
                  </a:ext>
                </a:extLst>
              </a:tr>
              <a:tr h="252593">
                <a:tc>
                  <a:txBody>
                    <a:bodyPr/>
                    <a:lstStyle/>
                    <a:p>
                      <a:r>
                        <a:rPr lang="en-GB" sz="900" dirty="0">
                          <a:solidFill>
                            <a:srgbClr val="435254"/>
                          </a:solidFill>
                          <a:latin typeface="+mn-lt"/>
                        </a:rPr>
                        <a:t>500,000 – 749,999 sq. ft. </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4831773"/>
                  </a:ext>
                </a:extLst>
              </a:tr>
              <a:tr h="252593">
                <a:tc>
                  <a:txBody>
                    <a:bodyPr/>
                    <a:lstStyle/>
                    <a:p>
                      <a:r>
                        <a:rPr lang="en-GB" sz="900" dirty="0">
                          <a:solidFill>
                            <a:srgbClr val="435254"/>
                          </a:solidFill>
                          <a:latin typeface="+mn-lt"/>
                        </a:rPr>
                        <a:t>750,000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559990"/>
                  </a:ext>
                </a:extLst>
              </a:tr>
              <a:tr h="252593">
                <a:tc>
                  <a:txBody>
                    <a:bodyPr/>
                    <a:lstStyle/>
                    <a:p>
                      <a:r>
                        <a:rPr lang="en-GB" sz="900" b="1" dirty="0">
                          <a:solidFill>
                            <a:srgbClr val="012A2D"/>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012A2D"/>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012A2D"/>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012A2D"/>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9" name="slide_5_table_1_title_text">
            <a:extLst>
              <a:ext uri="{FF2B5EF4-FFF2-40B4-BE49-F238E27FC236}">
                <a16:creationId xmlns:a16="http://schemas.microsoft.com/office/drawing/2014/main" id="{AB381DD1-D1B7-6F2C-D625-09EB50649ADC}"/>
              </a:ext>
            </a:extLst>
          </p:cNvPr>
          <p:cNvSpPr>
            <a:spLocks noGrp="1"/>
          </p:cNvSpPr>
          <p:nvPr>
            <p:ph sz="quarter" idx="11"/>
          </p:nvPr>
        </p:nvSpPr>
        <p:spPr>
          <a:xfrm>
            <a:off x="762000" y="533400"/>
            <a:ext cx="5029200" cy="304800"/>
          </a:xfrm>
        </p:spPr>
        <p:txBody>
          <a:bodyPr/>
          <a:lstStyle/>
          <a:p>
            <a:r>
              <a:rPr lang="en-US" dirty="0"/>
              <a:t>Market Statistics by Size</a:t>
            </a:r>
          </a:p>
        </p:txBody>
      </p:sp>
      <p:graphicFrame>
        <p:nvGraphicFramePr>
          <p:cNvPr id="12" name="slide_5_table_2">
            <a:extLst>
              <a:ext uri="{FF2B5EF4-FFF2-40B4-BE49-F238E27FC236}">
                <a16:creationId xmlns:a16="http://schemas.microsoft.com/office/drawing/2014/main" id="{256BFAC6-5489-B1F2-D7FC-C45662F8DE76}"/>
              </a:ext>
            </a:extLst>
          </p:cNvPr>
          <p:cNvGraphicFramePr>
            <a:graphicFrameLocks/>
          </p:cNvGraphicFramePr>
          <p:nvPr>
            <p:extLst>
              <p:ext uri="{D42A27DB-BD31-4B8C-83A1-F6EECF244321}">
                <p14:modId xmlns:p14="http://schemas.microsoft.com/office/powerpoint/2010/main" val="729390198"/>
              </p:ext>
            </p:extLst>
          </p:nvPr>
        </p:nvGraphicFramePr>
        <p:xfrm>
          <a:off x="776614" y="3428999"/>
          <a:ext cx="11049004" cy="141166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226365">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26365">
                <a:tc>
                  <a:txBody>
                    <a:bodyPr/>
                    <a:lstStyle/>
                    <a:p>
                      <a:r>
                        <a:rPr lang="en-GB" sz="900" dirty="0">
                          <a:solidFill>
                            <a:srgbClr val="435254"/>
                          </a:solidFill>
                          <a:latin typeface="+mn-lt"/>
                        </a:rPr>
                        <a:t>Distribution / Logistics</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26365">
                <a:tc>
                  <a:txBody>
                    <a:bodyPr/>
                    <a:lstStyle/>
                    <a:p>
                      <a:r>
                        <a:rPr lang="en-GB" sz="900" dirty="0">
                          <a:solidFill>
                            <a:srgbClr val="435254"/>
                          </a:solidFill>
                          <a:latin typeface="+mn-lt"/>
                        </a:rPr>
                        <a:t>Manufacturing</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26365">
                <a:tc>
                  <a:txBody>
                    <a:bodyPr/>
                    <a:lstStyle/>
                    <a:p>
                      <a:r>
                        <a:rPr lang="en-GB" sz="900" dirty="0">
                          <a:solidFill>
                            <a:srgbClr val="435254"/>
                          </a:solidFill>
                          <a:latin typeface="+mn-lt"/>
                        </a:rPr>
                        <a:t>R&amp;D / Flex</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3570829"/>
                  </a:ext>
                </a:extLst>
              </a:tr>
              <a:tr h="226365">
                <a:tc>
                  <a:txBody>
                    <a:bodyPr/>
                    <a:lstStyle/>
                    <a:p>
                      <a:r>
                        <a:rPr lang="en-GB" sz="900" dirty="0">
                          <a:solidFill>
                            <a:srgbClr val="435254"/>
                          </a:solidFill>
                          <a:latin typeface="+mn-lt"/>
                        </a:rPr>
                        <a:t>Other Industrial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147024"/>
                  </a:ext>
                </a:extLst>
              </a:tr>
              <a:tr h="226365">
                <a:tc>
                  <a:txBody>
                    <a:bodyPr/>
                    <a:lstStyle/>
                    <a:p>
                      <a:r>
                        <a:rPr lang="en-GB" sz="900" b="1" dirty="0">
                          <a:solidFill>
                            <a:srgbClr val="435254"/>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435254"/>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2" name="slide_5_table_2_title_text">
            <a:extLst>
              <a:ext uri="{FF2B5EF4-FFF2-40B4-BE49-F238E27FC236}">
                <a16:creationId xmlns:a16="http://schemas.microsoft.com/office/drawing/2014/main" id="{F2136E21-7B93-332C-AC11-CB6619935E6C}"/>
              </a:ext>
            </a:extLst>
          </p:cNvPr>
          <p:cNvSpPr txBox="1">
            <a:spLocks/>
          </p:cNvSpPr>
          <p:nvPr/>
        </p:nvSpPr>
        <p:spPr>
          <a:xfrm>
            <a:off x="776614" y="3124200"/>
            <a:ext cx="5029200" cy="304800"/>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Market Statistics by Product Type</a:t>
            </a:r>
          </a:p>
        </p:txBody>
      </p:sp>
      <p:graphicFrame>
        <p:nvGraphicFramePr>
          <p:cNvPr id="3" name="slide_5_table_3">
            <a:extLst>
              <a:ext uri="{FF2B5EF4-FFF2-40B4-BE49-F238E27FC236}">
                <a16:creationId xmlns:a16="http://schemas.microsoft.com/office/drawing/2014/main" id="{4F4527E6-05BA-2A90-FC18-0CC093939903}"/>
              </a:ext>
            </a:extLst>
          </p:cNvPr>
          <p:cNvGraphicFramePr>
            <a:graphicFrameLocks/>
          </p:cNvGraphicFramePr>
          <p:nvPr>
            <p:extLst>
              <p:ext uri="{D42A27DB-BD31-4B8C-83A1-F6EECF244321}">
                <p14:modId xmlns:p14="http://schemas.microsoft.com/office/powerpoint/2010/main" val="1743961562"/>
              </p:ext>
            </p:extLst>
          </p:nvPr>
        </p:nvGraphicFramePr>
        <p:xfrm>
          <a:off x="762000" y="5216547"/>
          <a:ext cx="11049004" cy="1108053"/>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50274">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52593">
                <a:tc>
                  <a:txBody>
                    <a:bodyPr/>
                    <a:lstStyle/>
                    <a:p>
                      <a:r>
                        <a:rPr lang="en-GB" sz="900" dirty="0">
                          <a:solidFill>
                            <a:srgbClr val="435254"/>
                          </a:solidFill>
                          <a:latin typeface="+mn-lt"/>
                        </a:rPr>
                        <a:t>Class A</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52593">
                <a:tc>
                  <a:txBody>
                    <a:bodyPr/>
                    <a:lstStyle/>
                    <a:p>
                      <a:r>
                        <a:rPr lang="en-GB" sz="900" dirty="0">
                          <a:solidFill>
                            <a:srgbClr val="435254"/>
                          </a:solidFill>
                          <a:latin typeface="+mn-lt"/>
                        </a:rPr>
                        <a:t>All other buildings</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52593">
                <a:tc>
                  <a:txBody>
                    <a:bodyPr/>
                    <a:lstStyle/>
                    <a:p>
                      <a:r>
                        <a:rPr lang="en-GB" sz="900" b="1" dirty="0">
                          <a:solidFill>
                            <a:srgbClr val="435254"/>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435254"/>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4" name="slide_5_table_3_title_text">
            <a:extLst>
              <a:ext uri="{FF2B5EF4-FFF2-40B4-BE49-F238E27FC236}">
                <a16:creationId xmlns:a16="http://schemas.microsoft.com/office/drawing/2014/main" id="{9DAAC461-82FA-818F-16E9-7875D740150A}"/>
              </a:ext>
            </a:extLst>
          </p:cNvPr>
          <p:cNvSpPr txBox="1">
            <a:spLocks/>
          </p:cNvSpPr>
          <p:nvPr/>
        </p:nvSpPr>
        <p:spPr>
          <a:xfrm>
            <a:off x="762000" y="4911747"/>
            <a:ext cx="5029200" cy="304800"/>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Market Statistics by Class</a:t>
            </a:r>
          </a:p>
        </p:txBody>
      </p:sp>
    </p:spTree>
    <p:custDataLst>
      <p:custData r:id="rId1"/>
      <p:custData r:id="rId2"/>
    </p:custDataLst>
    <p:extLst>
      <p:ext uri="{BB962C8B-B14F-4D97-AF65-F5344CB8AC3E}">
        <p14:creationId xmlns:p14="http://schemas.microsoft.com/office/powerpoint/2010/main" val="167935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lide_6_table_1">
            <a:extLst>
              <a:ext uri="{FF2B5EF4-FFF2-40B4-BE49-F238E27FC236}">
                <a16:creationId xmlns:a16="http://schemas.microsoft.com/office/drawing/2014/main" id="{DB9D68E8-7DA7-57D9-D105-E940096B76D4}"/>
              </a:ext>
            </a:extLst>
          </p:cNvPr>
          <p:cNvGraphicFramePr>
            <a:graphicFrameLocks/>
          </p:cNvGraphicFramePr>
          <p:nvPr>
            <p:extLst>
              <p:ext uri="{D42A27DB-BD31-4B8C-83A1-F6EECF244321}">
                <p14:modId xmlns:p14="http://schemas.microsoft.com/office/powerpoint/2010/main" val="1194371020"/>
              </p:ext>
            </p:extLst>
          </p:nvPr>
        </p:nvGraphicFramePr>
        <p:xfrm>
          <a:off x="762000" y="838200"/>
          <a:ext cx="11049004" cy="556260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44567">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48478">
                <a:tc>
                  <a:txBody>
                    <a:bodyPr/>
                    <a:lstStyle/>
                    <a:p>
                      <a:r>
                        <a:rPr lang="en-GB" sz="900" dirty="0">
                          <a:solidFill>
                            <a:srgbClr val="435254"/>
                          </a:solidFill>
                          <a:latin typeface="+mn-lt"/>
                        </a:rPr>
                        <a:t>[SUBMARKET]</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3570829"/>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1517759"/>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0130809"/>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0356388"/>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3835242"/>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3419458"/>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6359758"/>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2331209"/>
                  </a:ext>
                </a:extLst>
              </a:tr>
              <a:tr h="248478">
                <a:tc>
                  <a:txBody>
                    <a:bodyPr/>
                    <a:lstStyle/>
                    <a:p>
                      <a:r>
                        <a:rPr kumimoji="0" lang="en-GB" sz="900" b="0" i="0" u="none" strike="noStrike" kern="1200" cap="none" spc="0" normalizeH="0" baseline="0" noProof="0" dirty="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8504348"/>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3243504"/>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0054424"/>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0061445"/>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2231545"/>
                  </a:ext>
                </a:extLst>
              </a:tr>
              <a:tr h="248478">
                <a:tc>
                  <a:txBody>
                    <a:bodyPr/>
                    <a:lstStyle/>
                    <a:p>
                      <a:r>
                        <a:rPr kumimoji="0" lang="en-GB" sz="900" b="0" i="0" u="none" strike="noStrike" kern="1200" cap="none" spc="0" normalizeH="0" baseline="0" noProof="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6674979"/>
                  </a:ext>
                </a:extLst>
              </a:tr>
              <a:tr h="248478">
                <a:tc>
                  <a:txBody>
                    <a:bodyPr/>
                    <a:lstStyle/>
                    <a:p>
                      <a:r>
                        <a:rPr kumimoji="0" lang="en-GB" sz="900" b="0" i="0" u="none" strike="noStrike" kern="1200" cap="none" spc="0" normalizeH="0" baseline="0" noProof="0" dirty="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46199"/>
                  </a:ext>
                </a:extLst>
              </a:tr>
              <a:tr h="248478">
                <a:tc>
                  <a:txBody>
                    <a:bodyPr/>
                    <a:lstStyle/>
                    <a:p>
                      <a:r>
                        <a:rPr kumimoji="0" lang="en-GB" sz="900" b="0" i="0" u="none" strike="noStrike" kern="1200" cap="none" spc="0" normalizeH="0" baseline="0" noProof="0" dirty="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4496929"/>
                  </a:ext>
                </a:extLst>
              </a:tr>
              <a:tr h="248478">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435254"/>
                          </a:solidFill>
                          <a:effectLst/>
                          <a:uLnTx/>
                          <a:uFillTx/>
                          <a:latin typeface="+mn-lt"/>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2866786"/>
                  </a:ext>
                </a:extLst>
              </a:tr>
              <a:tr h="248478">
                <a:tc>
                  <a:txBody>
                    <a:bodyPr/>
                    <a:lstStyle/>
                    <a:p>
                      <a:r>
                        <a:rPr kumimoji="0" lang="en-GB" sz="900" b="0" i="0" u="none" strike="noStrike" kern="1200" cap="none" spc="0" normalizeH="0" baseline="0" noProof="0" dirty="0">
                          <a:ln>
                            <a:noFill/>
                          </a:ln>
                          <a:solidFill>
                            <a:srgbClr val="435254"/>
                          </a:solidFill>
                          <a:effectLst/>
                          <a:uLnTx/>
                          <a:uFillTx/>
                          <a:latin typeface="Calibre"/>
                          <a:ea typeface="+mn-ea"/>
                          <a:cs typeface="+mn-cs"/>
                        </a:rPr>
                        <a:t>[SUBMARKET]</a:t>
                      </a:r>
                      <a:endParaRPr lang="en-GB" sz="900" dirty="0">
                        <a:solidFill>
                          <a:srgbClr val="435254"/>
                        </a:solidFill>
                        <a:latin typeface="+mn-lt"/>
                      </a:endParaRP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3435485"/>
                  </a:ext>
                </a:extLst>
              </a:tr>
              <a:tr h="248478">
                <a:tc>
                  <a:txBody>
                    <a:bodyPr/>
                    <a:lstStyle/>
                    <a:p>
                      <a:r>
                        <a:rPr lang="en-GB" sz="900" b="0" dirty="0">
                          <a:solidFill>
                            <a:srgbClr val="435254"/>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0" dirty="0">
                          <a:solidFill>
                            <a:srgbClr val="435254"/>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435254"/>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435254"/>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0" dirty="0">
                          <a:solidFill>
                            <a:srgbClr val="435254"/>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9" name="slide_6_table_1_title_text">
            <a:extLst>
              <a:ext uri="{FF2B5EF4-FFF2-40B4-BE49-F238E27FC236}">
                <a16:creationId xmlns:a16="http://schemas.microsoft.com/office/drawing/2014/main" id="{AB381DD1-D1B7-6F2C-D625-09EB50649ADC}"/>
              </a:ext>
            </a:extLst>
          </p:cNvPr>
          <p:cNvSpPr>
            <a:spLocks noGrp="1"/>
          </p:cNvSpPr>
          <p:nvPr>
            <p:ph sz="quarter" idx="11"/>
          </p:nvPr>
        </p:nvSpPr>
        <p:spPr>
          <a:xfrm>
            <a:off x="762000" y="533400"/>
            <a:ext cx="5029200" cy="304800"/>
          </a:xfrm>
        </p:spPr>
        <p:txBody>
          <a:bodyPr/>
          <a:lstStyle/>
          <a:p>
            <a:r>
              <a:rPr lang="en-US" dirty="0"/>
              <a:t>Market Statistics by Submarket</a:t>
            </a:r>
          </a:p>
        </p:txBody>
      </p:sp>
    </p:spTree>
    <p:custDataLst>
      <p:custData r:id="rId1"/>
      <p:custData r:id="rId2"/>
    </p:custDataLst>
    <p:extLst>
      <p:ext uri="{BB962C8B-B14F-4D97-AF65-F5344CB8AC3E}">
        <p14:creationId xmlns:p14="http://schemas.microsoft.com/office/powerpoint/2010/main" val="4113535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7_body_1_text">
            <a:extLst>
              <a:ext uri="{FF2B5EF4-FFF2-40B4-BE49-F238E27FC236}">
                <a16:creationId xmlns:a16="http://schemas.microsoft.com/office/drawing/2014/main" id="{FFB71457-49FF-2939-965D-920F8126DE84}"/>
              </a:ext>
            </a:extLst>
          </p:cNvPr>
          <p:cNvSpPr>
            <a:spLocks noGrp="1"/>
          </p:cNvSpPr>
          <p:nvPr>
            <p:ph sz="quarter" idx="11"/>
          </p:nvPr>
        </p:nvSpPr>
        <p:spPr>
          <a:xfrm>
            <a:off x="4269580" y="2667000"/>
            <a:ext cx="3052762" cy="940308"/>
          </a:xfrm>
        </p:spPr>
        <p:txBody>
          <a:bodyPr/>
          <a:lstStyle/>
          <a:p>
            <a:pPr lvl="3"/>
            <a:r>
              <a:rPr lang="en-US" dirty="0"/>
              <a:t>[THIS IS AN OPTIONAL PLACEHOLDER SLIDE]</a:t>
            </a:r>
          </a:p>
          <a:p>
            <a:pPr lvl="3"/>
            <a:r>
              <a:rPr lang="en-US" dirty="0"/>
              <a:t>[INSERT CBRE-EA PROVIDED ECONOMIC OUTLOOK]</a:t>
            </a:r>
          </a:p>
          <a:p>
            <a:pPr lvl="3"/>
            <a:r>
              <a:rPr lang="en-US" dirty="0"/>
              <a:t>[INSERT LMA DRIVEN EMPLOYMENT DATA]</a:t>
            </a:r>
          </a:p>
          <a:p>
            <a:pPr lvl="3"/>
            <a:endParaRPr lang="en-US" dirty="0"/>
          </a:p>
        </p:txBody>
      </p:sp>
      <p:sp>
        <p:nvSpPr>
          <p:cNvPr id="4" name="slide_7_body_1_title_text">
            <a:extLst>
              <a:ext uri="{FF2B5EF4-FFF2-40B4-BE49-F238E27FC236}">
                <a16:creationId xmlns:a16="http://schemas.microsoft.com/office/drawing/2014/main" id="{3F3F14EA-3C51-2446-03FD-1A9329CC0E54}"/>
              </a:ext>
            </a:extLst>
          </p:cNvPr>
          <p:cNvSpPr txBox="1">
            <a:spLocks/>
          </p:cNvSpPr>
          <p:nvPr/>
        </p:nvSpPr>
        <p:spPr>
          <a:xfrm>
            <a:off x="766761" y="850392"/>
            <a:ext cx="5029200" cy="292608"/>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Economic Overview</a:t>
            </a:r>
          </a:p>
        </p:txBody>
      </p:sp>
    </p:spTree>
    <p:extLst>
      <p:ext uri="{BB962C8B-B14F-4D97-AF65-F5344CB8AC3E}">
        <p14:creationId xmlns:p14="http://schemas.microsoft.com/office/powerpoint/2010/main" val="152871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3D4B461E-2BC3-BA4A-B8BF-62D03E1FEDBF}"/>
              </a:ext>
            </a:extLst>
          </p:cNvPr>
          <p:cNvSpPr>
            <a:spLocks noGrp="1"/>
          </p:cNvSpPr>
          <p:nvPr>
            <p:ph sz="quarter" idx="17"/>
          </p:nvPr>
        </p:nvSpPr>
        <p:spPr>
          <a:xfrm>
            <a:off x="6349517" y="1123947"/>
            <a:ext cx="5458307" cy="2305053"/>
          </a:xfrm>
        </p:spPr>
        <p:txBody>
          <a:bodyPr/>
          <a:lstStyle/>
          <a:p>
            <a:r>
              <a:rPr lang="en-US" dirty="0"/>
              <a:t>Definitions</a:t>
            </a:r>
          </a:p>
          <a:p>
            <a:pPr lvl="1">
              <a:spcBef>
                <a:spcPts val="0"/>
              </a:spcBef>
            </a:pPr>
            <a:r>
              <a:rPr lang="en-US" sz="850" dirty="0"/>
              <a:t>Available Sq. Ft.: Space in a building, ready for occupancy within six months; can be occupied or vacant. Availability Rate: Total Available Sq. Ft. divided by the total building Area. Average Asking Lease Rate: A calculated average that includes net and gross lease rate, weighted by their corresponding available square footage. Building Area: The total floor area sq. ft. of the building, typically taken at the “drip line” of the building. Gross Activity: All sale and lease transactions completed within a specified time period. Excludes investment sale transactions. Gross Lease Rate: Rent typically includes real property taxes, building insurance, and major maintenance. Net Absorption: The change in Occupied Sq. Ft. from one period to the next. Net Lease Rate: Rent excludes one or more of the ”net” costs (real property taxes, building insurance, and major maintenance) typically included in a Gross Lease Rate. Occupied Sq. Ft.: Building Area not considered vacant. Vacancy Rate: Total Vacant Sq. Ft. divided by the total Building Area. Vacant Sq. Ft.: Space that can be occupied within 30 days. Class A industrial are buildings built after 2000, with 32’ or greater clear height and ESFR sprinklers.</a:t>
            </a:r>
          </a:p>
          <a:p>
            <a:r>
              <a:rPr lang="en-US" dirty="0"/>
              <a:t>Survey Criteria</a:t>
            </a:r>
          </a:p>
          <a:p>
            <a:pPr lvl="1">
              <a:spcBef>
                <a:spcPts val="0"/>
              </a:spcBef>
            </a:pPr>
            <a:r>
              <a:rPr lang="en-US" sz="850" dirty="0"/>
              <a:t>[Insert survey Criteria here. Contact your manager for specific criteria]</a:t>
            </a:r>
          </a:p>
        </p:txBody>
      </p:sp>
      <p:sp>
        <p:nvSpPr>
          <p:cNvPr id="18" name="Text Placeholder 17">
            <a:extLst>
              <a:ext uri="{FF2B5EF4-FFF2-40B4-BE49-F238E27FC236}">
                <a16:creationId xmlns:a16="http://schemas.microsoft.com/office/drawing/2014/main" id="{B5B3A502-BA51-AD44-85A2-78478ABE72D3}"/>
              </a:ext>
            </a:extLst>
          </p:cNvPr>
          <p:cNvSpPr>
            <a:spLocks noGrp="1"/>
          </p:cNvSpPr>
          <p:nvPr>
            <p:ph type="body" sz="quarter" idx="10"/>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19" name="Text Placeholder 18">
            <a:extLst>
              <a:ext uri="{FF2B5EF4-FFF2-40B4-BE49-F238E27FC236}">
                <a16:creationId xmlns:a16="http://schemas.microsoft.com/office/drawing/2014/main" id="{20438804-1BBB-C344-9966-B84164E72E1F}"/>
              </a:ext>
            </a:extLst>
          </p:cNvPr>
          <p:cNvSpPr>
            <a:spLocks noGrp="1"/>
          </p:cNvSpPr>
          <p:nvPr>
            <p:ph type="body" sz="quarter" idx="11"/>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0" name="Text Placeholder 19">
            <a:extLst>
              <a:ext uri="{FF2B5EF4-FFF2-40B4-BE49-F238E27FC236}">
                <a16:creationId xmlns:a16="http://schemas.microsoft.com/office/drawing/2014/main" id="{DEF27AAC-4520-F04B-BF27-FEDE670812D6}"/>
              </a:ext>
            </a:extLst>
          </p:cNvPr>
          <p:cNvSpPr>
            <a:spLocks noGrp="1"/>
          </p:cNvSpPr>
          <p:nvPr>
            <p:ph type="body" sz="quarter" idx="12"/>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1" name="Text Placeholder 20">
            <a:extLst>
              <a:ext uri="{FF2B5EF4-FFF2-40B4-BE49-F238E27FC236}">
                <a16:creationId xmlns:a16="http://schemas.microsoft.com/office/drawing/2014/main" id="{8DBBF810-D365-0147-9776-A456F1C1C728}"/>
              </a:ext>
            </a:extLst>
          </p:cNvPr>
          <p:cNvSpPr>
            <a:spLocks noGrp="1"/>
          </p:cNvSpPr>
          <p:nvPr>
            <p:ph type="body" sz="quarter" idx="13"/>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2" name="Text Placeholder 21">
            <a:extLst>
              <a:ext uri="{FF2B5EF4-FFF2-40B4-BE49-F238E27FC236}">
                <a16:creationId xmlns:a16="http://schemas.microsoft.com/office/drawing/2014/main" id="{44ACA339-B1B9-D647-9965-84FDA01FDE1F}"/>
              </a:ext>
            </a:extLst>
          </p:cNvPr>
          <p:cNvSpPr>
            <a:spLocks noGrp="1"/>
          </p:cNvSpPr>
          <p:nvPr>
            <p:ph type="body" sz="quarter" idx="14"/>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3" name="Text Placeholder 22">
            <a:extLst>
              <a:ext uri="{FF2B5EF4-FFF2-40B4-BE49-F238E27FC236}">
                <a16:creationId xmlns:a16="http://schemas.microsoft.com/office/drawing/2014/main" id="{DD5B1E63-02DD-A84B-A143-A10C0263C6EC}"/>
              </a:ext>
            </a:extLst>
          </p:cNvPr>
          <p:cNvSpPr>
            <a:spLocks noGrp="1"/>
          </p:cNvSpPr>
          <p:nvPr>
            <p:ph type="body" sz="quarter" idx="15"/>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grpSp>
        <p:nvGrpSpPr>
          <p:cNvPr id="26" name="Read and Delete">
            <a:extLst>
              <a:ext uri="{FF2B5EF4-FFF2-40B4-BE49-F238E27FC236}">
                <a16:creationId xmlns:a16="http://schemas.microsoft.com/office/drawing/2014/main" id="{13C72703-35E9-D641-869E-4732DA5FBDA3}"/>
              </a:ext>
            </a:extLst>
          </p:cNvPr>
          <p:cNvGrpSpPr/>
          <p:nvPr/>
        </p:nvGrpSpPr>
        <p:grpSpPr>
          <a:xfrm>
            <a:off x="-1752600" y="5609180"/>
            <a:ext cx="1598930" cy="342900"/>
            <a:chOff x="-1318654" y="228600"/>
            <a:chExt cx="1598930" cy="342900"/>
          </a:xfrm>
          <a:solidFill>
            <a:srgbClr val="AD2A2A"/>
          </a:solidFill>
        </p:grpSpPr>
        <p:sp>
          <p:nvSpPr>
            <p:cNvPr id="27" name="Isosceles Triangle 18">
              <a:extLst>
                <a:ext uri="{FF2B5EF4-FFF2-40B4-BE49-F238E27FC236}">
                  <a16:creationId xmlns:a16="http://schemas.microsoft.com/office/drawing/2014/main" id="{63B43521-9D90-7F40-BF1E-8AAA78CF175A}"/>
                </a:ext>
              </a:extLst>
            </p:cNvPr>
            <p:cNvSpPr/>
            <p:nvPr userDrawn="1"/>
          </p:nvSpPr>
          <p:spPr>
            <a:xfrm rot="5400000">
              <a:off x="114738" y="323412"/>
              <a:ext cx="177800" cy="153276"/>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latin typeface="Calibre Medium" panose="020B0603030202060203" pitchFamily="34" charset="0"/>
              </a:endParaRPr>
            </a:p>
          </p:txBody>
        </p:sp>
        <p:sp>
          <p:nvSpPr>
            <p:cNvPr id="28" name="Rectangle 27">
              <a:extLst>
                <a:ext uri="{FF2B5EF4-FFF2-40B4-BE49-F238E27FC236}">
                  <a16:creationId xmlns:a16="http://schemas.microsoft.com/office/drawing/2014/main" id="{A1A7156F-DBE3-4E48-B863-B6A267CC4AD1}"/>
                </a:ext>
              </a:extLst>
            </p:cNvPr>
            <p:cNvSpPr/>
            <p:nvPr userDrawn="1"/>
          </p:nvSpPr>
          <p:spPr>
            <a:xfrm>
              <a:off x="-1318654" y="228600"/>
              <a:ext cx="1499629" cy="3429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r>
                <a:rPr lang="en-US" sz="800" dirty="0">
                  <a:solidFill>
                    <a:schemeClr val="bg1"/>
                  </a:solidFill>
                  <a:latin typeface="Calibre Medium" panose="020B0603030202060203" pitchFamily="34" charset="0"/>
                  <a:ea typeface="+mn-ea"/>
                  <a:cs typeface="+mn-cs"/>
                </a:rPr>
                <a:t>Make sure © year is correct on</a:t>
              </a:r>
              <a:br>
                <a:rPr lang="en-US" sz="800" dirty="0">
                  <a:solidFill>
                    <a:schemeClr val="bg1"/>
                  </a:solidFill>
                  <a:latin typeface="Calibre Medium" panose="020B0603030202060203" pitchFamily="34" charset="0"/>
                  <a:ea typeface="+mn-ea"/>
                  <a:cs typeface="+mn-cs"/>
                </a:rPr>
              </a:br>
              <a:r>
                <a:rPr lang="en-US" sz="800" dirty="0">
                  <a:solidFill>
                    <a:schemeClr val="bg1"/>
                  </a:solidFill>
                  <a:latin typeface="Calibre Medium" panose="020B0603030202060203" pitchFamily="34" charset="0"/>
                  <a:ea typeface="+mn-ea"/>
                  <a:cs typeface="+mn-cs"/>
                </a:rPr>
                <a:t>all back cover layout options </a:t>
              </a:r>
            </a:p>
          </p:txBody>
        </p:sp>
      </p:grpSp>
      <p:sp>
        <p:nvSpPr>
          <p:cNvPr id="29" name="Rectangle 28">
            <a:extLst>
              <a:ext uri="{FF2B5EF4-FFF2-40B4-BE49-F238E27FC236}">
                <a16:creationId xmlns:a16="http://schemas.microsoft.com/office/drawing/2014/main" id="{3078E5D5-C2A7-9048-B98B-1403E6010E6C}"/>
              </a:ext>
            </a:extLst>
          </p:cNvPr>
          <p:cNvSpPr/>
          <p:nvPr/>
        </p:nvSpPr>
        <p:spPr>
          <a:xfrm>
            <a:off x="-1602346" y="1123949"/>
            <a:ext cx="1295400" cy="1162052"/>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45720" bIns="0" rtlCol="0" anchor="t" anchorCtr="0"/>
          <a:lstStyle/>
          <a:p>
            <a:pPr algn="l">
              <a:spcAft>
                <a:spcPts val="300"/>
              </a:spcAft>
            </a:pPr>
            <a:r>
              <a:rPr lang="en-US" sz="1050" dirty="0">
                <a:solidFill>
                  <a:schemeClr val="bg1"/>
                </a:solidFill>
              </a:rPr>
              <a:t>Portrait Map option. </a:t>
            </a:r>
            <a:br>
              <a:rPr lang="en-US" sz="1050" dirty="0">
                <a:solidFill>
                  <a:schemeClr val="bg1"/>
                </a:solidFill>
              </a:rPr>
            </a:br>
            <a:r>
              <a:rPr lang="en-US" sz="1050" dirty="0">
                <a:solidFill>
                  <a:schemeClr val="bg1"/>
                </a:solidFill>
              </a:rPr>
              <a:t>If need to resize, turn on View&gt;Guides to align frame to underlying grid.</a:t>
            </a:r>
          </a:p>
        </p:txBody>
      </p:sp>
      <p:sp>
        <p:nvSpPr>
          <p:cNvPr id="57" name="slide_7_map">
            <a:extLst>
              <a:ext uri="{FF2B5EF4-FFF2-40B4-BE49-F238E27FC236}">
                <a16:creationId xmlns:a16="http://schemas.microsoft.com/office/drawing/2014/main" id="{EF04B07B-F6A2-2195-D097-326D743A4EA9}"/>
              </a:ext>
            </a:extLst>
          </p:cNvPr>
          <p:cNvSpPr>
            <a:spLocks noGrp="1"/>
          </p:cNvSpPr>
          <p:nvPr>
            <p:ph type="pic" sz="quarter" idx="16"/>
          </p:nvPr>
        </p:nvSpPr>
        <p:spPr/>
        <p:txBody>
          <a:bodyPr/>
          <a:lstStyle/>
          <a:p>
            <a:endParaRPr lang="en-US"/>
          </a:p>
        </p:txBody>
      </p:sp>
      <p:sp>
        <p:nvSpPr>
          <p:cNvPr id="2" name="slide_master_final_copyright">
            <a:extLst>
              <a:ext uri="{FF2B5EF4-FFF2-40B4-BE49-F238E27FC236}">
                <a16:creationId xmlns:a16="http://schemas.microsoft.com/office/drawing/2014/main" id="{84995BF5-1748-874A-22B0-0EAD4E0B4F15}"/>
              </a:ext>
            </a:extLst>
          </p:cNvPr>
          <p:cNvSpPr txBox="1">
            <a:spLocks/>
          </p:cNvSpPr>
          <p:nvPr/>
        </p:nvSpPr>
        <p:spPr>
          <a:xfrm>
            <a:off x="768096" y="6324600"/>
            <a:ext cx="9742488" cy="344826"/>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rgbClr val="435154"/>
                </a:solidFill>
                <a:latin typeface="Barlow Condensed Light" panose="00000406000000000000" pitchFamily="2" charset="0"/>
              </a:rPr>
              <a:t>© Copyright 2025 All rights reserved. Information contained herein, including projections, has been obtained from sources believed to be reliable, but has not been verified for accuracy or completeness. CBRE, Inc. makes no guarantee, warranty or representation about it. Any reliance on such information is solely at your own risk. This information is exclusively for use by CBRE clients and professionals and may not be reproduced without the prior written permission of CBRE’s Global Chief Economist.</a:t>
            </a:r>
          </a:p>
        </p:txBody>
      </p:sp>
    </p:spTree>
    <p:custDataLst>
      <p:custData r:id="rId1"/>
      <p:custData r:id="rId2"/>
    </p:custDataLst>
    <p:extLst>
      <p:ext uri="{BB962C8B-B14F-4D97-AF65-F5344CB8AC3E}">
        <p14:creationId xmlns:p14="http://schemas.microsoft.com/office/powerpoint/2010/main" val="3681101468"/>
      </p:ext>
    </p:extLst>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FormConfiguration><![CDATA[{"formFields":[],"formDataEntries":[]}]]></TemplafyFormConfiguration>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7710428586587329","enableDocumentContentUpdater":false,"version":"2.0"}]]></TemplafySlideTemplateConfiguration>
</file>

<file path=customXml/item8.xml><?xml version="1.0" encoding="utf-8"?>
<TemplafySlideTemplateConfiguration><![CDATA[{"slideVersion":1,"isValidatorEnabled":false,"isLocked":false,"elementsMetadata":[],"slideId":"637710428586907651","enableDocumentContentUpdater":false,"version":"2.0"}]]></TemplafySlideTemplateConfiguration>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637710428586907651","enableDocumentContentUpdater":fals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710428586826192","enableDocumentContentUpdater":false,"version":"2.0"}]]></TemplafySlideTemplate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637710428586918441","enableDocumentContentUpdater":false,"version":"2.0"}]]></TemplafySlideTemplateConfiguration>
</file>

<file path=customXml/item15.xml><?xml version="1.0" encoding="utf-8"?>
<TemplafySlideFormConfiguration><![CDATA[{"formFields":[],"formDataEntries":[]}]]></TemplafySlideFormConfiguration>
</file>

<file path=customXml/item16.xml><?xml version="1.0" encoding="utf-8"?>
<TemplafySlideTemplateConfiguration><![CDATA[{"slideVersion":1,"isValidatorEnabled":false,"isLocked":false,"elementsMetadata":[],"slideId":"637710428586918441","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637710428586950120","enableDocumentContentUpdater":false,"version":"2.0"}]]></TemplafySlideTemplate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55F8E4E1-3083-46FE-84D1-003F25E9D5F2}">
  <ds:schemaRefs/>
</ds:datastoreItem>
</file>

<file path=customXml/itemProps2.xml><?xml version="1.0" encoding="utf-8"?>
<ds:datastoreItem xmlns:ds="http://schemas.openxmlformats.org/officeDocument/2006/customXml" ds:itemID="{3866CC1B-8778-4E2F-80FB-72B1119E357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7f34b39-ae9a-42c3-aa23-9e04d25d7d68"/>
    <ds:schemaRef ds:uri="65f63ffe-09f2-48f2-a153-3382f1b870a7"/>
    <ds:schemaRef ds:uri="http://www.w3.org/XML/1998/namespace"/>
    <ds:schemaRef ds:uri="http://purl.org/dc/dcmitype/"/>
  </ds:schemaRefs>
</ds:datastoreItem>
</file>

<file path=customXml/itemProps3.xml><?xml version="1.0" encoding="utf-8"?>
<ds:datastoreItem xmlns:ds="http://schemas.openxmlformats.org/officeDocument/2006/customXml" ds:itemID="{0627EAEC-6E82-412B-8BBE-A75F4261EB6E}">
  <ds:schemaRefs/>
</ds:datastoreItem>
</file>

<file path=customXml/itemProps4.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5.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031086C7-8170-414F-98F8-9D08D0482FA3}">
  <ds:schemaRefs/>
</ds:datastoreItem>
</file>

<file path=customXml/itemProps7.xml><?xml version="1.0" encoding="utf-8"?>
<ds:datastoreItem xmlns:ds="http://schemas.openxmlformats.org/officeDocument/2006/customXml" ds:itemID="{FCB9BDF9-8D0B-4A21-91C7-B45E2054D64F}">
  <ds:schemaRefs/>
</ds:datastoreItem>
</file>

<file path=customXml/itemProps8.xml><?xml version="1.0" encoding="utf-8"?>
<ds:datastoreItem xmlns:ds="http://schemas.openxmlformats.org/officeDocument/2006/customXml" ds:itemID="{CE1B153A-2F68-47AA-9A5C-40ADC25F8EE9}">
  <ds:schemaRefs/>
</ds:datastoreItem>
</file>

<file path=customXml/itemProps9.xml><?xml version="1.0" encoding="utf-8"?>
<ds:datastoreItem xmlns:ds="http://schemas.openxmlformats.org/officeDocument/2006/customXml" ds:itemID="{210D0ECE-EB03-46B5-BB66-21A04B804858}">
  <ds:schemaRefs/>
</ds:datastoreItem>
</file>

<file path=customXml/itemProps10.xml><?xml version="1.0" encoding="utf-8"?>
<ds:datastoreItem xmlns:ds="http://schemas.openxmlformats.org/officeDocument/2006/customXml" ds:itemID="{36EB031C-7AEB-40D6-87CF-E78365C48F96}">
  <ds:schemaRefs/>
</ds:datastoreItem>
</file>

<file path=customXml/itemProps11.xml><?xml version="1.0" encoding="utf-8"?>
<ds:datastoreItem xmlns:ds="http://schemas.openxmlformats.org/officeDocument/2006/customXml" ds:itemID="{80BDFBE0-DE12-4FFA-8804-5CB7F604B192}">
  <ds:schemaRefs/>
</ds:datastoreItem>
</file>

<file path=customXml/itemProps12.xml><?xml version="1.0" encoding="utf-8"?>
<ds:datastoreItem xmlns:ds="http://schemas.openxmlformats.org/officeDocument/2006/customXml" ds:itemID="{5FFA546B-4BB0-4D9B-BD46-A26F0FF5BA05}">
  <ds:schemaRefs/>
</ds:datastoreItem>
</file>

<file path=customXml/itemProps13.xml><?xml version="1.0" encoding="utf-8"?>
<ds:datastoreItem xmlns:ds="http://schemas.openxmlformats.org/officeDocument/2006/customXml" ds:itemID="{6CEF34A5-863D-43E5-85F1-3E366FB506A5}">
  <ds:schemaRefs/>
</ds:datastoreItem>
</file>

<file path=customXml/itemProps14.xml><?xml version="1.0" encoding="utf-8"?>
<ds:datastoreItem xmlns:ds="http://schemas.openxmlformats.org/officeDocument/2006/customXml" ds:itemID="{2A35B555-51E5-4508-999D-0DB2223E8596}">
  <ds:schemaRefs/>
</ds:datastoreItem>
</file>

<file path=customXml/itemProps15.xml><?xml version="1.0" encoding="utf-8"?>
<ds:datastoreItem xmlns:ds="http://schemas.openxmlformats.org/officeDocument/2006/customXml" ds:itemID="{3CE4ABB1-A8D0-4BDA-960E-19A8E78C85CB}">
  <ds:schemaRefs/>
</ds:datastoreItem>
</file>

<file path=customXml/itemProps16.xml><?xml version="1.0" encoding="utf-8"?>
<ds:datastoreItem xmlns:ds="http://schemas.openxmlformats.org/officeDocument/2006/customXml" ds:itemID="{C9B8530F-F0E7-4108-B84F-14FDE78B6313}">
  <ds:schemaRefs/>
</ds:datastoreItem>
</file>

<file path=customXml/itemProps17.xml><?xml version="1.0" encoding="utf-8"?>
<ds:datastoreItem xmlns:ds="http://schemas.openxmlformats.org/officeDocument/2006/customXml" ds:itemID="{A14E0F04-3979-4601-89E8-96C855458B98}">
  <ds:schemaRefs/>
</ds:datastoreItem>
</file>

<file path=customXml/itemProps18.xml><?xml version="1.0" encoding="utf-8"?>
<ds:datastoreItem xmlns:ds="http://schemas.openxmlformats.org/officeDocument/2006/customXml" ds:itemID="{4D2ABF8B-60BA-4166-A248-76BAD54EF60E}">
  <ds:schemaRefs/>
</ds:datastoreItem>
</file>

<file path=customXml/itemProps19.xml><?xml version="1.0" encoding="utf-8"?>
<ds:datastoreItem xmlns:ds="http://schemas.openxmlformats.org/officeDocument/2006/customXml" ds:itemID="{AA3288F3-1D9F-49BB-BDD6-370C0756141F}">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436</TotalTime>
  <Words>2190</Words>
  <Application>Microsoft Office PowerPoint</Application>
  <PresentationFormat>Widescreen</PresentationFormat>
  <Paragraphs>280</Paragraphs>
  <Slides>8</Slides>
  <Notes>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vt:i4>
      </vt:variant>
    </vt:vector>
  </HeadingPairs>
  <TitlesOfParts>
    <vt:vector size="22" baseType="lpstr">
      <vt:lpstr>Arial</vt:lpstr>
      <vt:lpstr>Arial Narrow</vt:lpstr>
      <vt:lpstr>Barlow Condensed</vt:lpstr>
      <vt:lpstr>Barlow Condensed Light</vt:lpstr>
      <vt:lpstr>Barlow Condensed Thin</vt:lpstr>
      <vt:lpstr>Calibre</vt:lpstr>
      <vt:lpstr>Calibre (Body)</vt:lpstr>
      <vt:lpstr>Calibre Light</vt:lpstr>
      <vt:lpstr>Calibre Medium</vt:lpstr>
      <vt:lpstr>Calibre Semibold</vt:lpstr>
      <vt:lpstr>Calibri</vt:lpstr>
      <vt:lpstr>Financier Display</vt:lpstr>
      <vt:lpstr>SwissReSansOTLight</vt:lpstr>
      <vt:lpstr>Figures Master - 20210903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Askew, Dan @ CBRE Research</cp:lastModifiedBy>
  <cp:revision>5</cp:revision>
  <dcterms:created xsi:type="dcterms:W3CDTF">2024-10-08T16:13:53Z</dcterms:created>
  <dcterms:modified xsi:type="dcterms:W3CDTF">2025-06-24T16:22:50Z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